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0.svg" ContentType="image/svg+xml"/>
  <Override PartName="/ppt/media/image12.svg" ContentType="image/svg+xml"/>
  <Override PartName="/ppt/media/image14.svg" ContentType="image/svg+xml"/>
  <Override PartName="/ppt/media/image16.svg" ContentType="image/svg+xml"/>
  <Override PartName="/ppt/media/image18.svg" ContentType="image/svg+xml"/>
  <Override PartName="/ppt/media/image2.svg" ContentType="image/svg+xml"/>
  <Override PartName="/ppt/media/image20.svg" ContentType="image/svg+xml"/>
  <Override PartName="/ppt/media/image22.svg" ContentType="image/svg+xml"/>
  <Override PartName="/ppt/media/image24.svg" ContentType="image/svg+xml"/>
  <Override PartName="/ppt/media/image26.svg" ContentType="image/svg+xml"/>
  <Override PartName="/ppt/media/image28.svg" ContentType="image/svg+xml"/>
  <Override PartName="/ppt/media/image30.svg" ContentType="image/svg+xml"/>
  <Override PartName="/ppt/media/image33.svg" ContentType="image/svg+xml"/>
  <Override PartName="/ppt/media/image35.svg" ContentType="image/svg+xml"/>
  <Override PartName="/ppt/media/image37.svg" ContentType="image/svg+xml"/>
  <Override PartName="/ppt/media/image39.svg" ContentType="image/svg+xml"/>
  <Override PartName="/ppt/media/image4.svg" ContentType="image/svg+xml"/>
  <Override PartName="/ppt/media/image41.svg" ContentType="image/svg+xml"/>
  <Override PartName="/ppt/media/image43.svg" ContentType="image/svg+xml"/>
  <Override PartName="/ppt/media/image45.svg" ContentType="image/svg+xml"/>
  <Override PartName="/ppt/media/image47.svg" ContentType="image/svg+xml"/>
  <Override PartName="/ppt/media/image6.svg" ContentType="image/svg+xml"/>
  <Override PartName="/ppt/media/image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 id="2147483660" r:id="rId3"/>
  </p:sldMasterIdLst>
  <p:notesMasterIdLst>
    <p:notesMasterId r:id="rId5"/>
  </p:notesMasterIdLst>
  <p:sldIdLst>
    <p:sldId id="256" r:id="rId4"/>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1620" userDrawn="1">
          <p15:clr>
            <a:srgbClr val="747775"/>
          </p15:clr>
        </p15:guide>
        <p15:guide id="2" pos="2880"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showGuides="1">
      <p:cViewPr varScale="1">
        <p:scale>
          <a:sx n="100" d="100"/>
          <a:sy n="100" d="100"/>
        </p:scale>
        <p:origin x="0" y="0"/>
      </p:cViewPr>
      <p:guideLst>
        <p:guide orient="horz" pos="1620"/>
        <p:guide pos="2880"/>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 Type="http://schemas.openxmlformats.org/officeDocument/2006/relationships/slideMaster" Target="slideMasters/slideMaster2.xml"/><Relationship Id="rId29" Type="http://schemas.openxmlformats.org/officeDocument/2006/relationships/tableStyles" Target="tableStyles.xml"/><Relationship Id="rId28" Type="http://schemas.openxmlformats.org/officeDocument/2006/relationships/viewProps" Target="viewProps.xml"/><Relationship Id="rId27" Type="http://schemas.openxmlformats.org/officeDocument/2006/relationships/presProps" Target="presProps.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fld>
            <a:endParaRPr lang="cs-CZ"/>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大家好，欢迎参加Vexilon项目的中期汇报。今天，我们将向大家展示一个旨在提升国产实时操作系统安全性的前沿项目——基于Rust语言和创新的IronClaw框架，对LiteOS-M内核进行深度重构。我们将详细介绍项目的背景、目标、已完成的工作以及未来的技术路线。</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在开始详细汇报前，请允许我用一分钟概括我们项目的核心。首先，我们正处在一个关键节点，传统的C语言内核已无法满足物联网时代对安全的严苛要求。其次，我们的核心方案是利用Rust语言和IronClaw框架，对LiteOS-M进行一次彻底的安全升级。第三，我们已经完成了所有前期准备工作，包括深入的研究和方案论证。最后，我们有清晰的四阶段计划，目标是交付一个更安全、更具前瞻性的操作系统内核。</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本次汇报将分为五个部分。首先，我们会介绍项目的整体情况和背景。接着，深入分析我们要解决的问题和面临的机遇。第三部分，展示我们已经完成的工作。第四部分，详细阐述我们的技术方案和实施计划。最后，我们会进行风险评估并展望未来。</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现在，我们进入第一部分：项目概览与背景。在这一章，我们将解释为什么我们要启动这个项目，以及我们希望通过它实现什么。</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我们项目的背景可以概括为三点。首先，时代变了，物联网设备的安全不再是可选项，而是必选项，法规对此有明确要求。其次，我们赖以生存的C语言，其内在的不安全特性，导致了绝大多数的系统漏洞。最后，技术前沿已经指明了方向：内存安全语言和AI融合是未来。我们的项目正是在这样的背景下，应运而生。</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我们的目标非常明确，不仅仅是改写代码。我们致力于实现三大总体目标：提升安全、实现核心功能、建立统一接口。为了实现这些目标，我们将交付四大核心成果：首先是改写后的Rust内核代码；其次是创新的IronClaw接口层原型；第三是详尽的实验验证报告，用数据说话；最后，也是非常重要的一点，是一套可复用的迁移方法论，为社区做出贡献。</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Vexilon团队的使命可以概括为两点。第一，我们要进行“深入式重构”，用Rust去替换掉LiteOS-M内核中最核心、最不安全的部分。第二，我们要“构建安全接口”，通过引入IronClaw中间层，为内核和用户层之间建立一个安全的沟通桥梁，这不仅提升了当前系统的安全性，更为未来AI与操作系统的融合打开了一扇门。</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接下来，我们进入第二部分，深入分析我们要解决的核心问题，以及这些问题背后所蕴含的技术机遇。</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原版的C-LiteOS-M虽然轻量高效，但它的C语言实现带来了三大核心痛点。首先是内存安全问题，无处不在的裸指针操作是崩溃的根源。其次是并发安全问题，完全依赖程序员手动加锁，非常容易出错。最后是调用安全问题，缺乏统一的权限边界，一个任务被攻破就可能导致整个系统沦陷。这三个问题共同构成了系统性的安全风险。</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我们的项目并非凭空想象，而是紧紧抓住了两大核心技术趋势。第一，内存安全语言，特别是Rust，已经成为行业共识，是解决系统安全问题的终极答案。第二，AI与操作系统的融合正在加速，AI Agent需要一个安全的桥梁与内核交互。我们的项目，正是利用Rust和IronClaw，分别抓住了这两大机遇，具有极高的前瞻性。</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现在进入第三部分，向大家汇报我们自项目启动以来，已经完成的关键工作和取得的初步成果。</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在项目初期，我们做了大量的研究工作。通过分析往届项目，我们确认了用Rust改写RTOS是可行的。更重要的是，我们发现了一个明确的研究空白：在LiteOS-M内核中，除了一个模块已经被改写外，还有多达11个核心模块，如任务管理和调度器，仍然是C语言实现。这为我们的项目提供了清晰的目标和巨大的研究价值。</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为了确保项目不是纸上谈兵，我们从理论和技术两个层面进行了充分论证。理论上，Rust的语言特性完美契合了我们解决内存和并发安全问题的需求。技术上，我们规划了清晰的、由易到难的实现路径，并选定了一套成熟、可靠的技术栈。这确保了我们的项目不仅目标远大，而且脚下的路是清晰可行的。</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这是我们项目自启动以来的进度时间线。从3月初的选题探索，到3月底锁定最终技术路线，再到4月份完成所有前期报告的撰写，我们严格按照计划推进，并顺利完成了所有准备工作。目前，我们已经正式进入核心模块的开发与测试阶段。</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第四部分，我们将详细介绍我们的技术方案和具体的实施路径。这部分内容将展示我们如何将宏伟的目标转化为可执行的工程步骤。</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我们的技术方案核心是一个分层架构。如图所示，最上层是用户应用，它不再直接调用内核，而是通过我们引入的IronClaw接口层。这个接口层负责权限校验和参数检查，是安全的第一道防线。然后，请求会到达我们用Rust改写的核心内核模块，这些模块保证了内存和并发安全。最底层是未改写的C模块和硬件抽象层。通过这种分层设计，我们实现了安全隔离和高效交互。</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为了确保项目有条不紊地进行，我们对所有待改写的模块进行了优先级排序。最高优先级的是任务管理和调度器，因为它们是内核的心脏，也是安全问题的重灾区。其次是各种IPC通信模块。最后是一些辅助性的模块。这个优先级列表将作为我们开发计划的核心依据，确保我们始终聚焦在最有价值的工作上。</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我们将整个项目划分为四个清晰的阶段。第一阶段是基础验证，我们从一个简单的模块入手，跑通整个技术链路。第二阶段是核心能力建设，主攻任务和调度器。第三阶段是通信能力，实现任务间的安全通信。最后一个阶段是系统整合，将所有模块组合起来，并完成IronClaw接口的原型。每个阶段都有明确的任务和可交付的成果。</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最后一部分，我们将客观评估项目可能面临的风险，并展望项目成功后的创新价值和下一步计划。</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我们对项目可能遇到的风险进行了全面评估，并制定了相应的应对策略。例如，针对no_std环境的复杂性，我们将从最小系统开始搭建；针对C/Rust混合编译的难题，我们会利用自动化工具来保证一致性。对于实时性和模块耦合这些关键风险，我们也都有明确的测试和集成策略。我们有信心管理好这些风险，确保项目顺利推进。</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总结一下，我们的项目目标明确，方案可行，准备充分。我们已经完成了所有的前期研究和规划工作。</a:t>
            </a:r>
            <a:endParaRPr lang="en-US" sz="1400" b="0" i="0" u="none" strike="noStrike">
              <a:solidFill>
                <a:srgbClr val="000000"/>
              </a:solidFill>
            </a:endParaRPr>
          </a:p>
          <a:p>
            <a:pPr indent="0" algn="l">
              <a:lnSpc>
                <a:spcPct val="100000"/>
              </a:lnSpc>
            </a:pPr>
            <a:r>
              <a:rPr lang="en-US" sz="1400" b="0" i="0" u="none" strike="noStrike">
                <a:solidFill>
                  <a:srgbClr val="000000"/>
                </a:solidFill>
              </a:rPr>
              <a:t>下一步，我们将立即启动第一阶段的开发工作，集中力量完成第一个模块的改写，并搭建好整个测试环境。</a:t>
            </a:r>
            <a:endParaRPr lang="en-US" sz="1400" b="0" i="0" u="none" strike="noStrike">
              <a:solidFill>
                <a:srgbClr val="000000"/>
              </a:solidFill>
            </a:endParaRPr>
          </a:p>
          <a:p>
            <a:pPr indent="0" algn="l">
              <a:lnSpc>
                <a:spcPct val="100000"/>
              </a:lnSpc>
            </a:pPr>
            <a:r>
              <a:rPr lang="en-US" sz="1400" b="0" i="0" u="none" strike="noStrike">
                <a:solidFill>
                  <a:srgbClr val="000000"/>
                </a:solidFill>
              </a:rPr>
              <a:t>我们期待在不久的将来，向大家展示我们的实际代码和运行效果。</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我的汇报到此结束，感谢各位的聆听。现在我们非常乐意回答大家的提问。</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标题幻灯片">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matchingName="标题和内容">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20" name="Shape 5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matchingName="节标题">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matchingName="两栏内容">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2" name="Shape 11"/>
          <p:cNvSpPr txBox="1"/>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3" name="Shape 1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matchingName="比较">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39" name="Shape 37"/>
          <p:cNvSpPr txBox="1"/>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0" name="Shape 38"/>
          <p:cNvSpPr txBox="1"/>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41" name="Shape 39"/>
          <p:cNvSpPr txBox="1"/>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2" name="Shape 40"/>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matchingName="仅标题">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matchingName="空白">
  <p:cSld name="BLANK">
    <p:spTree>
      <p:nvGrpSpPr>
        <p:cNvPr id="50" name="Shape 50"/>
        <p:cNvGrpSpPr/>
        <p:nvPr/>
      </p:nvGrpSpPr>
      <p:grpSpPr>
        <a:xfrm>
          <a:off x="0" y="0"/>
          <a:ext cx="0" cy="0"/>
          <a:chOff x="0" y="0"/>
          <a:chExt cx="0" cy="0"/>
        </a:xfrm>
      </p:grpSpPr>
      <p:sp>
        <p:nvSpPr>
          <p:cNvPr id="51" name="Shape 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内容与标题">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p:txBody>
      </p:sp>
      <p:sp>
        <p:nvSpPr>
          <p:cNvPr id="57" name="Shape 45"/>
          <p:cNvSpPr txBox="1"/>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58" name="Shape 4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图片与标题">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type="pic" idx="2"/>
          </p:nvPr>
        </p:nvSpPr>
        <p:spPr>
          <a:xfrm>
            <a:off x="3887391" y="740569"/>
            <a:ext cx="4629150" cy="3655219"/>
          </a:xfrm>
          <a:prstGeom prst="rect">
            <a:avLst/>
          </a:prstGeom>
          <a:noFill/>
          <a:ln>
            <a:noFill/>
          </a:ln>
        </p:spPr>
      </p:sp>
      <p:sp>
        <p:nvSpPr>
          <p:cNvPr id="64" name="Shape 26"/>
          <p:cNvSpPr txBox="1"/>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65" name="Shape 2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标题和竖排文字">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1" name="Shape 5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竖排标题与文本">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7" name="Shape 1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panose="020B0604020202020204"/>
              <a:buNone/>
              <a:defRPr sz="33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panose="020B0604020202020204"/>
              <a:buChar char="•"/>
              <a:defRPr sz="21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914400" marR="0" lvl="1" indent="-342900" algn="l" rtl="0">
              <a:lnSpc>
                <a:spcPct val="90000"/>
              </a:lnSpc>
              <a:spcBef>
                <a:spcPts val="4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1371600" marR="0" lvl="2" indent="-323850" algn="l" rtl="0">
              <a:lnSpc>
                <a:spcPct val="90000"/>
              </a:lnSpc>
              <a:spcBef>
                <a:spcPts val="400"/>
              </a:spcBef>
              <a:spcAft>
                <a:spcPts val="0"/>
              </a:spcAft>
              <a:buClr>
                <a:schemeClr val="dk1"/>
              </a:buClr>
              <a:buSzPts val="1500"/>
              <a:buFont typeface="Arial" panose="020B0604020202020204"/>
              <a:buChar char="•"/>
              <a:defRPr sz="15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828800" marR="0" lvl="3"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2286000" marR="0" lvl="4"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743200" marR="0" lvl="5"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3200400" marR="0" lvl="6"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657600" marR="0" lvl="7"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4114800" marR="0" lvl="8"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8" name="Shape 3"/>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9" name="Shape 4"/>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10" name="Shape 5"/>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L="0" marR="0" lvl="1"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2pPr>
            <a:lvl3pPr marL="0" marR="0" lvl="2"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3pPr>
            <a:lvl4pPr marL="0" marR="0" lvl="3"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4pPr>
            <a:lvl5pPr marL="0" marR="0" lvl="4"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5pPr>
            <a:lvl6pPr marL="0" marR="0" lvl="5"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6pPr>
            <a:lvl7pPr marL="0" marR="0" lvl="6"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7pPr>
            <a:lvl8pPr marL="0" marR="0" lvl="7"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8pPr>
            <a:lvl9pPr marL="0" marR="0" lvl="8"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zh-CN"/>
            </a:fld>
            <a:endParaRPr lang="zh-C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8" Type="http://schemas.openxmlformats.org/officeDocument/2006/relationships/notesSlide" Target="../notesSlides/notesSlide5.xml"/><Relationship Id="rId7" Type="http://schemas.openxmlformats.org/officeDocument/2006/relationships/slideLayout" Target="../slideLayouts/slideLayout12.xml"/><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4.svg"/><Relationship Id="rId3" Type="http://schemas.openxmlformats.org/officeDocument/2006/relationships/image" Target="../media/image3.png"/><Relationship Id="rId2" Type="http://schemas.openxmlformats.org/officeDocument/2006/relationships/image" Target="../media/image2.svg"/><Relationship Id="rId1" Type="http://schemas.openxmlformats.org/officeDocument/2006/relationships/image" Target="../media/image1.png"/></Relationships>
</file>

<file path=ppt/slides/_rels/slide6.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image" Target="../media/image14.svg"/><Relationship Id="rId7" Type="http://schemas.openxmlformats.org/officeDocument/2006/relationships/image" Target="../media/image13.png"/><Relationship Id="rId6" Type="http://schemas.openxmlformats.org/officeDocument/2006/relationships/image" Target="../media/image12.svg"/><Relationship Id="rId5" Type="http://schemas.openxmlformats.org/officeDocument/2006/relationships/image" Target="../media/image11.png"/><Relationship Id="rId4" Type="http://schemas.openxmlformats.org/officeDocument/2006/relationships/image" Target="../media/image10.svg"/><Relationship Id="rId3" Type="http://schemas.openxmlformats.org/officeDocument/2006/relationships/image" Target="../media/image9.png"/><Relationship Id="rId2" Type="http://schemas.openxmlformats.org/officeDocument/2006/relationships/image" Target="../media/image8.svg"/><Relationship Id="rId10" Type="http://schemas.openxmlformats.org/officeDocument/2006/relationships/notesSlide" Target="../notesSlides/notesSlide6.xml"/><Relationship Id="rId1" Type="http://schemas.openxmlformats.org/officeDocument/2006/relationships/image" Target="../media/image7.png"/></Relationships>
</file>

<file path=ppt/slides/_rels/slide7.xml.rels><?xml version="1.0" encoding="UTF-8" standalone="yes"?>
<Relationships xmlns="http://schemas.openxmlformats.org/package/2006/relationships"><Relationship Id="rId6" Type="http://schemas.openxmlformats.org/officeDocument/2006/relationships/notesSlide" Target="../notesSlides/notesSlide7.xml"/><Relationship Id="rId5" Type="http://schemas.openxmlformats.org/officeDocument/2006/relationships/slideLayout" Target="../slideLayouts/slideLayout12.xml"/><Relationship Id="rId4" Type="http://schemas.openxmlformats.org/officeDocument/2006/relationships/image" Target="../media/image16.svg"/><Relationship Id="rId3" Type="http://schemas.openxmlformats.org/officeDocument/2006/relationships/image" Target="../media/image15.png"/><Relationship Id="rId2" Type="http://schemas.openxmlformats.org/officeDocument/2006/relationships/image" Target="../media/image6.svg"/><Relationship Id="rId1" Type="http://schemas.openxmlformats.org/officeDocument/2006/relationships/image" Target="../media/image5.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8" Type="http://schemas.openxmlformats.org/officeDocument/2006/relationships/notesSlide" Target="../notesSlides/notesSlide9.xml"/><Relationship Id="rId7" Type="http://schemas.openxmlformats.org/officeDocument/2006/relationships/slideLayout" Target="../slideLayouts/slideLayout12.xml"/><Relationship Id="rId6" Type="http://schemas.openxmlformats.org/officeDocument/2006/relationships/image" Target="../media/image2.svg"/><Relationship Id="rId5" Type="http://schemas.openxmlformats.org/officeDocument/2006/relationships/image" Target="../media/image1.png"/><Relationship Id="rId4" Type="http://schemas.openxmlformats.org/officeDocument/2006/relationships/image" Target="../media/image20.svg"/><Relationship Id="rId3" Type="http://schemas.openxmlformats.org/officeDocument/2006/relationships/image" Target="../media/image19.png"/><Relationship Id="rId2" Type="http://schemas.openxmlformats.org/officeDocument/2006/relationships/image" Target="../media/image18.svg"/><Relationship Id="rId1" Type="http://schemas.openxmlformats.org/officeDocument/2006/relationships/image" Target="../media/image17.png"/></Relationships>
</file>

<file path=ppt/slides/_rels/slide10.xml.rels><?xml version="1.0" encoding="UTF-8" standalone="yes"?>
<Relationships xmlns="http://schemas.openxmlformats.org/package/2006/relationships"><Relationship Id="rId6" Type="http://schemas.openxmlformats.org/officeDocument/2006/relationships/notesSlide" Target="../notesSlides/notesSlide10.xml"/><Relationship Id="rId5" Type="http://schemas.openxmlformats.org/officeDocument/2006/relationships/slideLayout" Target="../slideLayouts/slideLayout12.xml"/><Relationship Id="rId4" Type="http://schemas.openxmlformats.org/officeDocument/2006/relationships/image" Target="../media/image24.svg"/><Relationship Id="rId3" Type="http://schemas.openxmlformats.org/officeDocument/2006/relationships/image" Target="../media/image23.png"/><Relationship Id="rId2" Type="http://schemas.openxmlformats.org/officeDocument/2006/relationships/image" Target="../media/image22.svg"/><Relationship Id="rId1" Type="http://schemas.openxmlformats.org/officeDocument/2006/relationships/image" Target="../media/image21.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8" Type="http://schemas.openxmlformats.org/officeDocument/2006/relationships/notesSlide" Target="../notesSlides/notesSlide12.xml"/><Relationship Id="rId7" Type="http://schemas.openxmlformats.org/officeDocument/2006/relationships/slideLayout" Target="../slideLayouts/slideLayout12.xml"/><Relationship Id="rId6" Type="http://schemas.openxmlformats.org/officeDocument/2006/relationships/image" Target="../media/image30.svg"/><Relationship Id="rId5" Type="http://schemas.openxmlformats.org/officeDocument/2006/relationships/image" Target="../media/image29.png"/><Relationship Id="rId4" Type="http://schemas.openxmlformats.org/officeDocument/2006/relationships/image" Target="../media/image28.svg"/><Relationship Id="rId3" Type="http://schemas.openxmlformats.org/officeDocument/2006/relationships/image" Target="../media/image27.png"/><Relationship Id="rId2" Type="http://schemas.openxmlformats.org/officeDocument/2006/relationships/image" Target="../media/image26.svg"/><Relationship Id="rId1" Type="http://schemas.openxmlformats.org/officeDocument/2006/relationships/image" Target="../media/image25.png"/></Relationships>
</file>

<file path=ppt/slides/_rels/slide13.xml.rels><?xml version="1.0" encoding="UTF-8" standalone="yes"?>
<Relationships xmlns="http://schemas.openxmlformats.org/package/2006/relationships"><Relationship Id="rId6" Type="http://schemas.openxmlformats.org/officeDocument/2006/relationships/notesSlide" Target="../notesSlides/notesSlide13.xml"/><Relationship Id="rId5" Type="http://schemas.openxmlformats.org/officeDocument/2006/relationships/slideLayout" Target="../slideLayouts/slideLayout12.xml"/><Relationship Id="rId4" Type="http://schemas.openxmlformats.org/officeDocument/2006/relationships/image" Target="../media/image33.svg"/><Relationship Id="rId3" Type="http://schemas.openxmlformats.org/officeDocument/2006/relationships/image" Target="../media/image32.png"/><Relationship Id="rId2" Type="http://schemas.openxmlformats.org/officeDocument/2006/relationships/image" Target="../media/image14.svg"/><Relationship Id="rId1" Type="http://schemas.openxmlformats.org/officeDocument/2006/relationships/image" Target="../media/image31.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4" Type="http://schemas.openxmlformats.org/officeDocument/2006/relationships/notesSlide" Target="../notesSlides/notesSlide16.xml"/><Relationship Id="rId3" Type="http://schemas.openxmlformats.org/officeDocument/2006/relationships/slideLayout" Target="../slideLayouts/slideLayout12.xml"/><Relationship Id="rId2" Type="http://schemas.openxmlformats.org/officeDocument/2006/relationships/image" Target="../media/image35.svg"/><Relationship Id="rId1" Type="http://schemas.openxmlformats.org/officeDocument/2006/relationships/image" Target="../media/image34.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image" Target="../media/image43.svg"/><Relationship Id="rId7" Type="http://schemas.openxmlformats.org/officeDocument/2006/relationships/image" Target="../media/image42.png"/><Relationship Id="rId6" Type="http://schemas.openxmlformats.org/officeDocument/2006/relationships/image" Target="../media/image41.svg"/><Relationship Id="rId5" Type="http://schemas.openxmlformats.org/officeDocument/2006/relationships/image" Target="../media/image40.png"/><Relationship Id="rId4" Type="http://schemas.openxmlformats.org/officeDocument/2006/relationships/image" Target="../media/image39.svg"/><Relationship Id="rId3" Type="http://schemas.openxmlformats.org/officeDocument/2006/relationships/image" Target="../media/image38.png"/><Relationship Id="rId2" Type="http://schemas.openxmlformats.org/officeDocument/2006/relationships/image" Target="../media/image37.svg"/><Relationship Id="rId10" Type="http://schemas.openxmlformats.org/officeDocument/2006/relationships/notesSlide" Target="../notesSlides/notesSlide20.xml"/><Relationship Id="rId1" Type="http://schemas.openxmlformats.org/officeDocument/2006/relationships/image" Target="../media/image36.png"/></Relationships>
</file>

<file path=ppt/slides/_rels/slide21.xml.rels><?xml version="1.0" encoding="UTF-8" standalone="yes"?>
<Relationships xmlns="http://schemas.openxmlformats.org/package/2006/relationships"><Relationship Id="rId6" Type="http://schemas.openxmlformats.org/officeDocument/2006/relationships/notesSlide" Target="../notesSlides/notesSlide21.xml"/><Relationship Id="rId5" Type="http://schemas.openxmlformats.org/officeDocument/2006/relationships/slideLayout" Target="../slideLayouts/slideLayout12.xml"/><Relationship Id="rId4" Type="http://schemas.openxmlformats.org/officeDocument/2006/relationships/image" Target="../media/image47.svg"/><Relationship Id="rId3" Type="http://schemas.openxmlformats.org/officeDocument/2006/relationships/image" Target="../media/image46.png"/><Relationship Id="rId2" Type="http://schemas.openxmlformats.org/officeDocument/2006/relationships/image" Target="../media/image45.svg"/><Relationship Id="rId1" Type="http://schemas.openxmlformats.org/officeDocument/2006/relationships/image" Target="../media/image44.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AF8F5">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5588000" y="1905000"/>
            <a:ext cx="1016000" cy="76200"/>
          </a:xfrm>
          <a:prstGeom prst="roundRect">
            <a:avLst>
              <a:gd name="adj" fmla="val 0"/>
            </a:avLst>
          </a:prstGeom>
          <a:solidFill>
            <a:srgbClr val="004D40">
              <a:alpha val="10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0" y="2413000"/>
            <a:ext cx="12192000" cy="889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4400" b="1" i="0" u="none" strike="noStrike">
                <a:solidFill>
                  <a:srgbClr val="1A1A1A"/>
                </a:solidFill>
                <a:latin typeface="Noto Sans SC" panose="020B0200000000000000" charset="-122"/>
                <a:ea typeface="Noto Sans SC" panose="020B0200000000000000" charset="-122"/>
                <a:cs typeface="Noto Sans SC" panose="020B0200000000000000" charset="-122"/>
                <a:sym typeface="Noto Sans SC" panose="020B0200000000000000" charset="-122"/>
              </a:rPr>
              <a:t>Vexilon项目汇报</a:t>
            </a:r>
            <a:endParaRPr lang="en-US" sz="1100"/>
          </a:p>
        </p:txBody>
      </p:sp>
      <p:sp>
        <p:nvSpPr>
          <p:cNvPr id="4" name="AutoShape 4"/>
          <p:cNvSpPr/>
          <p:nvPr/>
        </p:nvSpPr>
        <p:spPr>
          <a:xfrm>
            <a:off x="0" y="3556000"/>
            <a:ext cx="12192000" cy="635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400" b="0" i="0" u="none" strike="noStrike">
                <a:solidFill>
                  <a:srgbClr val="1A1A1A"/>
                </a:solidFill>
                <a:latin typeface="Noto Sans SC" panose="020B0200000000000000" charset="-122"/>
                <a:ea typeface="Noto Sans SC" panose="020B0200000000000000" charset="-122"/>
                <a:cs typeface="Noto Sans SC" panose="020B0200000000000000" charset="-122"/>
                <a:sym typeface="Noto Sans SC" panose="020B0200000000000000" charset="-122"/>
              </a:rPr>
              <a:t>基于Rust与IronClaw重构LiteOS-M内核</a:t>
            </a:r>
            <a:endParaRPr lang="en-US" sz="1100"/>
          </a:p>
        </p:txBody>
      </p:sp>
      <p:sp>
        <p:nvSpPr>
          <p:cNvPr id="5" name="AutoShape 5"/>
          <p:cNvSpPr/>
          <p:nvPr/>
        </p:nvSpPr>
        <p:spPr>
          <a:xfrm>
            <a:off x="5334000" y="4572000"/>
            <a:ext cx="1524000" cy="50800"/>
          </a:xfrm>
          <a:prstGeom prst="roundRect">
            <a:avLst>
              <a:gd name="adj" fmla="val 0"/>
            </a:avLst>
          </a:prstGeom>
          <a:solidFill>
            <a:srgbClr val="B2DFDB">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0" y="5461000"/>
            <a:ext cx="12192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0" i="0" u="none" strike="noStrike">
                <a:solidFill>
                  <a:srgbClr val="6B6B6B"/>
                </a:solidFill>
                <a:latin typeface="Noto Sans SC" panose="020B0200000000000000" charset="-122"/>
                <a:ea typeface="Noto Sans SC" panose="020B0200000000000000" charset="-122"/>
                <a:cs typeface="Noto Sans SC" panose="020B0200000000000000" charset="-122"/>
                <a:sym typeface="Noto Sans SC" panose="020B0200000000000000" charset="-122"/>
              </a:rPr>
              <a:t>汇报团队：Vexilon小组 | 日期：2026年4月</a:t>
            </a:r>
            <a:endParaRPr lang="en-US" sz="11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AF8F5">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812800" y="558800"/>
            <a:ext cx="105664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800" b="1" i="0" u="none" strike="noStrike">
                <a:solidFill>
                  <a:srgbClr val="1A1A1A"/>
                </a:solidFill>
                <a:latin typeface="Noto Sans SC" panose="020B0200000000000000" charset="-122"/>
                <a:ea typeface="Noto Sans SC" panose="020B0200000000000000" charset="-122"/>
                <a:cs typeface="Noto Sans SC" panose="020B0200000000000000" charset="-122"/>
                <a:sym typeface="Noto Sans SC" panose="020B0200000000000000" charset="-122"/>
              </a:rPr>
              <a:t>项目旨在解决IoT内核安全痛点，通过Rust重构实现技术代际升级</a:t>
            </a:r>
            <a:endParaRPr lang="en-US" sz="2800"/>
          </a:p>
        </p:txBody>
      </p:sp>
      <p:sp>
        <p:nvSpPr>
          <p:cNvPr id="3" name="AutoShape 3"/>
          <p:cNvSpPr/>
          <p:nvPr/>
        </p:nvSpPr>
        <p:spPr>
          <a:xfrm>
            <a:off x="508000" y="1397000"/>
            <a:ext cx="1778000" cy="4953000"/>
          </a:xfrm>
          <a:prstGeom prst="roundRect">
            <a:avLst>
              <a:gd name="adj" fmla="val 8571"/>
            </a:avLst>
          </a:prstGeom>
          <a:solidFill>
            <a:srgbClr val="004D40">
              <a:alpha val="100000"/>
            </a:srgbClr>
          </a:solidFill>
          <a:ln w="25400" cap="flat" cmpd="sng">
            <a:noFill/>
            <a:prstDash val="solid"/>
            <a:round/>
          </a:ln>
          <a:effectLst>
            <a:outerShdw blurRad="127000" dist="50800" dir="2700000" algn="tl" rotWithShape="0">
              <a:srgbClr val="000000">
                <a:alpha val="15000"/>
              </a:srgbClr>
            </a:outerShdw>
          </a:effectLst>
        </p:spPr>
        <p:txBody>
          <a:bodyPr vert="horz" wrap="square" lIns="63500" tIns="63500" rIns="63500" bIns="63500" rtlCol="0" anchor="ctr"/>
          <a:lstStyle/>
          <a:p>
            <a:pPr algn="ctr">
              <a:defRPr/>
            </a:pPr>
          </a:p>
        </p:txBody>
      </p:sp>
      <p:sp>
        <p:nvSpPr>
          <p:cNvPr id="4" name="AutoShape 4"/>
          <p:cNvSpPr/>
          <p:nvPr/>
        </p:nvSpPr>
        <p:spPr>
          <a:xfrm>
            <a:off x="508000" y="2286000"/>
            <a:ext cx="1778000" cy="2286000"/>
          </a:xfrm>
          <a:prstGeom prst="rect">
            <a:avLst/>
          </a:prstGeom>
          <a:noFill/>
          <a:ln w="12700" cap="flat" cmpd="sng">
            <a:noFill/>
            <a:prstDash val="solid"/>
            <a:round/>
          </a:ln>
        </p:spPr>
        <p:txBody>
          <a:bodyPr vert="horz" wrap="square" lIns="0" tIns="0" rIns="0" bIns="0" rtlCol="0" anchor="ctr" anchorCtr="0"/>
          <a:lstStyle/>
          <a:p>
            <a:pPr indent="0" algn="ctr">
              <a:lnSpc>
                <a:spcPct val="108000"/>
              </a:lnSpc>
              <a:defRPr/>
            </a:pPr>
            <a:r>
              <a:rPr lang="en-US" sz="1800" b="1" i="0" u="none" strike="noStrike">
                <a:solidFill>
                  <a:srgbClr val="B2DFDB"/>
                </a:solidFill>
                <a:latin typeface="Noto Sans SC" panose="020B0200000000000000" charset="-122"/>
                <a:ea typeface="Noto Sans SC" panose="020B0200000000000000" charset="-122"/>
                <a:cs typeface="Noto Sans SC" panose="020B0200000000000000" charset="-122"/>
                <a:sym typeface="Noto Sans SC" panose="020B0200000000000000" charset="-122"/>
              </a:rPr>
              <a:t>EXECUTIVE</a:t>
            </a:r>
            <a:br>
              <a:rPr lang="en-US" sz="1800" b="1" i="0" u="none" strike="noStrike">
                <a:solidFill>
                  <a:srgbClr val="B2DFDB"/>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800" b="1" i="0" u="none" strike="noStrike">
                <a:solidFill>
                  <a:srgbClr val="B2DFDB"/>
                </a:solidFill>
                <a:latin typeface="Noto Sans SC" panose="020B0200000000000000" charset="-122"/>
                <a:ea typeface="Noto Sans SC" panose="020B0200000000000000" charset="-122"/>
                <a:cs typeface="Noto Sans SC" panose="020B0200000000000000" charset="-122"/>
                <a:sym typeface="Noto Sans SC" panose="020B0200000000000000" charset="-122"/>
              </a:rPr>
              <a:t>SUMMARY</a:t>
            </a:r>
            <a:endParaRPr lang="en-US" sz="1800"/>
          </a:p>
        </p:txBody>
      </p:sp>
      <p:sp>
        <p:nvSpPr>
          <p:cNvPr id="5" name="AutoShape 5"/>
          <p:cNvSpPr/>
          <p:nvPr/>
        </p:nvSpPr>
        <p:spPr>
          <a:xfrm>
            <a:off x="508000" y="4064000"/>
            <a:ext cx="1778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200" b="0" i="0" u="none" strike="noStrike">
                <a:solidFill>
                  <a:srgbClr val="FFFFFF">
                    <a:alpha val="6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执行摘要概览</a:t>
            </a:r>
            <a:endParaRPr lang="en-US" sz="1100"/>
          </a:p>
        </p:txBody>
      </p:sp>
      <p:sp>
        <p:nvSpPr>
          <p:cNvPr id="6" name="AutoShape 6"/>
          <p:cNvSpPr/>
          <p:nvPr/>
        </p:nvSpPr>
        <p:spPr>
          <a:xfrm>
            <a:off x="2540000" y="1397000"/>
            <a:ext cx="4445000" cy="2413000"/>
          </a:xfrm>
          <a:prstGeom prst="roundRect">
            <a:avLst>
              <a:gd name="adj" fmla="val 4210"/>
            </a:avLst>
          </a:prstGeom>
          <a:solidFill>
            <a:srgbClr val="FFFFFF">
              <a:alpha val="100000"/>
            </a:srgbClr>
          </a:solidFill>
          <a:ln w="25400" cap="flat" cmpd="sng">
            <a:noFill/>
            <a:prstDash val="solid"/>
            <a:round/>
          </a:ln>
          <a:effectLst>
            <a:outerShdw blurRad="152400" dist="38100" dir="2700000" algn="tl" rotWithShape="0">
              <a:srgbClr val="000000">
                <a:alpha val="8000"/>
              </a:srgbClr>
            </a:outerShdw>
          </a:effectLst>
        </p:spPr>
        <p:txBody>
          <a:bodyPr vert="horz" wrap="square" lIns="63500" tIns="63500" rIns="63500" bIns="63500" rtlCol="0" anchor="ctr"/>
          <a:lstStyle/>
          <a:p>
            <a:pPr algn="ctr">
              <a:defRPr/>
            </a:pPr>
          </a:p>
        </p:txBody>
      </p:sp>
      <p:sp>
        <p:nvSpPr>
          <p:cNvPr id="7" name="AutoShape 7"/>
          <p:cNvSpPr/>
          <p:nvPr/>
        </p:nvSpPr>
        <p:spPr>
          <a:xfrm>
            <a:off x="2794000" y="1651000"/>
            <a:ext cx="762000" cy="762000"/>
          </a:xfrm>
          <a:prstGeom prst="ellipse">
            <a:avLst/>
          </a:prstGeom>
          <a:solidFill>
            <a:srgbClr val="E0F2F1">
              <a:alpha val="100000"/>
            </a:srgbClr>
          </a:solidFill>
          <a:ln w="25400" cap="flat" cmpd="sng">
            <a:noFill/>
            <a:prstDash val="solid"/>
            <a:round/>
          </a:ln>
        </p:spPr>
        <p:txBody>
          <a:bodyPr vert="horz" wrap="square" lIns="63500" tIns="63500" rIns="63500" bIns="63500" rtlCol="0" anchor="ctr"/>
          <a:lstStyle/>
          <a:p>
            <a:pPr algn="ctr">
              <a:defRPr/>
            </a:pPr>
          </a:p>
        </p:txBody>
      </p:sp>
      <p:sp>
        <p:nvSpPr>
          <p:cNvPr id="8" name="AutoShape 8"/>
          <p:cNvSpPr/>
          <p:nvPr/>
        </p:nvSpPr>
        <p:spPr>
          <a:xfrm>
            <a:off x="2794000" y="1752600"/>
            <a:ext cx="762000" cy="5588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3600" b="1" i="0" u="none" strike="noStrike">
                <a:solidFill>
                  <a:srgbClr val="004D40"/>
                </a:solidFill>
                <a:latin typeface="Noto Sans SC" panose="020B0200000000000000" charset="-122"/>
                <a:ea typeface="Noto Sans SC" panose="020B0200000000000000" charset="-122"/>
                <a:cs typeface="Noto Sans SC" panose="020B0200000000000000" charset="-122"/>
                <a:sym typeface="Noto Sans SC" panose="020B0200000000000000" charset="-122"/>
              </a:rPr>
              <a:t>01</a:t>
            </a:r>
            <a:endParaRPr lang="en-US" sz="1100"/>
          </a:p>
        </p:txBody>
      </p:sp>
      <p:sp>
        <p:nvSpPr>
          <p:cNvPr id="9" name="AutoShape 9"/>
          <p:cNvSpPr/>
          <p:nvPr/>
        </p:nvSpPr>
        <p:spPr>
          <a:xfrm>
            <a:off x="3746500" y="1651000"/>
            <a:ext cx="29845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04D40"/>
                </a:solidFill>
                <a:latin typeface="Noto Sans SC" panose="020B0200000000000000" charset="-122"/>
                <a:ea typeface="Noto Sans SC" panose="020B0200000000000000" charset="-122"/>
                <a:cs typeface="Noto Sans SC" panose="020B0200000000000000" charset="-122"/>
                <a:sym typeface="Noto Sans SC" panose="020B0200000000000000" charset="-122"/>
              </a:rPr>
              <a:t>时代需求：系统性风险与合规压力</a:t>
            </a:r>
            <a:endParaRPr lang="en-US" sz="1100"/>
          </a:p>
        </p:txBody>
      </p:sp>
      <p:sp>
        <p:nvSpPr>
          <p:cNvPr id="10" name="AutoShape 10"/>
          <p:cNvSpPr/>
          <p:nvPr/>
        </p:nvSpPr>
        <p:spPr>
          <a:xfrm>
            <a:off x="3746500" y="2159000"/>
            <a:ext cx="2984500" cy="635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100" b="0" i="0" u="none" strike="noStrike">
                <a:solidFill>
                  <a:srgbClr val="1A1A1A"/>
                </a:solidFill>
                <a:latin typeface="Noto Sans SC" panose="020B0200000000000000" charset="-122"/>
                <a:ea typeface="Noto Sans SC" panose="020B0200000000000000" charset="-122"/>
                <a:cs typeface="Noto Sans SC" panose="020B0200000000000000" charset="-122"/>
                <a:sym typeface="Noto Sans SC" panose="020B0200000000000000" charset="-122"/>
              </a:rPr>
              <a:t>万物互联时代，约70%的漏洞源于C语言内存安全问题。随着法规出台，设备商面临前所未有的安全责任压力。</a:t>
            </a:r>
            <a:endParaRPr lang="en-US" sz="1100"/>
          </a:p>
        </p:txBody>
      </p:sp>
      <p:sp>
        <p:nvSpPr>
          <p:cNvPr id="11" name="AutoShape 11"/>
          <p:cNvSpPr/>
          <p:nvPr/>
        </p:nvSpPr>
        <p:spPr>
          <a:xfrm>
            <a:off x="3746500" y="2921000"/>
            <a:ext cx="2984500" cy="508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000" b="0" i="0" u="none" strike="noStrike">
                <a:solidFill>
                  <a:srgbClr val="6B6B6B"/>
                </a:solidFill>
                <a:latin typeface="Noto Sans SC" panose="020B0200000000000000" charset="-122"/>
                <a:ea typeface="Noto Sans SC" panose="020B0200000000000000" charset="-122"/>
                <a:cs typeface="Noto Sans SC" panose="020B0200000000000000" charset="-122"/>
                <a:sym typeface="Noto Sans SC" panose="020B0200000000000000" charset="-122"/>
              </a:rPr>
              <a:t>洞察：技术升级已从“可选项”转变为“必选项”，以应对日益严峻的安全挑战。</a:t>
            </a:r>
            <a:endParaRPr lang="en-US" sz="1100"/>
          </a:p>
        </p:txBody>
      </p:sp>
      <p:sp>
        <p:nvSpPr>
          <p:cNvPr id="12" name="AutoShape 12"/>
          <p:cNvSpPr/>
          <p:nvPr/>
        </p:nvSpPr>
        <p:spPr>
          <a:xfrm>
            <a:off x="7239000" y="1397000"/>
            <a:ext cx="4445000" cy="2413000"/>
          </a:xfrm>
          <a:prstGeom prst="roundRect">
            <a:avLst>
              <a:gd name="adj" fmla="val 4210"/>
            </a:avLst>
          </a:prstGeom>
          <a:solidFill>
            <a:srgbClr val="FFFFFF">
              <a:alpha val="100000"/>
            </a:srgbClr>
          </a:solidFill>
          <a:ln w="25400" cap="flat" cmpd="sng">
            <a:noFill/>
            <a:prstDash val="solid"/>
            <a:round/>
          </a:ln>
          <a:effectLst>
            <a:outerShdw blurRad="152400" dist="38100" dir="2700000" algn="tl" rotWithShape="0">
              <a:srgbClr val="000000">
                <a:alpha val="8000"/>
              </a:srgbClr>
            </a:outerShdw>
          </a:effectLst>
        </p:spPr>
        <p:txBody>
          <a:bodyPr vert="horz" wrap="square" lIns="63500" tIns="63500" rIns="63500" bIns="63500" rtlCol="0" anchor="ctr"/>
          <a:lstStyle/>
          <a:p>
            <a:pPr algn="ctr">
              <a:defRPr/>
            </a:pPr>
          </a:p>
        </p:txBody>
      </p:sp>
      <p:sp>
        <p:nvSpPr>
          <p:cNvPr id="13" name="AutoShape 13"/>
          <p:cNvSpPr/>
          <p:nvPr/>
        </p:nvSpPr>
        <p:spPr>
          <a:xfrm>
            <a:off x="7493000" y="1651000"/>
            <a:ext cx="762000" cy="762000"/>
          </a:xfrm>
          <a:prstGeom prst="ellipse">
            <a:avLst/>
          </a:prstGeom>
          <a:solidFill>
            <a:srgbClr val="E0F2F1">
              <a:alpha val="100000"/>
            </a:srgbClr>
          </a:solidFill>
          <a:ln w="25400" cap="flat" cmpd="sng">
            <a:noFill/>
            <a:prstDash val="solid"/>
            <a:round/>
          </a:ln>
        </p:spPr>
        <p:txBody>
          <a:bodyPr vert="horz" wrap="square" lIns="63500" tIns="63500" rIns="63500" bIns="63500" rtlCol="0" anchor="ctr"/>
          <a:lstStyle/>
          <a:p>
            <a:pPr algn="ctr">
              <a:defRPr/>
            </a:pPr>
          </a:p>
        </p:txBody>
      </p:sp>
      <p:sp>
        <p:nvSpPr>
          <p:cNvPr id="14" name="AutoShape 14"/>
          <p:cNvSpPr/>
          <p:nvPr/>
        </p:nvSpPr>
        <p:spPr>
          <a:xfrm>
            <a:off x="7493000" y="1752600"/>
            <a:ext cx="762000" cy="5588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3600" b="1" i="0" u="none" strike="noStrike">
                <a:solidFill>
                  <a:srgbClr val="004D40"/>
                </a:solidFill>
                <a:latin typeface="Noto Sans SC" panose="020B0200000000000000" charset="-122"/>
                <a:ea typeface="Noto Sans SC" panose="020B0200000000000000" charset="-122"/>
                <a:cs typeface="Noto Sans SC" panose="020B0200000000000000" charset="-122"/>
                <a:sym typeface="Noto Sans SC" panose="020B0200000000000000" charset="-122"/>
              </a:rPr>
              <a:t>02</a:t>
            </a:r>
            <a:endParaRPr lang="en-US" sz="1100"/>
          </a:p>
        </p:txBody>
      </p:sp>
      <p:sp>
        <p:nvSpPr>
          <p:cNvPr id="15" name="AutoShape 15"/>
          <p:cNvSpPr/>
          <p:nvPr/>
        </p:nvSpPr>
        <p:spPr>
          <a:xfrm>
            <a:off x="8445500" y="1651000"/>
            <a:ext cx="29845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04D40"/>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核心方案：Rust重构与安全框架</a:t>
            </a:r>
            <a:endParaRPr lang="en-US" sz="1100"/>
          </a:p>
        </p:txBody>
      </p:sp>
      <p:sp>
        <p:nvSpPr>
          <p:cNvPr id="16" name="AutoShape 16"/>
          <p:cNvSpPr/>
          <p:nvPr/>
        </p:nvSpPr>
        <p:spPr>
          <a:xfrm>
            <a:off x="8445500" y="2159000"/>
            <a:ext cx="2984500" cy="635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100" b="0" i="0" u="none" strike="noStrike">
                <a:solidFill>
                  <a:srgbClr val="1A1A1A"/>
                </a:solidFill>
                <a:latin typeface="Noto Sans SC" panose="020B0200000000000000" charset="-122"/>
                <a:ea typeface="Noto Sans SC" panose="020B0200000000000000" charset="-122"/>
                <a:cs typeface="Noto Sans SC" panose="020B0200000000000000" charset="-122"/>
                <a:sym typeface="Noto Sans SC" panose="020B0200000000000000" charset="-122"/>
              </a:rPr>
              <a:t>采用Rust改写LiteOS-M核心模块，引入IronClaw框架构建安全接口，从编译期根除内存与并发错误。</a:t>
            </a:r>
            <a:endParaRPr lang="en-US" sz="1100"/>
          </a:p>
        </p:txBody>
      </p:sp>
      <p:sp>
        <p:nvSpPr>
          <p:cNvPr id="17" name="AutoShape 17"/>
          <p:cNvSpPr/>
          <p:nvPr/>
        </p:nvSpPr>
        <p:spPr>
          <a:xfrm>
            <a:off x="8445500" y="2921000"/>
            <a:ext cx="2984500" cy="508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000" b="0" i="0" u="none" strike="noStrike">
                <a:solidFill>
                  <a:srgbClr val="6B6B6B"/>
                </a:solidFill>
                <a:latin typeface="Noto Sans SC" panose="020B0200000000000000" charset="-122"/>
                <a:ea typeface="Noto Sans SC" panose="020B0200000000000000" charset="-122"/>
                <a:cs typeface="Noto Sans SC" panose="020B0200000000000000" charset="-122"/>
                <a:sym typeface="Noto Sans SC" panose="020B0200000000000000" charset="-122"/>
              </a:rPr>
              <a:t>价值：构建底层安全基石，为未来AI与操作系统的深度融合提供可信环境。</a:t>
            </a:r>
            <a:endParaRPr lang="en-US" sz="1100"/>
          </a:p>
        </p:txBody>
      </p:sp>
      <p:sp>
        <p:nvSpPr>
          <p:cNvPr id="18" name="AutoShape 18"/>
          <p:cNvSpPr/>
          <p:nvPr/>
        </p:nvSpPr>
        <p:spPr>
          <a:xfrm>
            <a:off x="2540000" y="4064000"/>
            <a:ext cx="4445000" cy="2413000"/>
          </a:xfrm>
          <a:prstGeom prst="roundRect">
            <a:avLst>
              <a:gd name="adj" fmla="val 4210"/>
            </a:avLst>
          </a:prstGeom>
          <a:solidFill>
            <a:srgbClr val="FFFFFF">
              <a:alpha val="100000"/>
            </a:srgbClr>
          </a:solidFill>
          <a:ln w="25400" cap="flat" cmpd="sng">
            <a:noFill/>
            <a:prstDash val="solid"/>
            <a:round/>
          </a:ln>
          <a:effectLst>
            <a:outerShdw blurRad="152400" dist="38100" dir="2700000" algn="tl" rotWithShape="0">
              <a:srgbClr val="000000">
                <a:alpha val="8000"/>
              </a:srgbClr>
            </a:outerShdw>
          </a:effectLst>
        </p:spPr>
        <p:txBody>
          <a:bodyPr vert="horz" wrap="square" lIns="63500" tIns="63500" rIns="63500" bIns="63500" rtlCol="0" anchor="ctr"/>
          <a:lstStyle/>
          <a:p>
            <a:pPr algn="ctr">
              <a:defRPr/>
            </a:pPr>
          </a:p>
        </p:txBody>
      </p:sp>
      <p:sp>
        <p:nvSpPr>
          <p:cNvPr id="19" name="AutoShape 19"/>
          <p:cNvSpPr/>
          <p:nvPr/>
        </p:nvSpPr>
        <p:spPr>
          <a:xfrm>
            <a:off x="2794000" y="4318000"/>
            <a:ext cx="762000" cy="762000"/>
          </a:xfrm>
          <a:prstGeom prst="ellipse">
            <a:avLst/>
          </a:prstGeom>
          <a:solidFill>
            <a:srgbClr val="E0F2F1">
              <a:alpha val="100000"/>
            </a:srgbClr>
          </a:solidFill>
          <a:ln w="25400" cap="flat" cmpd="sng">
            <a:noFill/>
            <a:prstDash val="solid"/>
            <a:round/>
          </a:ln>
        </p:spPr>
        <p:txBody>
          <a:bodyPr vert="horz" wrap="square" lIns="63500" tIns="63500" rIns="63500" bIns="63500" rtlCol="0" anchor="ctr"/>
          <a:lstStyle/>
          <a:p>
            <a:pPr algn="ctr">
              <a:defRPr/>
            </a:pPr>
          </a:p>
        </p:txBody>
      </p:sp>
      <p:sp>
        <p:nvSpPr>
          <p:cNvPr id="20" name="AutoShape 20"/>
          <p:cNvSpPr/>
          <p:nvPr/>
        </p:nvSpPr>
        <p:spPr>
          <a:xfrm>
            <a:off x="2794000" y="4419600"/>
            <a:ext cx="762000" cy="5588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3600" b="1" i="0" u="none" strike="noStrike">
                <a:solidFill>
                  <a:srgbClr val="004D40"/>
                </a:solidFill>
                <a:latin typeface="Noto Sans SC" panose="020B0200000000000000" charset="-122"/>
                <a:ea typeface="Noto Sans SC" panose="020B0200000000000000" charset="-122"/>
                <a:cs typeface="Noto Sans SC" panose="020B0200000000000000" charset="-122"/>
                <a:sym typeface="Noto Sans SC" panose="020B0200000000000000" charset="-122"/>
              </a:rPr>
              <a:t>03</a:t>
            </a:r>
            <a:endParaRPr lang="en-US" sz="1100"/>
          </a:p>
        </p:txBody>
      </p:sp>
      <p:sp>
        <p:nvSpPr>
          <p:cNvPr id="21" name="AutoShape 21"/>
          <p:cNvSpPr/>
          <p:nvPr/>
        </p:nvSpPr>
        <p:spPr>
          <a:xfrm>
            <a:off x="3746500" y="4318000"/>
            <a:ext cx="29845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04D40"/>
                </a:solidFill>
                <a:latin typeface="Noto Sans SC" panose="020B0200000000000000" charset="-122"/>
                <a:ea typeface="Noto Sans SC" panose="020B0200000000000000" charset="-122"/>
                <a:cs typeface="Noto Sans SC" panose="020B0200000000000000" charset="-122"/>
                <a:sym typeface="Noto Sans SC" panose="020B0200000000000000" charset="-122"/>
              </a:rPr>
              <a:t>已完成工作：路线锁定与充分论证</a:t>
            </a:r>
            <a:endParaRPr lang="en-US" sz="1100"/>
          </a:p>
        </p:txBody>
      </p:sp>
      <p:sp>
        <p:nvSpPr>
          <p:cNvPr id="22" name="AutoShape 22"/>
          <p:cNvSpPr/>
          <p:nvPr/>
        </p:nvSpPr>
        <p:spPr>
          <a:xfrm>
            <a:off x="3746500" y="4826000"/>
            <a:ext cx="2984500" cy="635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100" b="0" i="0" u="none" strike="noStrike">
                <a:solidFill>
                  <a:srgbClr val="1A1A1A"/>
                </a:solidFill>
                <a:latin typeface="Noto Sans SC" panose="020B0200000000000000" charset="-122"/>
                <a:ea typeface="Noto Sans SC" panose="020B0200000000000000" charset="-122"/>
                <a:cs typeface="Noto Sans SC" panose="020B0200000000000000" charset="-122"/>
                <a:sym typeface="Noto Sans SC" panose="020B0200000000000000" charset="-122"/>
              </a:rPr>
              <a:t>完成全面背景调研与可行性论证，锁定“核心模块接力重构”路线，梳理出11个待改写的关键模块。</a:t>
            </a:r>
            <a:endParaRPr lang="en-US" sz="1100"/>
          </a:p>
        </p:txBody>
      </p:sp>
      <p:sp>
        <p:nvSpPr>
          <p:cNvPr id="23" name="AutoShape 23"/>
          <p:cNvSpPr/>
          <p:nvPr/>
        </p:nvSpPr>
        <p:spPr>
          <a:xfrm>
            <a:off x="3746500" y="5588000"/>
            <a:ext cx="2984500" cy="508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000" b="0" i="0" u="none" strike="noStrike">
                <a:solidFill>
                  <a:srgbClr val="6B6B6B"/>
                </a:solidFill>
                <a:latin typeface="Noto Sans SC" panose="020B0200000000000000" charset="-122"/>
                <a:ea typeface="Noto Sans SC" panose="020B0200000000000000" charset="-122"/>
                <a:cs typeface="Noto Sans SC" panose="020B0200000000000000" charset="-122"/>
                <a:sym typeface="Noto Sans SC" panose="020B0200000000000000" charset="-122"/>
              </a:rPr>
              <a:t>成果：产出完整的调研报告与可行性分析，为下一阶段的工程开发做好了100%的准备。</a:t>
            </a:r>
            <a:endParaRPr lang="en-US" sz="1100"/>
          </a:p>
        </p:txBody>
      </p:sp>
      <p:sp>
        <p:nvSpPr>
          <p:cNvPr id="24" name="AutoShape 24"/>
          <p:cNvSpPr/>
          <p:nvPr/>
        </p:nvSpPr>
        <p:spPr>
          <a:xfrm>
            <a:off x="7239000" y="4064000"/>
            <a:ext cx="4445000" cy="2413000"/>
          </a:xfrm>
          <a:prstGeom prst="roundRect">
            <a:avLst>
              <a:gd name="adj" fmla="val 4210"/>
            </a:avLst>
          </a:prstGeom>
          <a:solidFill>
            <a:srgbClr val="FFFFFF">
              <a:alpha val="100000"/>
            </a:srgbClr>
          </a:solidFill>
          <a:ln w="25400" cap="flat" cmpd="sng">
            <a:noFill/>
            <a:prstDash val="solid"/>
            <a:round/>
          </a:ln>
          <a:effectLst>
            <a:outerShdw blurRad="152400" dist="38100" dir="2700000" algn="tl" rotWithShape="0">
              <a:srgbClr val="000000">
                <a:alpha val="8000"/>
              </a:srgbClr>
            </a:outerShdw>
          </a:effectLst>
        </p:spPr>
        <p:txBody>
          <a:bodyPr vert="horz" wrap="square" lIns="63500" tIns="63500" rIns="63500" bIns="63500" rtlCol="0" anchor="ctr"/>
          <a:lstStyle/>
          <a:p>
            <a:pPr algn="ctr">
              <a:defRPr/>
            </a:pPr>
          </a:p>
        </p:txBody>
      </p:sp>
      <p:sp>
        <p:nvSpPr>
          <p:cNvPr id="25" name="AutoShape 25"/>
          <p:cNvSpPr/>
          <p:nvPr/>
        </p:nvSpPr>
        <p:spPr>
          <a:xfrm>
            <a:off x="7493000" y="4318000"/>
            <a:ext cx="762000" cy="762000"/>
          </a:xfrm>
          <a:prstGeom prst="ellipse">
            <a:avLst/>
          </a:prstGeom>
          <a:solidFill>
            <a:srgbClr val="E0F2F1">
              <a:alpha val="100000"/>
            </a:srgbClr>
          </a:solidFill>
          <a:ln w="25400" cap="flat" cmpd="sng">
            <a:noFill/>
            <a:prstDash val="solid"/>
            <a:round/>
          </a:ln>
        </p:spPr>
        <p:txBody>
          <a:bodyPr vert="horz" wrap="square" lIns="63500" tIns="63500" rIns="63500" bIns="63500" rtlCol="0" anchor="ctr"/>
          <a:lstStyle/>
          <a:p>
            <a:pPr algn="ctr">
              <a:defRPr/>
            </a:pPr>
          </a:p>
        </p:txBody>
      </p:sp>
      <p:sp>
        <p:nvSpPr>
          <p:cNvPr id="26" name="AutoShape 26"/>
          <p:cNvSpPr/>
          <p:nvPr/>
        </p:nvSpPr>
        <p:spPr>
          <a:xfrm>
            <a:off x="7493000" y="4419600"/>
            <a:ext cx="762000" cy="5588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3600" b="1" i="0" u="none" strike="noStrike">
                <a:solidFill>
                  <a:srgbClr val="004D40"/>
                </a:solidFill>
                <a:latin typeface="Noto Sans SC" panose="020B0200000000000000" charset="-122"/>
                <a:ea typeface="Noto Sans SC" panose="020B0200000000000000" charset="-122"/>
                <a:cs typeface="Noto Sans SC" panose="020B0200000000000000" charset="-122"/>
                <a:sym typeface="Noto Sans SC" panose="020B0200000000000000" charset="-122"/>
              </a:rPr>
              <a:t>04</a:t>
            </a:r>
            <a:endParaRPr lang="en-US" sz="1100"/>
          </a:p>
        </p:txBody>
      </p:sp>
      <p:sp>
        <p:nvSpPr>
          <p:cNvPr id="27" name="AutoShape 27"/>
          <p:cNvSpPr/>
          <p:nvPr/>
        </p:nvSpPr>
        <p:spPr>
          <a:xfrm>
            <a:off x="8445500" y="4318000"/>
            <a:ext cx="29845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04D40"/>
                </a:solidFill>
                <a:latin typeface="Noto Sans SC" panose="020B0200000000000000" charset="-122"/>
                <a:ea typeface="Noto Sans SC" panose="020B0200000000000000" charset="-122"/>
                <a:cs typeface="Noto Sans SC" panose="020B0200000000000000" charset="-122"/>
                <a:sym typeface="Noto Sans SC" panose="020B0200000000000000" charset="-122"/>
              </a:rPr>
              <a:t>未来展望：四阶段推进与技术创新</a:t>
            </a:r>
            <a:endParaRPr lang="en-US" sz="1100"/>
          </a:p>
        </p:txBody>
      </p:sp>
      <p:sp>
        <p:nvSpPr>
          <p:cNvPr id="28" name="AutoShape 28"/>
          <p:cNvSpPr/>
          <p:nvPr/>
        </p:nvSpPr>
        <p:spPr>
          <a:xfrm>
            <a:off x="8445500" y="4826000"/>
            <a:ext cx="2984500" cy="635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100" b="0" i="0" u="none" strike="noStrike">
                <a:solidFill>
                  <a:srgbClr val="1A1A1A"/>
                </a:solidFill>
                <a:latin typeface="Noto Sans SC" panose="020B0200000000000000" charset="-122"/>
                <a:ea typeface="Noto Sans SC" panose="020B0200000000000000" charset="-122"/>
                <a:cs typeface="Noto Sans SC" panose="020B0200000000000000" charset="-122"/>
                <a:sym typeface="Noto Sans SC" panose="020B0200000000000000" charset="-122"/>
              </a:rPr>
              <a:t>分四阶段推进项目，最终产出安全内核模块、统一接口原型及工程方法论，探索“自愈型OS”的可能路径。</a:t>
            </a:r>
            <a:endParaRPr lang="en-US" sz="1100"/>
          </a:p>
        </p:txBody>
      </p:sp>
      <p:sp>
        <p:nvSpPr>
          <p:cNvPr id="29" name="AutoShape 29"/>
          <p:cNvSpPr/>
          <p:nvPr/>
        </p:nvSpPr>
        <p:spPr>
          <a:xfrm>
            <a:off x="8445500" y="5588000"/>
            <a:ext cx="2984500" cy="508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000" b="0" i="0" u="none" strike="noStrike">
                <a:solidFill>
                  <a:srgbClr val="6B6B6B"/>
                </a:solidFill>
                <a:latin typeface="Noto Sans SC" panose="020B0200000000000000" charset="-122"/>
                <a:ea typeface="Noto Sans SC" panose="020B0200000000000000" charset="-122"/>
                <a:cs typeface="Noto Sans SC" panose="020B0200000000000000" charset="-122"/>
                <a:sym typeface="Noto Sans SC" panose="020B0200000000000000" charset="-122"/>
              </a:rPr>
              <a:t>愿景：不仅提升系统安全性，更打造具有行业领先水平的技术标杆，实现操作系统的代际跨越。</a:t>
            </a:r>
            <a:endParaRPr lang="en-US" sz="11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AF8F5">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812800" y="558800"/>
            <a:ext cx="2540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1A1A1A"/>
                </a:solidFill>
                <a:latin typeface="Noto Sans SC" panose="020B0200000000000000" charset="-122"/>
                <a:ea typeface="Noto Sans SC" panose="020B0200000000000000" charset="-122"/>
                <a:cs typeface="Noto Sans SC" panose="020B0200000000000000" charset="-122"/>
                <a:sym typeface="Noto Sans SC" panose="020B0200000000000000" charset="-122"/>
              </a:rPr>
              <a:t>目录</a:t>
            </a:r>
            <a:endParaRPr lang="en-US" sz="1100"/>
          </a:p>
        </p:txBody>
      </p:sp>
      <p:sp>
        <p:nvSpPr>
          <p:cNvPr id="3" name="AutoShape 3"/>
          <p:cNvSpPr/>
          <p:nvPr/>
        </p:nvSpPr>
        <p:spPr>
          <a:xfrm>
            <a:off x="812800" y="1143000"/>
            <a:ext cx="2540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spc="200">
                <a:solidFill>
                  <a:srgbClr val="6B6B6B"/>
                </a:solidFill>
                <a:latin typeface="Noto Sans SC" panose="020B0200000000000000" charset="-122"/>
                <a:ea typeface="Noto Sans SC" panose="020B0200000000000000" charset="-122"/>
                <a:cs typeface="Noto Sans SC" panose="020B0200000000000000" charset="-122"/>
                <a:sym typeface="Noto Sans SC" panose="020B0200000000000000" charset="-122"/>
              </a:rPr>
              <a:t>CONTENTS</a:t>
            </a:r>
            <a:endParaRPr lang="en-US" sz="1100"/>
          </a:p>
        </p:txBody>
      </p:sp>
      <p:sp>
        <p:nvSpPr>
          <p:cNvPr id="4" name="AutoShape 4"/>
          <p:cNvSpPr/>
          <p:nvPr/>
        </p:nvSpPr>
        <p:spPr>
          <a:xfrm>
            <a:off x="812800" y="1778000"/>
            <a:ext cx="5207000" cy="1397000"/>
          </a:xfrm>
          <a:prstGeom prst="roundRect">
            <a:avLst>
              <a:gd name="adj" fmla="val 7272"/>
            </a:avLst>
          </a:prstGeom>
          <a:solidFill>
            <a:srgbClr val="FFFFFF">
              <a:alpha val="100000"/>
            </a:srgbClr>
          </a:solidFill>
          <a:ln w="25400" cap="flat" cmpd="sng">
            <a:noFill/>
            <a:prstDash val="solid"/>
            <a:round/>
          </a:ln>
          <a:effectLst>
            <a:outerShdw blurRad="203200" dist="50800" dir="2700000" algn="tl" rotWithShape="0">
              <a:srgbClr val="004D40">
                <a:alpha val="12000"/>
              </a:srgbClr>
            </a:outerShdw>
          </a:effectLst>
        </p:spPr>
        <p:txBody>
          <a:bodyPr vert="horz" wrap="square" lIns="63500" tIns="63500" rIns="63500" bIns="63500" rtlCol="0" anchor="ctr"/>
          <a:lstStyle/>
          <a:p>
            <a:pPr algn="ctr">
              <a:defRPr/>
            </a:pPr>
          </a:p>
        </p:txBody>
      </p:sp>
      <p:sp>
        <p:nvSpPr>
          <p:cNvPr id="5" name="AutoShape 5"/>
          <p:cNvSpPr/>
          <p:nvPr/>
        </p:nvSpPr>
        <p:spPr>
          <a:xfrm>
            <a:off x="1016000" y="1968500"/>
            <a:ext cx="889000" cy="1016000"/>
          </a:xfrm>
          <a:prstGeom prst="roundRect">
            <a:avLst>
              <a:gd name="adj" fmla="val 11428"/>
            </a:avLst>
          </a:prstGeom>
          <a:solidFill>
            <a:srgbClr val="004D40">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1016000" y="2159000"/>
            <a:ext cx="889000" cy="635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3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01</a:t>
            </a:r>
            <a:endParaRPr lang="en-US" sz="1100"/>
          </a:p>
        </p:txBody>
      </p:sp>
      <p:sp>
        <p:nvSpPr>
          <p:cNvPr id="7" name="AutoShape 7"/>
          <p:cNvSpPr/>
          <p:nvPr/>
        </p:nvSpPr>
        <p:spPr>
          <a:xfrm>
            <a:off x="2159000" y="1968500"/>
            <a:ext cx="2540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a:solidFill>
                  <a:srgbClr val="004D40"/>
                </a:solidFill>
                <a:latin typeface="Noto Sans SC" panose="020B0200000000000000" charset="-122"/>
                <a:ea typeface="Noto Sans SC" panose="020B0200000000000000" charset="-122"/>
                <a:cs typeface="Noto Sans SC" panose="020B0200000000000000" charset="-122"/>
                <a:sym typeface="Noto Sans SC" panose="020B0200000000000000" charset="-122"/>
              </a:rPr>
              <a:t>项目概览与背景</a:t>
            </a:r>
            <a:endParaRPr lang="en-US" sz="1100"/>
          </a:p>
        </p:txBody>
      </p:sp>
      <p:sp>
        <p:nvSpPr>
          <p:cNvPr id="8" name="AutoShape 8"/>
          <p:cNvSpPr/>
          <p:nvPr/>
        </p:nvSpPr>
        <p:spPr>
          <a:xfrm>
            <a:off x="2159000" y="2413000"/>
            <a:ext cx="2413000" cy="635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100" b="0" i="0" u="none" strike="noStrike">
                <a:solidFill>
                  <a:srgbClr val="6B6B6B"/>
                </a:solidFill>
                <a:latin typeface="Noto Sans SC" panose="020B0200000000000000" charset="-122"/>
                <a:ea typeface="Noto Sans SC" panose="020B0200000000000000" charset="-122"/>
                <a:cs typeface="Noto Sans SC" panose="020B0200000000000000" charset="-122"/>
                <a:sym typeface="Noto Sans SC" panose="020B0200000000000000" charset="-122"/>
              </a:rPr>
              <a:t>阐述项目发起的时代背景、核心目标与团队使命，明确项目的价值定位。</a:t>
            </a:r>
            <a:endParaRPr lang="en-US" sz="1100"/>
          </a:p>
        </p:txBody>
      </p:sp>
      <p:sp>
        <p:nvSpPr>
          <p:cNvPr id="9" name="AutoShape 9"/>
          <p:cNvSpPr/>
          <p:nvPr/>
        </p:nvSpPr>
        <p:spPr>
          <a:xfrm>
            <a:off x="4826000" y="1968500"/>
            <a:ext cx="1016000" cy="1016000"/>
          </a:xfrm>
          <a:prstGeom prst="roundRect">
            <a:avLst>
              <a:gd name="adj" fmla="val 10000"/>
            </a:avLst>
          </a:prstGeom>
          <a:solidFill>
            <a:srgbClr val="B2DFDB">
              <a:alpha val="30000"/>
            </a:srgbClr>
          </a:solidFill>
          <a:ln w="25400" cap="flat" cmpd="sng">
            <a:noFill/>
            <a:prstDash val="solid"/>
            <a:round/>
          </a:ln>
        </p:spPr>
        <p:txBody>
          <a:bodyPr vert="horz" wrap="square" lIns="63500" tIns="63500" rIns="63500" bIns="63500" rtlCol="0" anchor="ctr"/>
          <a:lstStyle/>
          <a:p>
            <a:pPr algn="ctr">
              <a:defRPr/>
            </a:pPr>
          </a:p>
        </p:txBody>
      </p:sp>
      <p:sp>
        <p:nvSpPr>
          <p:cNvPr id="10" name="AutoShape 10"/>
          <p:cNvSpPr/>
          <p:nvPr/>
        </p:nvSpPr>
        <p:spPr>
          <a:xfrm>
            <a:off x="4826000" y="2286000"/>
            <a:ext cx="1016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200" b="1" i="0" u="none" strike="noStrike">
                <a:solidFill>
                  <a:srgbClr val="004D40"/>
                </a:solidFill>
                <a:latin typeface="Noto Sans SC" panose="020B0200000000000000" charset="-122"/>
                <a:ea typeface="Noto Sans SC" panose="020B0200000000000000" charset="-122"/>
                <a:cs typeface="Noto Sans SC" panose="020B0200000000000000" charset="-122"/>
                <a:sym typeface="Noto Sans SC" panose="020B0200000000000000" charset="-122"/>
              </a:rPr>
              <a:t>P.04-07</a:t>
            </a:r>
            <a:endParaRPr lang="en-US" sz="1100"/>
          </a:p>
        </p:txBody>
      </p:sp>
      <p:sp>
        <p:nvSpPr>
          <p:cNvPr id="11" name="AutoShape 11"/>
          <p:cNvSpPr/>
          <p:nvPr/>
        </p:nvSpPr>
        <p:spPr>
          <a:xfrm>
            <a:off x="812800" y="3429000"/>
            <a:ext cx="5207000" cy="1397000"/>
          </a:xfrm>
          <a:prstGeom prst="roundRect">
            <a:avLst>
              <a:gd name="adj" fmla="val 7272"/>
            </a:avLst>
          </a:prstGeom>
          <a:solidFill>
            <a:srgbClr val="FFFFFF">
              <a:alpha val="100000"/>
            </a:srgbClr>
          </a:solidFill>
          <a:ln w="25400" cap="flat" cmpd="sng">
            <a:noFill/>
            <a:prstDash val="solid"/>
            <a:round/>
          </a:ln>
          <a:effectLst>
            <a:outerShdw blurRad="203200" dist="50800" dir="2700000" algn="tl" rotWithShape="0">
              <a:srgbClr val="004D40">
                <a:alpha val="12000"/>
              </a:srgbClr>
            </a:outerShdw>
          </a:effectLst>
        </p:spPr>
        <p:txBody>
          <a:bodyPr vert="horz" wrap="square" lIns="63500" tIns="63500" rIns="63500" bIns="63500" rtlCol="0" anchor="ctr"/>
          <a:lstStyle/>
          <a:p>
            <a:pPr algn="ctr">
              <a:defRPr/>
            </a:pPr>
          </a:p>
        </p:txBody>
      </p:sp>
      <p:sp>
        <p:nvSpPr>
          <p:cNvPr id="12" name="AutoShape 12"/>
          <p:cNvSpPr/>
          <p:nvPr/>
        </p:nvSpPr>
        <p:spPr>
          <a:xfrm>
            <a:off x="1016000" y="3619500"/>
            <a:ext cx="889000" cy="1016000"/>
          </a:xfrm>
          <a:prstGeom prst="roundRect">
            <a:avLst>
              <a:gd name="adj" fmla="val 11428"/>
            </a:avLst>
          </a:prstGeom>
          <a:solidFill>
            <a:srgbClr val="004D40">
              <a:alpha val="100000"/>
            </a:srgbClr>
          </a:solidFill>
          <a:ln w="25400" cap="flat" cmpd="sng">
            <a:noFill/>
            <a:prstDash val="solid"/>
            <a:round/>
          </a:ln>
        </p:spPr>
        <p:txBody>
          <a:bodyPr vert="horz" wrap="square" lIns="63500" tIns="63500" rIns="63500" bIns="63500" rtlCol="0" anchor="ctr"/>
          <a:lstStyle/>
          <a:p>
            <a:pPr algn="ctr">
              <a:defRPr/>
            </a:pPr>
          </a:p>
        </p:txBody>
      </p:sp>
      <p:sp>
        <p:nvSpPr>
          <p:cNvPr id="13" name="AutoShape 13"/>
          <p:cNvSpPr/>
          <p:nvPr/>
        </p:nvSpPr>
        <p:spPr>
          <a:xfrm>
            <a:off x="1016000" y="3810000"/>
            <a:ext cx="889000" cy="635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3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02</a:t>
            </a:r>
            <a:endParaRPr lang="en-US" sz="1100"/>
          </a:p>
        </p:txBody>
      </p:sp>
      <p:sp>
        <p:nvSpPr>
          <p:cNvPr id="14" name="AutoShape 14"/>
          <p:cNvSpPr/>
          <p:nvPr/>
        </p:nvSpPr>
        <p:spPr>
          <a:xfrm>
            <a:off x="2159000" y="3619500"/>
            <a:ext cx="2540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a:solidFill>
                  <a:srgbClr val="004D40"/>
                </a:solidFill>
                <a:latin typeface="Noto Sans SC" panose="020B0200000000000000" charset="-122"/>
                <a:ea typeface="Noto Sans SC" panose="020B0200000000000000" charset="-122"/>
                <a:cs typeface="Noto Sans SC" panose="020B0200000000000000" charset="-122"/>
                <a:sym typeface="Noto Sans SC" panose="020B0200000000000000" charset="-122"/>
              </a:rPr>
              <a:t>问题分析与机遇</a:t>
            </a:r>
            <a:endParaRPr lang="en-US" sz="1100"/>
          </a:p>
        </p:txBody>
      </p:sp>
      <p:sp>
        <p:nvSpPr>
          <p:cNvPr id="15" name="AutoShape 15"/>
          <p:cNvSpPr/>
          <p:nvPr/>
        </p:nvSpPr>
        <p:spPr>
          <a:xfrm>
            <a:off x="2159000" y="4064000"/>
            <a:ext cx="2413000" cy="635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100" b="0" i="0" u="none" strike="noStrike">
                <a:solidFill>
                  <a:srgbClr val="6B6B6B"/>
                </a:solidFill>
                <a:latin typeface="Noto Sans SC" panose="020B0200000000000000" charset="-122"/>
                <a:ea typeface="Noto Sans SC" panose="020B0200000000000000" charset="-122"/>
                <a:cs typeface="Noto Sans SC" panose="020B0200000000000000" charset="-122"/>
                <a:sym typeface="Noto Sans SC" panose="020B0200000000000000" charset="-122"/>
              </a:rPr>
              <a:t>深入剖析原版C-LiteOS-M的核心痛点，并结合行业趋势分析项目面临的技术机遇。</a:t>
            </a:r>
            <a:endParaRPr lang="en-US" sz="1100"/>
          </a:p>
        </p:txBody>
      </p:sp>
      <p:sp>
        <p:nvSpPr>
          <p:cNvPr id="16" name="AutoShape 16"/>
          <p:cNvSpPr/>
          <p:nvPr/>
        </p:nvSpPr>
        <p:spPr>
          <a:xfrm>
            <a:off x="4826000" y="3619500"/>
            <a:ext cx="1016000" cy="1016000"/>
          </a:xfrm>
          <a:prstGeom prst="roundRect">
            <a:avLst>
              <a:gd name="adj" fmla="val 10000"/>
            </a:avLst>
          </a:prstGeom>
          <a:solidFill>
            <a:srgbClr val="B2DFDB">
              <a:alpha val="30000"/>
            </a:srgbClr>
          </a:solidFill>
          <a:ln w="25400" cap="flat" cmpd="sng">
            <a:noFill/>
            <a:prstDash val="solid"/>
            <a:round/>
          </a:ln>
        </p:spPr>
        <p:txBody>
          <a:bodyPr vert="horz" wrap="square" lIns="63500" tIns="63500" rIns="63500" bIns="63500" rtlCol="0" anchor="ctr"/>
          <a:lstStyle/>
          <a:p>
            <a:pPr algn="ctr">
              <a:defRPr/>
            </a:pPr>
          </a:p>
        </p:txBody>
      </p:sp>
      <p:sp>
        <p:nvSpPr>
          <p:cNvPr id="17" name="AutoShape 17"/>
          <p:cNvSpPr/>
          <p:nvPr/>
        </p:nvSpPr>
        <p:spPr>
          <a:xfrm>
            <a:off x="4826000" y="3937000"/>
            <a:ext cx="1016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200" b="1" i="0" u="none" strike="noStrike">
                <a:solidFill>
                  <a:srgbClr val="004D40"/>
                </a:solidFill>
                <a:latin typeface="Noto Sans SC" panose="020B0200000000000000" charset="-122"/>
                <a:ea typeface="Noto Sans SC" panose="020B0200000000000000" charset="-122"/>
                <a:cs typeface="Noto Sans SC" panose="020B0200000000000000" charset="-122"/>
                <a:sym typeface="Noto Sans SC" panose="020B0200000000000000" charset="-122"/>
              </a:rPr>
              <a:t>P.08-10</a:t>
            </a:r>
            <a:endParaRPr lang="en-US" sz="1100"/>
          </a:p>
        </p:txBody>
      </p:sp>
      <p:sp>
        <p:nvSpPr>
          <p:cNvPr id="18" name="AutoShape 18"/>
          <p:cNvSpPr/>
          <p:nvPr/>
        </p:nvSpPr>
        <p:spPr>
          <a:xfrm>
            <a:off x="812800" y="5080000"/>
            <a:ext cx="5207000" cy="1397000"/>
          </a:xfrm>
          <a:prstGeom prst="roundRect">
            <a:avLst>
              <a:gd name="adj" fmla="val 7272"/>
            </a:avLst>
          </a:prstGeom>
          <a:solidFill>
            <a:srgbClr val="FFFFFF">
              <a:alpha val="100000"/>
            </a:srgbClr>
          </a:solidFill>
          <a:ln w="25400" cap="flat" cmpd="sng">
            <a:noFill/>
            <a:prstDash val="solid"/>
            <a:round/>
          </a:ln>
          <a:effectLst>
            <a:outerShdw blurRad="203200" dist="50800" dir="2700000" algn="tl" rotWithShape="0">
              <a:srgbClr val="004D40">
                <a:alpha val="12000"/>
              </a:srgbClr>
            </a:outerShdw>
          </a:effectLst>
        </p:spPr>
        <p:txBody>
          <a:bodyPr vert="horz" wrap="square" lIns="63500" tIns="63500" rIns="63500" bIns="63500" rtlCol="0" anchor="ctr"/>
          <a:lstStyle/>
          <a:p>
            <a:pPr algn="ctr">
              <a:defRPr/>
            </a:pPr>
          </a:p>
        </p:txBody>
      </p:sp>
      <p:sp>
        <p:nvSpPr>
          <p:cNvPr id="19" name="AutoShape 19"/>
          <p:cNvSpPr/>
          <p:nvPr/>
        </p:nvSpPr>
        <p:spPr>
          <a:xfrm>
            <a:off x="1016000" y="5270500"/>
            <a:ext cx="889000" cy="1016000"/>
          </a:xfrm>
          <a:prstGeom prst="roundRect">
            <a:avLst>
              <a:gd name="adj" fmla="val 11428"/>
            </a:avLst>
          </a:prstGeom>
          <a:solidFill>
            <a:srgbClr val="004D40">
              <a:alpha val="100000"/>
            </a:srgbClr>
          </a:solidFill>
          <a:ln w="25400" cap="flat" cmpd="sng">
            <a:noFill/>
            <a:prstDash val="solid"/>
            <a:round/>
          </a:ln>
        </p:spPr>
        <p:txBody>
          <a:bodyPr vert="horz" wrap="square" lIns="63500" tIns="63500" rIns="63500" bIns="63500" rtlCol="0" anchor="ctr"/>
          <a:lstStyle/>
          <a:p>
            <a:pPr algn="ctr">
              <a:defRPr/>
            </a:pPr>
          </a:p>
        </p:txBody>
      </p:sp>
      <p:sp>
        <p:nvSpPr>
          <p:cNvPr id="20" name="AutoShape 20"/>
          <p:cNvSpPr/>
          <p:nvPr/>
        </p:nvSpPr>
        <p:spPr>
          <a:xfrm>
            <a:off x="1016000" y="5461000"/>
            <a:ext cx="889000" cy="635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3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03</a:t>
            </a:r>
            <a:endParaRPr lang="en-US" sz="1100"/>
          </a:p>
        </p:txBody>
      </p:sp>
      <p:sp>
        <p:nvSpPr>
          <p:cNvPr id="21" name="AutoShape 21"/>
          <p:cNvSpPr/>
          <p:nvPr/>
        </p:nvSpPr>
        <p:spPr>
          <a:xfrm>
            <a:off x="2159000" y="5270500"/>
            <a:ext cx="2540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a:solidFill>
                  <a:srgbClr val="004D40"/>
                </a:solidFill>
                <a:latin typeface="Noto Sans SC" panose="020B0200000000000000" charset="-122"/>
                <a:ea typeface="Noto Sans SC" panose="020B0200000000000000" charset="-122"/>
                <a:cs typeface="Noto Sans SC" panose="020B0200000000000000" charset="-122"/>
                <a:sym typeface="Noto Sans SC" panose="020B0200000000000000" charset="-122"/>
              </a:rPr>
              <a:t>已完成工作与成果</a:t>
            </a:r>
            <a:endParaRPr lang="en-US" sz="1100"/>
          </a:p>
        </p:txBody>
      </p:sp>
      <p:sp>
        <p:nvSpPr>
          <p:cNvPr id="22" name="AutoShape 22"/>
          <p:cNvSpPr/>
          <p:nvPr/>
        </p:nvSpPr>
        <p:spPr>
          <a:xfrm>
            <a:off x="2159000" y="5715000"/>
            <a:ext cx="2413000" cy="635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100" b="0" i="0" u="none" strike="noStrike">
                <a:solidFill>
                  <a:srgbClr val="6B6B6B"/>
                </a:solidFill>
                <a:latin typeface="Noto Sans SC" panose="020B0200000000000000" charset="-122"/>
                <a:ea typeface="Noto Sans SC" panose="020B0200000000000000" charset="-122"/>
                <a:cs typeface="Noto Sans SC" panose="020B0200000000000000" charset="-122"/>
                <a:sym typeface="Noto Sans SC" panose="020B0200000000000000" charset="-122"/>
              </a:rPr>
              <a:t>汇报项目启动以来的关键研究、可行性论证及当前核心功能的开发进度。</a:t>
            </a:r>
            <a:endParaRPr lang="en-US" sz="1100"/>
          </a:p>
        </p:txBody>
      </p:sp>
      <p:sp>
        <p:nvSpPr>
          <p:cNvPr id="23" name="AutoShape 23"/>
          <p:cNvSpPr/>
          <p:nvPr/>
        </p:nvSpPr>
        <p:spPr>
          <a:xfrm>
            <a:off x="4826000" y="5270500"/>
            <a:ext cx="1016000" cy="1016000"/>
          </a:xfrm>
          <a:prstGeom prst="roundRect">
            <a:avLst>
              <a:gd name="adj" fmla="val 10000"/>
            </a:avLst>
          </a:prstGeom>
          <a:solidFill>
            <a:srgbClr val="B2DFDB">
              <a:alpha val="30000"/>
            </a:srgbClr>
          </a:solidFill>
          <a:ln w="25400" cap="flat" cmpd="sng">
            <a:noFill/>
            <a:prstDash val="solid"/>
            <a:round/>
          </a:ln>
        </p:spPr>
        <p:txBody>
          <a:bodyPr vert="horz" wrap="square" lIns="63500" tIns="63500" rIns="63500" bIns="63500" rtlCol="0" anchor="ctr"/>
          <a:lstStyle/>
          <a:p>
            <a:pPr algn="ctr">
              <a:defRPr/>
            </a:pPr>
          </a:p>
        </p:txBody>
      </p:sp>
      <p:sp>
        <p:nvSpPr>
          <p:cNvPr id="24" name="AutoShape 24"/>
          <p:cNvSpPr/>
          <p:nvPr/>
        </p:nvSpPr>
        <p:spPr>
          <a:xfrm>
            <a:off x="4826000" y="5588000"/>
            <a:ext cx="1016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200" b="1" i="0" u="none" strike="noStrike">
                <a:solidFill>
                  <a:srgbClr val="004D40"/>
                </a:solidFill>
                <a:latin typeface="Noto Sans SC" panose="020B0200000000000000" charset="-122"/>
                <a:ea typeface="Noto Sans SC" panose="020B0200000000000000" charset="-122"/>
                <a:cs typeface="Noto Sans SC" panose="020B0200000000000000" charset="-122"/>
                <a:sym typeface="Noto Sans SC" panose="020B0200000000000000" charset="-122"/>
              </a:rPr>
              <a:t>P.11-14</a:t>
            </a:r>
            <a:endParaRPr lang="en-US" sz="1100"/>
          </a:p>
        </p:txBody>
      </p:sp>
      <p:sp>
        <p:nvSpPr>
          <p:cNvPr id="25" name="AutoShape 25"/>
          <p:cNvSpPr/>
          <p:nvPr/>
        </p:nvSpPr>
        <p:spPr>
          <a:xfrm>
            <a:off x="6223000" y="1778000"/>
            <a:ext cx="5207000" cy="1397000"/>
          </a:xfrm>
          <a:prstGeom prst="roundRect">
            <a:avLst>
              <a:gd name="adj" fmla="val 7272"/>
            </a:avLst>
          </a:prstGeom>
          <a:solidFill>
            <a:srgbClr val="FFFFFF">
              <a:alpha val="100000"/>
            </a:srgbClr>
          </a:solidFill>
          <a:ln w="25400" cap="flat" cmpd="sng">
            <a:noFill/>
            <a:prstDash val="solid"/>
            <a:round/>
          </a:ln>
          <a:effectLst>
            <a:outerShdw blurRad="203200" dist="50800" dir="2700000" algn="tl" rotWithShape="0">
              <a:srgbClr val="004D40">
                <a:alpha val="12000"/>
              </a:srgbClr>
            </a:outerShdw>
          </a:effectLst>
        </p:spPr>
        <p:txBody>
          <a:bodyPr vert="horz" wrap="square" lIns="63500" tIns="63500" rIns="63500" bIns="63500" rtlCol="0" anchor="ctr"/>
          <a:lstStyle/>
          <a:p>
            <a:pPr algn="ctr">
              <a:defRPr/>
            </a:pPr>
          </a:p>
        </p:txBody>
      </p:sp>
      <p:sp>
        <p:nvSpPr>
          <p:cNvPr id="26" name="AutoShape 26"/>
          <p:cNvSpPr/>
          <p:nvPr/>
        </p:nvSpPr>
        <p:spPr>
          <a:xfrm>
            <a:off x="6426200" y="1968500"/>
            <a:ext cx="889000" cy="1016000"/>
          </a:xfrm>
          <a:prstGeom prst="roundRect">
            <a:avLst>
              <a:gd name="adj" fmla="val 11428"/>
            </a:avLst>
          </a:prstGeom>
          <a:solidFill>
            <a:srgbClr val="004D40">
              <a:alpha val="100000"/>
            </a:srgbClr>
          </a:solidFill>
          <a:ln w="25400" cap="flat" cmpd="sng">
            <a:noFill/>
            <a:prstDash val="solid"/>
            <a:round/>
          </a:ln>
        </p:spPr>
        <p:txBody>
          <a:bodyPr vert="horz" wrap="square" lIns="63500" tIns="63500" rIns="63500" bIns="63500" rtlCol="0" anchor="ctr"/>
          <a:lstStyle/>
          <a:p>
            <a:pPr algn="ctr">
              <a:defRPr/>
            </a:pPr>
          </a:p>
        </p:txBody>
      </p:sp>
      <p:sp>
        <p:nvSpPr>
          <p:cNvPr id="27" name="AutoShape 27"/>
          <p:cNvSpPr/>
          <p:nvPr/>
        </p:nvSpPr>
        <p:spPr>
          <a:xfrm>
            <a:off x="6426200" y="2159000"/>
            <a:ext cx="889000" cy="635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3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04</a:t>
            </a:r>
            <a:endParaRPr lang="en-US" sz="1100"/>
          </a:p>
        </p:txBody>
      </p:sp>
      <p:sp>
        <p:nvSpPr>
          <p:cNvPr id="28" name="AutoShape 28"/>
          <p:cNvSpPr/>
          <p:nvPr/>
        </p:nvSpPr>
        <p:spPr>
          <a:xfrm>
            <a:off x="7569200" y="1968500"/>
            <a:ext cx="2540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a:solidFill>
                  <a:srgbClr val="004D40"/>
                </a:solidFill>
                <a:latin typeface="Noto Sans SC" panose="020B0200000000000000" charset="-122"/>
                <a:ea typeface="Noto Sans SC" panose="020B0200000000000000" charset="-122"/>
                <a:cs typeface="Noto Sans SC" panose="020B0200000000000000" charset="-122"/>
                <a:sym typeface="Noto Sans SC" panose="020B0200000000000000" charset="-122"/>
              </a:rPr>
              <a:t>技术方案与实施路径</a:t>
            </a:r>
            <a:endParaRPr lang="en-US" sz="1100"/>
          </a:p>
        </p:txBody>
      </p:sp>
      <p:sp>
        <p:nvSpPr>
          <p:cNvPr id="29" name="AutoShape 29"/>
          <p:cNvSpPr/>
          <p:nvPr/>
        </p:nvSpPr>
        <p:spPr>
          <a:xfrm>
            <a:off x="7569200" y="2413000"/>
            <a:ext cx="2413000" cy="635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100" b="0" i="0" u="none" strike="noStrike">
                <a:solidFill>
                  <a:srgbClr val="6B6B6B"/>
                </a:solidFill>
                <a:latin typeface="Noto Sans SC" panose="020B0200000000000000" charset="-122"/>
                <a:ea typeface="Noto Sans SC" panose="020B0200000000000000" charset="-122"/>
                <a:cs typeface="Noto Sans SC" panose="020B0200000000000000" charset="-122"/>
                <a:sym typeface="Noto Sans SC" panose="020B0200000000000000" charset="-122"/>
              </a:rPr>
              <a:t>详细介绍项目的技术路线、系统架构设计、模块优先级划分及具体的阶段实施计划。</a:t>
            </a:r>
            <a:endParaRPr lang="en-US" sz="1100"/>
          </a:p>
        </p:txBody>
      </p:sp>
      <p:sp>
        <p:nvSpPr>
          <p:cNvPr id="30" name="AutoShape 30"/>
          <p:cNvSpPr/>
          <p:nvPr/>
        </p:nvSpPr>
        <p:spPr>
          <a:xfrm>
            <a:off x="10236200" y="1968500"/>
            <a:ext cx="1016000" cy="1016000"/>
          </a:xfrm>
          <a:prstGeom prst="roundRect">
            <a:avLst>
              <a:gd name="adj" fmla="val 10000"/>
            </a:avLst>
          </a:prstGeom>
          <a:solidFill>
            <a:srgbClr val="B2DFDB">
              <a:alpha val="30000"/>
            </a:srgbClr>
          </a:solidFill>
          <a:ln w="25400" cap="flat" cmpd="sng">
            <a:noFill/>
            <a:prstDash val="solid"/>
            <a:round/>
          </a:ln>
        </p:spPr>
        <p:txBody>
          <a:bodyPr vert="horz" wrap="square" lIns="63500" tIns="63500" rIns="63500" bIns="63500" rtlCol="0" anchor="ctr"/>
          <a:lstStyle/>
          <a:p>
            <a:pPr algn="ctr">
              <a:defRPr/>
            </a:pPr>
          </a:p>
        </p:txBody>
      </p:sp>
      <p:sp>
        <p:nvSpPr>
          <p:cNvPr id="31" name="AutoShape 31"/>
          <p:cNvSpPr/>
          <p:nvPr/>
        </p:nvSpPr>
        <p:spPr>
          <a:xfrm>
            <a:off x="10236200" y="2286000"/>
            <a:ext cx="1016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200" b="1" i="0" u="none" strike="noStrike">
                <a:solidFill>
                  <a:srgbClr val="004D40"/>
                </a:solidFill>
                <a:latin typeface="Noto Sans SC" panose="020B0200000000000000" charset="-122"/>
                <a:ea typeface="Noto Sans SC" panose="020B0200000000000000" charset="-122"/>
                <a:cs typeface="Noto Sans SC" panose="020B0200000000000000" charset="-122"/>
                <a:sym typeface="Noto Sans SC" panose="020B0200000000000000" charset="-122"/>
              </a:rPr>
              <a:t>P.15-18</a:t>
            </a:r>
            <a:endParaRPr lang="en-US" sz="1100"/>
          </a:p>
        </p:txBody>
      </p:sp>
      <p:sp>
        <p:nvSpPr>
          <p:cNvPr id="32" name="AutoShape 32"/>
          <p:cNvSpPr/>
          <p:nvPr/>
        </p:nvSpPr>
        <p:spPr>
          <a:xfrm>
            <a:off x="6223000" y="3429000"/>
            <a:ext cx="5207000" cy="1397000"/>
          </a:xfrm>
          <a:prstGeom prst="roundRect">
            <a:avLst>
              <a:gd name="adj" fmla="val 7272"/>
            </a:avLst>
          </a:prstGeom>
          <a:solidFill>
            <a:srgbClr val="FFFFFF">
              <a:alpha val="100000"/>
            </a:srgbClr>
          </a:solidFill>
          <a:ln w="25400" cap="flat" cmpd="sng">
            <a:noFill/>
            <a:prstDash val="solid"/>
            <a:round/>
          </a:ln>
          <a:effectLst>
            <a:outerShdw blurRad="203200" dist="50800" dir="2700000" algn="tl" rotWithShape="0">
              <a:srgbClr val="004D40">
                <a:alpha val="12000"/>
              </a:srgbClr>
            </a:outerShdw>
          </a:effectLst>
        </p:spPr>
        <p:txBody>
          <a:bodyPr vert="horz" wrap="square" lIns="63500" tIns="63500" rIns="63500" bIns="63500" rtlCol="0" anchor="ctr"/>
          <a:lstStyle/>
          <a:p>
            <a:pPr algn="ctr">
              <a:defRPr/>
            </a:pPr>
          </a:p>
        </p:txBody>
      </p:sp>
      <p:sp>
        <p:nvSpPr>
          <p:cNvPr id="33" name="AutoShape 33"/>
          <p:cNvSpPr/>
          <p:nvPr/>
        </p:nvSpPr>
        <p:spPr>
          <a:xfrm>
            <a:off x="6426200" y="3619500"/>
            <a:ext cx="889000" cy="1016000"/>
          </a:xfrm>
          <a:prstGeom prst="roundRect">
            <a:avLst>
              <a:gd name="adj" fmla="val 11428"/>
            </a:avLst>
          </a:prstGeom>
          <a:solidFill>
            <a:srgbClr val="004D40">
              <a:alpha val="100000"/>
            </a:srgbClr>
          </a:solidFill>
          <a:ln w="25400" cap="flat" cmpd="sng">
            <a:noFill/>
            <a:prstDash val="solid"/>
            <a:round/>
          </a:ln>
        </p:spPr>
        <p:txBody>
          <a:bodyPr vert="horz" wrap="square" lIns="63500" tIns="63500" rIns="63500" bIns="63500" rtlCol="0" anchor="ctr"/>
          <a:lstStyle/>
          <a:p>
            <a:pPr algn="ctr">
              <a:defRPr/>
            </a:pPr>
          </a:p>
        </p:txBody>
      </p:sp>
      <p:sp>
        <p:nvSpPr>
          <p:cNvPr id="34" name="AutoShape 34"/>
          <p:cNvSpPr/>
          <p:nvPr/>
        </p:nvSpPr>
        <p:spPr>
          <a:xfrm>
            <a:off x="6426200" y="3810000"/>
            <a:ext cx="889000" cy="635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3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05</a:t>
            </a:r>
            <a:endParaRPr lang="en-US" sz="1100"/>
          </a:p>
        </p:txBody>
      </p:sp>
      <p:sp>
        <p:nvSpPr>
          <p:cNvPr id="35" name="AutoShape 35"/>
          <p:cNvSpPr/>
          <p:nvPr/>
        </p:nvSpPr>
        <p:spPr>
          <a:xfrm>
            <a:off x="7569200" y="3619500"/>
            <a:ext cx="2540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a:solidFill>
                  <a:srgbClr val="004D40"/>
                </a:solidFill>
                <a:latin typeface="Noto Sans SC" panose="020B0200000000000000" charset="-122"/>
                <a:ea typeface="Noto Sans SC" panose="020B0200000000000000" charset="-122"/>
                <a:cs typeface="Noto Sans SC" panose="020B0200000000000000" charset="-122"/>
                <a:sym typeface="Noto Sans SC" panose="020B0200000000000000" charset="-122"/>
              </a:rPr>
              <a:t>风险评估与未来展望</a:t>
            </a:r>
            <a:endParaRPr lang="en-US" sz="1100"/>
          </a:p>
        </p:txBody>
      </p:sp>
      <p:sp>
        <p:nvSpPr>
          <p:cNvPr id="36" name="AutoShape 36"/>
          <p:cNvSpPr/>
          <p:nvPr/>
        </p:nvSpPr>
        <p:spPr>
          <a:xfrm>
            <a:off x="7569200" y="4064000"/>
            <a:ext cx="2413000" cy="635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100" b="0" i="0" u="none" strike="noStrike">
                <a:solidFill>
                  <a:srgbClr val="6B6B6B"/>
                </a:solidFill>
                <a:latin typeface="Noto Sans SC" panose="020B0200000000000000" charset="-122"/>
                <a:ea typeface="Noto Sans SC" panose="020B0200000000000000" charset="-122"/>
                <a:cs typeface="Noto Sans SC" panose="020B0200000000000000" charset="-122"/>
                <a:sym typeface="Noto Sans SC" panose="020B0200000000000000" charset="-122"/>
              </a:rPr>
              <a:t>评估项目潜在的技术与管理风险并提出应对策略，总结项目价值并展望下一阶段工作。</a:t>
            </a:r>
            <a:endParaRPr lang="en-US" sz="1100"/>
          </a:p>
        </p:txBody>
      </p:sp>
      <p:sp>
        <p:nvSpPr>
          <p:cNvPr id="37" name="AutoShape 37"/>
          <p:cNvSpPr/>
          <p:nvPr/>
        </p:nvSpPr>
        <p:spPr>
          <a:xfrm>
            <a:off x="10236200" y="3619500"/>
            <a:ext cx="1016000" cy="1016000"/>
          </a:xfrm>
          <a:prstGeom prst="roundRect">
            <a:avLst>
              <a:gd name="adj" fmla="val 10000"/>
            </a:avLst>
          </a:prstGeom>
          <a:solidFill>
            <a:srgbClr val="B2DFDB">
              <a:alpha val="30000"/>
            </a:srgbClr>
          </a:solidFill>
          <a:ln w="25400" cap="flat" cmpd="sng">
            <a:noFill/>
            <a:prstDash val="solid"/>
            <a:round/>
          </a:ln>
        </p:spPr>
        <p:txBody>
          <a:bodyPr vert="horz" wrap="square" lIns="63500" tIns="63500" rIns="63500" bIns="63500" rtlCol="0" anchor="ctr"/>
          <a:lstStyle/>
          <a:p>
            <a:pPr algn="ctr">
              <a:defRPr/>
            </a:pPr>
          </a:p>
        </p:txBody>
      </p:sp>
      <p:sp>
        <p:nvSpPr>
          <p:cNvPr id="38" name="AutoShape 38"/>
          <p:cNvSpPr/>
          <p:nvPr/>
        </p:nvSpPr>
        <p:spPr>
          <a:xfrm>
            <a:off x="10236200" y="3937000"/>
            <a:ext cx="1016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200" b="1" i="0" u="none" strike="noStrike">
                <a:solidFill>
                  <a:srgbClr val="004D40"/>
                </a:solidFill>
                <a:latin typeface="Noto Sans SC" panose="020B0200000000000000" charset="-122"/>
                <a:ea typeface="Noto Sans SC" panose="020B0200000000000000" charset="-122"/>
                <a:cs typeface="Noto Sans SC" panose="020B0200000000000000" charset="-122"/>
                <a:sym typeface="Noto Sans SC" panose="020B0200000000000000" charset="-122"/>
              </a:rPr>
              <a:t>P.19-22</a:t>
            </a:r>
            <a:endParaRPr lang="en-US" sz="11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AF8F5">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2286000"/>
            <a:ext cx="12192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400" b="0" i="0" u="none" strike="noStrike">
                <a:solidFill>
                  <a:srgbClr val="6B6B6B"/>
                </a:solidFill>
                <a:latin typeface="Noto Sans SC" panose="020B0200000000000000" charset="-122"/>
                <a:ea typeface="Noto Sans SC" panose="020B0200000000000000" charset="-122"/>
                <a:cs typeface="Noto Sans SC" panose="020B0200000000000000" charset="-122"/>
                <a:sym typeface="Noto Sans SC" panose="020B0200000000000000" charset="-122"/>
              </a:rPr>
              <a:t>01</a:t>
            </a:r>
            <a:endParaRPr lang="en-US" sz="1100"/>
          </a:p>
        </p:txBody>
      </p:sp>
      <p:sp>
        <p:nvSpPr>
          <p:cNvPr id="3" name="AutoShape 3"/>
          <p:cNvSpPr/>
          <p:nvPr/>
        </p:nvSpPr>
        <p:spPr>
          <a:xfrm>
            <a:off x="0" y="3048000"/>
            <a:ext cx="12192000" cy="889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4800" b="1" i="0" u="none" strike="noStrike">
                <a:solidFill>
                  <a:srgbClr val="1A1A1A"/>
                </a:solidFill>
                <a:latin typeface="Noto Sans SC" panose="020B0200000000000000" charset="-122"/>
                <a:ea typeface="Noto Sans SC" panose="020B0200000000000000" charset="-122"/>
                <a:cs typeface="Noto Sans SC" panose="020B0200000000000000" charset="-122"/>
                <a:sym typeface="Noto Sans SC" panose="020B0200000000000000" charset="-122"/>
              </a:rPr>
              <a:t>项目概览与背景</a:t>
            </a:r>
            <a:endParaRPr lang="en-US" sz="1100"/>
          </a:p>
        </p:txBody>
      </p:sp>
      <p:sp>
        <p:nvSpPr>
          <p:cNvPr id="4" name="AutoShape 4"/>
          <p:cNvSpPr/>
          <p:nvPr/>
        </p:nvSpPr>
        <p:spPr>
          <a:xfrm>
            <a:off x="5588000" y="4191000"/>
            <a:ext cx="1016000" cy="50800"/>
          </a:xfrm>
          <a:prstGeom prst="roundRect">
            <a:avLst>
              <a:gd name="adj" fmla="val 0"/>
            </a:avLst>
          </a:prstGeom>
          <a:solidFill>
            <a:srgbClr val="004D40">
              <a:alpha val="100000"/>
            </a:srgbClr>
          </a:solidFill>
          <a:ln w="25400" cap="flat" cmpd="sng">
            <a:noFill/>
            <a:prstDash val="solid"/>
            <a:round/>
          </a:ln>
        </p:spPr>
        <p:txBody>
          <a:bodyPr vert="horz" wrap="square" lIns="63500" tIns="63500" rIns="63500" bIns="63500" rtlCol="0" anchor="ctr"/>
          <a:lstStyle/>
          <a:p>
            <a:pPr algn="ctr">
              <a:defRPr/>
            </a:p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AF8F5">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812800" y="558800"/>
            <a:ext cx="105664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1A1A1A"/>
                </a:solidFill>
                <a:latin typeface="Noto Sans SC" panose="020B0200000000000000" charset="-122"/>
                <a:ea typeface="Noto Sans SC" panose="020B0200000000000000" charset="-122"/>
                <a:cs typeface="Noto Sans SC" panose="020B0200000000000000" charset="-122"/>
                <a:sym typeface="Noto Sans SC" panose="020B0200000000000000" charset="-122"/>
              </a:rPr>
              <a:t>物联网安全需求升级，传统C语言内核面临系统性风险</a:t>
            </a:r>
            <a:endParaRPr lang="en-US" sz="1100"/>
          </a:p>
        </p:txBody>
      </p:sp>
      <p:sp>
        <p:nvSpPr>
          <p:cNvPr id="3" name="AutoShape 3"/>
          <p:cNvSpPr/>
          <p:nvPr/>
        </p:nvSpPr>
        <p:spPr>
          <a:xfrm>
            <a:off x="812800" y="1524000"/>
            <a:ext cx="3302000" cy="4699000"/>
          </a:xfrm>
          <a:prstGeom prst="roundRect">
            <a:avLst>
              <a:gd name="adj" fmla="val 3076"/>
            </a:avLst>
          </a:prstGeom>
          <a:solidFill>
            <a:srgbClr val="FFFFFF">
              <a:alpha val="100000"/>
            </a:srgbClr>
          </a:solidFill>
          <a:ln w="25400" cap="flat" cmpd="sng">
            <a:noFill/>
            <a:prstDash val="solid"/>
            <a:round/>
          </a:ln>
          <a:effectLst>
            <a:outerShdw blurRad="203200" dist="50800" dir="5400000" algn="tl" rotWithShape="0">
              <a:srgbClr val="000000">
                <a:alpha val="8000"/>
              </a:srgbClr>
            </a:outerShdw>
          </a:effectLst>
        </p:spPr>
        <p:txBody>
          <a:bodyPr vert="horz" wrap="square" lIns="63500" tIns="63500" rIns="63500" bIns="63500" rtlCol="0" anchor="ctr"/>
          <a:lstStyle/>
          <a:p>
            <a:pPr algn="ctr">
              <a:defRPr/>
            </a:pPr>
          </a:p>
        </p:txBody>
      </p:sp>
      <p:sp>
        <p:nvSpPr>
          <p:cNvPr id="4" name="AutoShape 4"/>
          <p:cNvSpPr/>
          <p:nvPr/>
        </p:nvSpPr>
        <p:spPr>
          <a:xfrm>
            <a:off x="812800" y="1524000"/>
            <a:ext cx="3302000" cy="76200"/>
          </a:xfrm>
          <a:prstGeom prst="roundRect">
            <a:avLst>
              <a:gd name="adj" fmla="val 0"/>
            </a:avLst>
          </a:prstGeom>
          <a:solidFill>
            <a:srgbClr val="004D40">
              <a:alpha val="100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1066800" y="1905000"/>
            <a:ext cx="609600" cy="609600"/>
          </a:xfrm>
          <a:prstGeom prst="ellipse">
            <a:avLst/>
          </a:prstGeom>
          <a:solidFill>
            <a:srgbClr val="B2DFDB">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6" name="Picture 6"/>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219200" y="2057400"/>
            <a:ext cx="304800" cy="304800"/>
          </a:xfrm>
          <a:prstGeom prst="rect">
            <a:avLst/>
          </a:prstGeom>
        </p:spPr>
      </p:pic>
      <p:sp>
        <p:nvSpPr>
          <p:cNvPr id="7" name="AutoShape 7"/>
          <p:cNvSpPr/>
          <p:nvPr/>
        </p:nvSpPr>
        <p:spPr>
          <a:xfrm>
            <a:off x="1828800" y="1981200"/>
            <a:ext cx="2032000" cy="457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4D40"/>
                </a:solidFill>
                <a:latin typeface="Noto Sans SC" panose="020B0200000000000000" charset="-122"/>
                <a:ea typeface="Noto Sans SC" panose="020B0200000000000000" charset="-122"/>
                <a:cs typeface="Noto Sans SC" panose="020B0200000000000000" charset="-122"/>
                <a:sym typeface="Noto Sans SC" panose="020B0200000000000000" charset="-122"/>
              </a:rPr>
              <a:t>时代需求</a:t>
            </a:r>
            <a:endParaRPr lang="en-US" sz="1100"/>
          </a:p>
        </p:txBody>
      </p:sp>
      <p:sp>
        <p:nvSpPr>
          <p:cNvPr id="8" name="AutoShape 8"/>
          <p:cNvSpPr/>
          <p:nvPr/>
        </p:nvSpPr>
        <p:spPr>
          <a:xfrm>
            <a:off x="1066800" y="2730500"/>
            <a:ext cx="2794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1A1A1A"/>
                </a:solidFill>
                <a:latin typeface="Noto Sans SC" panose="020B0200000000000000" charset="-122"/>
                <a:ea typeface="Noto Sans SC" panose="020B0200000000000000" charset="-122"/>
                <a:cs typeface="Noto Sans SC" panose="020B0200000000000000" charset="-122"/>
                <a:sym typeface="Noto Sans SC" panose="020B0200000000000000" charset="-122"/>
              </a:rPr>
              <a:t>从“能运行”到“可长期安全运行”</a:t>
            </a:r>
            <a:endParaRPr lang="en-US" sz="1100"/>
          </a:p>
        </p:txBody>
      </p:sp>
      <p:cxnSp>
        <p:nvCxnSpPr>
          <p:cNvPr id="9" name="Connector 9"/>
          <p:cNvCxnSpPr/>
          <p:nvPr/>
        </p:nvCxnSpPr>
        <p:spPr>
          <a:xfrm rot="-15626">
            <a:off x="1066814" y="3422650"/>
            <a:ext cx="2794000" cy="12700"/>
          </a:xfrm>
          <a:prstGeom prst="straightConnector1">
            <a:avLst/>
          </a:prstGeom>
          <a:solidFill>
            <a:srgbClr val="DEE0E3">
              <a:alpha val="100000"/>
            </a:srgbClr>
          </a:solidFill>
          <a:ln w="12700" cap="flat" cmpd="sng">
            <a:solidFill>
              <a:srgbClr val="E6E6E6">
                <a:alpha val="100000"/>
              </a:srgbClr>
            </a:solidFill>
            <a:prstDash val="solid"/>
            <a:round/>
            <a:headEnd type="none" w="med" len="med"/>
            <a:tailEnd type="none" w="med" len="med"/>
          </a:ln>
        </p:spPr>
      </p:cxnSp>
      <p:sp>
        <p:nvSpPr>
          <p:cNvPr id="10" name="AutoShape 10"/>
          <p:cNvSpPr/>
          <p:nvPr/>
        </p:nvSpPr>
        <p:spPr>
          <a:xfrm>
            <a:off x="1066800" y="3683000"/>
            <a:ext cx="2794000" cy="11430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100" b="0" i="0" u="none" strike="noStrike">
                <a:solidFill>
                  <a:srgbClr val="6B6B6B"/>
                </a:solidFill>
                <a:latin typeface="Noto Sans SC" panose="020B0200000000000000" charset="-122"/>
                <a:ea typeface="Noto Sans SC" panose="020B0200000000000000" charset="-122"/>
                <a:cs typeface="Noto Sans SC" panose="020B0200000000000000" charset="-122"/>
                <a:sym typeface="Noto Sans SC" panose="020B0200000000000000" charset="-122"/>
              </a:rPr>
              <a:t>IoT设备已演变为关键基础设施，其安全性关乎隐私与国家安全。欧盟《网络弹性法案》强制要求全生命周期安全责任，标志行业进入合规驱动的强制安全时代。</a:t>
            </a:r>
            <a:endParaRPr lang="en-US" sz="1100"/>
          </a:p>
        </p:txBody>
      </p:sp>
      <p:sp>
        <p:nvSpPr>
          <p:cNvPr id="11" name="AutoShape 11"/>
          <p:cNvSpPr/>
          <p:nvPr/>
        </p:nvSpPr>
        <p:spPr>
          <a:xfrm>
            <a:off x="1066800" y="5016500"/>
            <a:ext cx="2794000" cy="762000"/>
          </a:xfrm>
          <a:prstGeom prst="roundRect">
            <a:avLst>
              <a:gd name="adj" fmla="val 10000"/>
            </a:avLst>
          </a:prstGeom>
          <a:solidFill>
            <a:srgbClr val="B2DFDB">
              <a:alpha val="30000"/>
            </a:srgbClr>
          </a:solidFill>
          <a:ln w="25400" cap="flat" cmpd="sng">
            <a:noFill/>
            <a:prstDash val="solid"/>
            <a:round/>
          </a:ln>
        </p:spPr>
        <p:txBody>
          <a:bodyPr vert="horz" wrap="square" lIns="63500" tIns="63500" rIns="63500" bIns="63500" rtlCol="0" anchor="ctr"/>
          <a:lstStyle/>
          <a:p>
            <a:pPr algn="ctr">
              <a:defRPr/>
            </a:pPr>
          </a:p>
        </p:txBody>
      </p:sp>
      <p:sp>
        <p:nvSpPr>
          <p:cNvPr id="12" name="AutoShape 12"/>
          <p:cNvSpPr/>
          <p:nvPr/>
        </p:nvSpPr>
        <p:spPr>
          <a:xfrm>
            <a:off x="1193800" y="5143500"/>
            <a:ext cx="2540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100" b="1" i="0" u="none" strike="noStrike">
                <a:solidFill>
                  <a:srgbClr val="004D40"/>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核心洞察：合规性已成为IoT设备进入市场的硬性准入门槛。</a:t>
            </a:r>
            <a:endParaRPr lang="en-US" sz="1100"/>
          </a:p>
        </p:txBody>
      </p:sp>
      <p:sp>
        <p:nvSpPr>
          <p:cNvPr id="13" name="AutoShape 13"/>
          <p:cNvSpPr/>
          <p:nvPr/>
        </p:nvSpPr>
        <p:spPr>
          <a:xfrm>
            <a:off x="4445000" y="1524000"/>
            <a:ext cx="3302000" cy="4699000"/>
          </a:xfrm>
          <a:prstGeom prst="roundRect">
            <a:avLst>
              <a:gd name="adj" fmla="val 3076"/>
            </a:avLst>
          </a:prstGeom>
          <a:solidFill>
            <a:srgbClr val="FFFFFF">
              <a:alpha val="100000"/>
            </a:srgbClr>
          </a:solidFill>
          <a:ln w="25400" cap="flat" cmpd="sng">
            <a:noFill/>
            <a:prstDash val="solid"/>
            <a:round/>
          </a:ln>
          <a:effectLst>
            <a:outerShdw blurRad="203200" dist="50800" dir="5400000" algn="tl" rotWithShape="0">
              <a:srgbClr val="000000">
                <a:alpha val="8000"/>
              </a:srgbClr>
            </a:outerShdw>
          </a:effectLst>
        </p:spPr>
        <p:txBody>
          <a:bodyPr vert="horz" wrap="square" lIns="63500" tIns="63500" rIns="63500" bIns="63500" rtlCol="0" anchor="ctr"/>
          <a:lstStyle/>
          <a:p>
            <a:pPr algn="ctr">
              <a:defRPr/>
            </a:pPr>
          </a:p>
        </p:txBody>
      </p:sp>
      <p:sp>
        <p:nvSpPr>
          <p:cNvPr id="14" name="AutoShape 14"/>
          <p:cNvSpPr/>
          <p:nvPr/>
        </p:nvSpPr>
        <p:spPr>
          <a:xfrm>
            <a:off x="4445000" y="1524000"/>
            <a:ext cx="3302000" cy="76200"/>
          </a:xfrm>
          <a:prstGeom prst="roundRect">
            <a:avLst>
              <a:gd name="adj" fmla="val 0"/>
            </a:avLst>
          </a:prstGeom>
          <a:solidFill>
            <a:srgbClr val="004D40">
              <a:alpha val="100000"/>
            </a:srgbClr>
          </a:solidFill>
          <a:ln w="25400" cap="flat" cmpd="sng">
            <a:noFill/>
            <a:prstDash val="solid"/>
            <a:round/>
          </a:ln>
        </p:spPr>
        <p:txBody>
          <a:bodyPr vert="horz" wrap="square" lIns="63500" tIns="63500" rIns="63500" bIns="63500" rtlCol="0" anchor="ctr"/>
          <a:lstStyle/>
          <a:p>
            <a:pPr algn="ctr">
              <a:defRPr/>
            </a:pPr>
          </a:p>
        </p:txBody>
      </p:sp>
      <p:sp>
        <p:nvSpPr>
          <p:cNvPr id="15" name="AutoShape 15"/>
          <p:cNvSpPr/>
          <p:nvPr/>
        </p:nvSpPr>
        <p:spPr>
          <a:xfrm>
            <a:off x="4699000" y="1905000"/>
            <a:ext cx="609600" cy="609600"/>
          </a:xfrm>
          <a:prstGeom prst="ellipse">
            <a:avLst/>
          </a:prstGeom>
          <a:solidFill>
            <a:srgbClr val="B2DFDB">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6" name="Picture 16"/>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851400" y="2057400"/>
            <a:ext cx="304800" cy="304800"/>
          </a:xfrm>
          <a:prstGeom prst="rect">
            <a:avLst/>
          </a:prstGeom>
        </p:spPr>
      </p:pic>
      <p:sp>
        <p:nvSpPr>
          <p:cNvPr id="17" name="AutoShape 17"/>
          <p:cNvSpPr/>
          <p:nvPr/>
        </p:nvSpPr>
        <p:spPr>
          <a:xfrm>
            <a:off x="5461000" y="1981200"/>
            <a:ext cx="2032000" cy="457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4D40"/>
                </a:solidFill>
                <a:latin typeface="Noto Sans SC" panose="020B0200000000000000" charset="-122"/>
                <a:ea typeface="Noto Sans SC" panose="020B0200000000000000" charset="-122"/>
                <a:cs typeface="Noto Sans SC" panose="020B0200000000000000" charset="-122"/>
                <a:sym typeface="Noto Sans SC" panose="020B0200000000000000" charset="-122"/>
              </a:rPr>
              <a:t>C语言局限</a:t>
            </a:r>
            <a:endParaRPr lang="en-US" sz="1100"/>
          </a:p>
        </p:txBody>
      </p:sp>
      <p:sp>
        <p:nvSpPr>
          <p:cNvPr id="18" name="AutoShape 18"/>
          <p:cNvSpPr/>
          <p:nvPr/>
        </p:nvSpPr>
        <p:spPr>
          <a:xfrm>
            <a:off x="4699000" y="2730500"/>
            <a:ext cx="2794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1A1A1A"/>
                </a:solidFill>
                <a:latin typeface="Noto Sans SC" panose="020B0200000000000000" charset="-122"/>
                <a:ea typeface="Noto Sans SC" panose="020B0200000000000000" charset="-122"/>
                <a:cs typeface="Noto Sans SC" panose="020B0200000000000000" charset="-122"/>
                <a:sym typeface="Noto Sans SC" panose="020B0200000000000000" charset="-122"/>
              </a:rPr>
              <a:t>约70%的系统漏洞源于内存管理问题</a:t>
            </a:r>
            <a:endParaRPr lang="en-US" sz="1100"/>
          </a:p>
        </p:txBody>
      </p:sp>
      <p:cxnSp>
        <p:nvCxnSpPr>
          <p:cNvPr id="19" name="Connector 19"/>
          <p:cNvCxnSpPr/>
          <p:nvPr/>
        </p:nvCxnSpPr>
        <p:spPr>
          <a:xfrm rot="-15626">
            <a:off x="4699014" y="3422650"/>
            <a:ext cx="2794000" cy="12700"/>
          </a:xfrm>
          <a:prstGeom prst="straightConnector1">
            <a:avLst/>
          </a:prstGeom>
          <a:solidFill>
            <a:srgbClr val="DEE0E3">
              <a:alpha val="100000"/>
            </a:srgbClr>
          </a:solidFill>
          <a:ln w="12700" cap="flat" cmpd="sng">
            <a:solidFill>
              <a:srgbClr val="E6E6E6">
                <a:alpha val="100000"/>
              </a:srgbClr>
            </a:solidFill>
            <a:prstDash val="solid"/>
            <a:round/>
            <a:headEnd type="none" w="med" len="med"/>
            <a:tailEnd type="none" w="med" len="med"/>
          </a:ln>
        </p:spPr>
      </p:cxnSp>
      <p:sp>
        <p:nvSpPr>
          <p:cNvPr id="20" name="AutoShape 20"/>
          <p:cNvSpPr/>
          <p:nvPr/>
        </p:nvSpPr>
        <p:spPr>
          <a:xfrm>
            <a:off x="4699000" y="3683000"/>
            <a:ext cx="2794000" cy="11430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100" b="0" i="0" u="none" strike="noStrike">
                <a:solidFill>
                  <a:srgbClr val="6B6B6B"/>
                </a:solidFill>
                <a:latin typeface="Noto Sans SC" panose="020B0200000000000000" charset="-122"/>
                <a:ea typeface="Noto Sans SC" panose="020B0200000000000000" charset="-122"/>
                <a:cs typeface="Noto Sans SC" panose="020B0200000000000000" charset="-122"/>
                <a:sym typeface="Noto Sans SC" panose="020B0200000000000000" charset="-122"/>
              </a:rPr>
              <a:t>“信任程序员”的设计哲学在复杂并发场景下失效。微软数据显示约70%漏洞与内存相关。嵌入式设备缺乏运行时检测机制，导致此类问题难以被早期发现与修复。</a:t>
            </a:r>
            <a:endParaRPr lang="en-US" sz="1100"/>
          </a:p>
        </p:txBody>
      </p:sp>
      <p:sp>
        <p:nvSpPr>
          <p:cNvPr id="21" name="AutoShape 21"/>
          <p:cNvSpPr/>
          <p:nvPr/>
        </p:nvSpPr>
        <p:spPr>
          <a:xfrm>
            <a:off x="4699000" y="5016500"/>
            <a:ext cx="2794000" cy="762000"/>
          </a:xfrm>
          <a:prstGeom prst="roundRect">
            <a:avLst>
              <a:gd name="adj" fmla="val 10000"/>
            </a:avLst>
          </a:prstGeom>
          <a:solidFill>
            <a:srgbClr val="B2DFDB">
              <a:alpha val="30000"/>
            </a:srgbClr>
          </a:solidFill>
          <a:ln w="25400" cap="flat" cmpd="sng">
            <a:noFill/>
            <a:prstDash val="solid"/>
            <a:round/>
          </a:ln>
        </p:spPr>
        <p:txBody>
          <a:bodyPr vert="horz" wrap="square" lIns="63500" tIns="63500" rIns="63500" bIns="63500" rtlCol="0" anchor="ctr"/>
          <a:lstStyle/>
          <a:p>
            <a:pPr algn="ctr">
              <a:defRPr/>
            </a:pPr>
          </a:p>
        </p:txBody>
      </p:sp>
      <p:sp>
        <p:nvSpPr>
          <p:cNvPr id="22" name="AutoShape 22"/>
          <p:cNvSpPr/>
          <p:nvPr/>
        </p:nvSpPr>
        <p:spPr>
          <a:xfrm>
            <a:off x="4826000" y="5143500"/>
            <a:ext cx="2540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100" b="1" i="0" u="none" strike="noStrike">
                <a:solidFill>
                  <a:srgbClr val="004D40"/>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核心洞察：传统内存管理模式已成为现代系统安全的最大短板。</a:t>
            </a:r>
            <a:endParaRPr lang="en-US" sz="1100"/>
          </a:p>
        </p:txBody>
      </p:sp>
      <p:sp>
        <p:nvSpPr>
          <p:cNvPr id="23" name="AutoShape 23"/>
          <p:cNvSpPr/>
          <p:nvPr/>
        </p:nvSpPr>
        <p:spPr>
          <a:xfrm>
            <a:off x="8077200" y="1524000"/>
            <a:ext cx="3302000" cy="4699000"/>
          </a:xfrm>
          <a:prstGeom prst="roundRect">
            <a:avLst>
              <a:gd name="adj" fmla="val 3076"/>
            </a:avLst>
          </a:prstGeom>
          <a:solidFill>
            <a:srgbClr val="FFFFFF">
              <a:alpha val="100000"/>
            </a:srgbClr>
          </a:solidFill>
          <a:ln w="25400" cap="flat" cmpd="sng">
            <a:noFill/>
            <a:prstDash val="solid"/>
            <a:round/>
          </a:ln>
          <a:effectLst>
            <a:outerShdw blurRad="203200" dist="50800" dir="5400000" algn="tl" rotWithShape="0">
              <a:srgbClr val="000000">
                <a:alpha val="8000"/>
              </a:srgbClr>
            </a:outerShdw>
          </a:effectLst>
        </p:spPr>
        <p:txBody>
          <a:bodyPr vert="horz" wrap="square" lIns="63500" tIns="63500" rIns="63500" bIns="63500" rtlCol="0" anchor="ctr"/>
          <a:lstStyle/>
          <a:p>
            <a:pPr algn="ctr">
              <a:defRPr/>
            </a:pPr>
          </a:p>
        </p:txBody>
      </p:sp>
      <p:sp>
        <p:nvSpPr>
          <p:cNvPr id="24" name="AutoShape 24"/>
          <p:cNvSpPr/>
          <p:nvPr/>
        </p:nvSpPr>
        <p:spPr>
          <a:xfrm>
            <a:off x="8077200" y="1524000"/>
            <a:ext cx="3302000" cy="76200"/>
          </a:xfrm>
          <a:prstGeom prst="roundRect">
            <a:avLst>
              <a:gd name="adj" fmla="val 0"/>
            </a:avLst>
          </a:prstGeom>
          <a:solidFill>
            <a:srgbClr val="004D40">
              <a:alpha val="100000"/>
            </a:srgbClr>
          </a:solidFill>
          <a:ln w="25400" cap="flat" cmpd="sng">
            <a:noFill/>
            <a:prstDash val="solid"/>
            <a:round/>
          </a:ln>
        </p:spPr>
        <p:txBody>
          <a:bodyPr vert="horz" wrap="square" lIns="63500" tIns="63500" rIns="63500" bIns="63500" rtlCol="0" anchor="ctr"/>
          <a:lstStyle/>
          <a:p>
            <a:pPr algn="ctr">
              <a:defRPr/>
            </a:pPr>
          </a:p>
        </p:txBody>
      </p:sp>
      <p:sp>
        <p:nvSpPr>
          <p:cNvPr id="25" name="AutoShape 25"/>
          <p:cNvSpPr/>
          <p:nvPr/>
        </p:nvSpPr>
        <p:spPr>
          <a:xfrm>
            <a:off x="8331200" y="1905000"/>
            <a:ext cx="609600" cy="609600"/>
          </a:xfrm>
          <a:prstGeom prst="ellipse">
            <a:avLst/>
          </a:prstGeom>
          <a:solidFill>
            <a:srgbClr val="B2DFDB">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26" name="Picture 26"/>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483600" y="2057400"/>
            <a:ext cx="304800" cy="304800"/>
          </a:xfrm>
          <a:prstGeom prst="rect">
            <a:avLst/>
          </a:prstGeom>
        </p:spPr>
      </p:pic>
      <p:sp>
        <p:nvSpPr>
          <p:cNvPr id="27" name="AutoShape 27"/>
          <p:cNvSpPr/>
          <p:nvPr/>
        </p:nvSpPr>
        <p:spPr>
          <a:xfrm>
            <a:off x="9093200" y="1981200"/>
            <a:ext cx="2032000" cy="457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4D40"/>
                </a:solidFill>
                <a:latin typeface="Noto Sans SC" panose="020B0200000000000000" charset="-122"/>
                <a:ea typeface="Noto Sans SC" panose="020B0200000000000000" charset="-122"/>
                <a:cs typeface="Noto Sans SC" panose="020B0200000000000000" charset="-122"/>
                <a:sym typeface="Noto Sans SC" panose="020B0200000000000000" charset="-122"/>
              </a:rPr>
              <a:t>技术趋势</a:t>
            </a:r>
            <a:endParaRPr lang="en-US" sz="1100"/>
          </a:p>
        </p:txBody>
      </p:sp>
      <p:sp>
        <p:nvSpPr>
          <p:cNvPr id="28" name="AutoShape 28"/>
          <p:cNvSpPr/>
          <p:nvPr/>
        </p:nvSpPr>
        <p:spPr>
          <a:xfrm>
            <a:off x="8331200" y="2730500"/>
            <a:ext cx="2794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1A1A1A"/>
                </a:solidFill>
                <a:latin typeface="Noto Sans SC" panose="020B0200000000000000" charset="-122"/>
                <a:ea typeface="Noto Sans SC" panose="020B0200000000000000" charset="-122"/>
                <a:cs typeface="Noto Sans SC" panose="020B0200000000000000" charset="-122"/>
                <a:sym typeface="Noto Sans SC" panose="020B0200000000000000" charset="-122"/>
              </a:rPr>
              <a:t>内存安全语言 + AI Agent 重塑内核</a:t>
            </a:r>
            <a:endParaRPr lang="en-US" sz="1100"/>
          </a:p>
        </p:txBody>
      </p:sp>
      <p:cxnSp>
        <p:nvCxnSpPr>
          <p:cNvPr id="29" name="Connector 29"/>
          <p:cNvCxnSpPr/>
          <p:nvPr/>
        </p:nvCxnSpPr>
        <p:spPr>
          <a:xfrm rot="-15626">
            <a:off x="8331214" y="3422650"/>
            <a:ext cx="2794000" cy="12700"/>
          </a:xfrm>
          <a:prstGeom prst="straightConnector1">
            <a:avLst/>
          </a:prstGeom>
          <a:solidFill>
            <a:srgbClr val="DEE0E3">
              <a:alpha val="100000"/>
            </a:srgbClr>
          </a:solidFill>
          <a:ln w="12700" cap="flat" cmpd="sng">
            <a:solidFill>
              <a:srgbClr val="E6E6E6">
                <a:alpha val="100000"/>
              </a:srgbClr>
            </a:solidFill>
            <a:prstDash val="solid"/>
            <a:round/>
            <a:headEnd type="none" w="med" len="med"/>
            <a:tailEnd type="none" w="med" len="med"/>
          </a:ln>
        </p:spPr>
      </p:cxnSp>
      <p:sp>
        <p:nvSpPr>
          <p:cNvPr id="30" name="AutoShape 30"/>
          <p:cNvSpPr/>
          <p:nvPr/>
        </p:nvSpPr>
        <p:spPr>
          <a:xfrm>
            <a:off x="8331200" y="3683000"/>
            <a:ext cx="2794000" cy="11430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100" b="0" i="0" u="none" strike="noStrike">
                <a:solidFill>
                  <a:srgbClr val="6B6B6B"/>
                </a:solidFill>
                <a:latin typeface="Noto Sans SC" panose="020B0200000000000000" charset="-122"/>
                <a:ea typeface="Noto Sans SC" panose="020B0200000000000000" charset="-122"/>
                <a:cs typeface="Noto Sans SC" panose="020B0200000000000000" charset="-122"/>
                <a:sym typeface="Noto Sans SC" panose="020B0200000000000000" charset="-122"/>
              </a:rPr>
              <a:t>Rust已成为Linux/Android等主流OS的系统编程新范式。同时，AI Agent与操作系统深度融合，正在引领“自愈型内核”的方向，要求系统具备主动防御与动态扩展能力。</a:t>
            </a:r>
            <a:endParaRPr lang="en-US" sz="1100"/>
          </a:p>
        </p:txBody>
      </p:sp>
      <p:sp>
        <p:nvSpPr>
          <p:cNvPr id="31" name="AutoShape 31"/>
          <p:cNvSpPr/>
          <p:nvPr/>
        </p:nvSpPr>
        <p:spPr>
          <a:xfrm>
            <a:off x="8331200" y="5016500"/>
            <a:ext cx="2794000" cy="762000"/>
          </a:xfrm>
          <a:prstGeom prst="roundRect">
            <a:avLst>
              <a:gd name="adj" fmla="val 10000"/>
            </a:avLst>
          </a:prstGeom>
          <a:solidFill>
            <a:srgbClr val="B2DFDB">
              <a:alpha val="30000"/>
            </a:srgbClr>
          </a:solidFill>
          <a:ln w="25400" cap="flat" cmpd="sng">
            <a:noFill/>
            <a:prstDash val="solid"/>
            <a:round/>
          </a:ln>
        </p:spPr>
        <p:txBody>
          <a:bodyPr vert="horz" wrap="square" lIns="63500" tIns="63500" rIns="63500" bIns="63500" rtlCol="0" anchor="ctr"/>
          <a:lstStyle/>
          <a:p>
            <a:pPr algn="ctr">
              <a:defRPr/>
            </a:pPr>
          </a:p>
        </p:txBody>
      </p:sp>
      <p:sp>
        <p:nvSpPr>
          <p:cNvPr id="32" name="AutoShape 32"/>
          <p:cNvSpPr/>
          <p:nvPr/>
        </p:nvSpPr>
        <p:spPr>
          <a:xfrm>
            <a:off x="8458200" y="5143500"/>
            <a:ext cx="2540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100" b="1" i="0" u="none" strike="noStrike">
                <a:solidFill>
                  <a:srgbClr val="004D40"/>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核心洞察：Rust与AI的深度融合是构建下一代安全内核的必由之路。</a:t>
            </a:r>
            <a:endParaRPr lang="en-US" sz="11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AF8F5">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812800" y="558800"/>
            <a:ext cx="105664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1A1A1A"/>
                </a:solidFill>
                <a:latin typeface="Noto Sans SC" panose="020B0200000000000000" charset="-122"/>
                <a:ea typeface="Noto Sans SC" panose="020B0200000000000000" charset="-122"/>
                <a:cs typeface="Noto Sans SC" panose="020B0200000000000000" charset="-122"/>
                <a:sym typeface="Noto Sans SC" panose="020B0200000000000000" charset="-122"/>
              </a:rPr>
              <a:t>项目目标：实现安全重构与智能探索，产出四大核心成果</a:t>
            </a:r>
            <a:endParaRPr lang="en-US" sz="1100"/>
          </a:p>
        </p:txBody>
      </p:sp>
      <p:sp>
        <p:nvSpPr>
          <p:cNvPr id="3" name="AutoShape 3"/>
          <p:cNvSpPr/>
          <p:nvPr/>
        </p:nvSpPr>
        <p:spPr>
          <a:xfrm>
            <a:off x="812800" y="1219200"/>
            <a:ext cx="105664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6B6B6B"/>
                </a:solidFill>
                <a:latin typeface="Noto Sans SC" panose="020B0200000000000000" charset="-122"/>
                <a:ea typeface="Noto Sans SC" panose="020B0200000000000000" charset="-122"/>
                <a:cs typeface="Noto Sans SC" panose="020B0200000000000000" charset="-122"/>
                <a:sym typeface="Noto Sans SC" panose="020B0200000000000000" charset="-122"/>
              </a:rPr>
              <a:t>总体目标：提升内核安全性、实现核心功能、建立统一接口，构建高可用的嵌入式系统基础架构</a:t>
            </a:r>
            <a:endParaRPr lang="en-US" sz="1100"/>
          </a:p>
        </p:txBody>
      </p:sp>
      <p:sp>
        <p:nvSpPr>
          <p:cNvPr id="4" name="AutoShape 4"/>
          <p:cNvSpPr/>
          <p:nvPr/>
        </p:nvSpPr>
        <p:spPr>
          <a:xfrm>
            <a:off x="812800" y="1905000"/>
            <a:ext cx="2413000" cy="4191000"/>
          </a:xfrm>
          <a:prstGeom prst="roundRect">
            <a:avLst>
              <a:gd name="adj" fmla="val 4210"/>
            </a:avLst>
          </a:prstGeom>
          <a:solidFill>
            <a:srgbClr val="FFFFFF">
              <a:alpha val="100000"/>
            </a:srgbClr>
          </a:solidFill>
          <a:ln w="25400" cap="flat" cmpd="sng">
            <a:noFill/>
            <a:prstDash val="solid"/>
            <a:round/>
          </a:ln>
          <a:effectLst>
            <a:outerShdw blurRad="203200" dist="76200" dir="5400000" algn="tl" rotWithShape="0">
              <a:srgbClr val="000000">
                <a:alpha val="8000"/>
              </a:srgbClr>
            </a:outerShdw>
          </a:effectLst>
        </p:spPr>
        <p:txBody>
          <a:bodyPr vert="horz" wrap="square" lIns="63500" tIns="63500" rIns="63500" bIns="63500" rtlCol="0" anchor="ctr"/>
          <a:lstStyle/>
          <a:p>
            <a:pPr algn="ctr">
              <a:defRPr/>
            </a:pPr>
          </a:p>
        </p:txBody>
      </p:sp>
      <p:sp>
        <p:nvSpPr>
          <p:cNvPr id="5" name="AutoShape 5"/>
          <p:cNvSpPr/>
          <p:nvPr/>
        </p:nvSpPr>
        <p:spPr>
          <a:xfrm>
            <a:off x="812800" y="1905000"/>
            <a:ext cx="2413000" cy="76200"/>
          </a:xfrm>
          <a:prstGeom prst="roundRect">
            <a:avLst>
              <a:gd name="adj" fmla="val 133333"/>
            </a:avLst>
          </a:prstGeom>
          <a:solidFill>
            <a:srgbClr val="004D40">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1638300" y="2286000"/>
            <a:ext cx="762000" cy="762000"/>
          </a:xfrm>
          <a:prstGeom prst="ellipse">
            <a:avLst/>
          </a:prstGeom>
          <a:solidFill>
            <a:srgbClr val="B2DFDB">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7" name="Picture 7"/>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816100" y="2463800"/>
            <a:ext cx="406400" cy="406400"/>
          </a:xfrm>
          <a:prstGeom prst="rect">
            <a:avLst/>
          </a:prstGeom>
        </p:spPr>
      </p:pic>
      <p:sp>
        <p:nvSpPr>
          <p:cNvPr id="8" name="AutoShape 8"/>
          <p:cNvSpPr/>
          <p:nvPr/>
        </p:nvSpPr>
        <p:spPr>
          <a:xfrm>
            <a:off x="1003300" y="3302000"/>
            <a:ext cx="2032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1" i="0" u="none" strike="noStrike">
                <a:solidFill>
                  <a:srgbClr val="004D40"/>
                </a:solidFill>
                <a:latin typeface="Noto Sans SC" panose="020B0200000000000000" charset="-122"/>
                <a:ea typeface="Noto Sans SC" panose="020B0200000000000000" charset="-122"/>
                <a:cs typeface="Noto Sans SC" panose="020B0200000000000000" charset="-122"/>
                <a:sym typeface="Noto Sans SC" panose="020B0200000000000000" charset="-122"/>
              </a:rPr>
              <a:t>Rust改写内核代码</a:t>
            </a:r>
            <a:endParaRPr lang="en-US" sz="1100"/>
          </a:p>
        </p:txBody>
      </p:sp>
      <p:sp>
        <p:nvSpPr>
          <p:cNvPr id="9" name="AutoShape 9"/>
          <p:cNvSpPr/>
          <p:nvPr/>
        </p:nvSpPr>
        <p:spPr>
          <a:xfrm>
            <a:off x="1003300" y="3937000"/>
            <a:ext cx="2032000" cy="1270000"/>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en-US" sz="1100" b="0" i="0" u="none" strike="noStrike">
                <a:solidFill>
                  <a:srgbClr val="6B6B6B"/>
                </a:solidFill>
                <a:latin typeface="Noto Sans SC" panose="020B0200000000000000" charset="-122"/>
                <a:ea typeface="Noto Sans SC" panose="020B0200000000000000" charset="-122"/>
                <a:cs typeface="Noto Sans SC" panose="020B0200000000000000" charset="-122"/>
                <a:sym typeface="Noto Sans SC" panose="020B0200000000000000" charset="-122"/>
              </a:rPr>
              <a:t>完成分阶段的Rust改写工作，产出LiteOS-M核心模块代码，覆盖任务管理、调度器及IPC模块，确保功能正确性与高性能运行。</a:t>
            </a:r>
            <a:endParaRPr lang="en-US" sz="1100"/>
          </a:p>
        </p:txBody>
      </p:sp>
      <p:sp>
        <p:nvSpPr>
          <p:cNvPr id="10" name="AutoShape 10"/>
          <p:cNvSpPr/>
          <p:nvPr/>
        </p:nvSpPr>
        <p:spPr>
          <a:xfrm>
            <a:off x="3530600" y="1905000"/>
            <a:ext cx="2413000" cy="4191000"/>
          </a:xfrm>
          <a:prstGeom prst="roundRect">
            <a:avLst>
              <a:gd name="adj" fmla="val 4210"/>
            </a:avLst>
          </a:prstGeom>
          <a:solidFill>
            <a:srgbClr val="FFFFFF">
              <a:alpha val="100000"/>
            </a:srgbClr>
          </a:solidFill>
          <a:ln w="25400" cap="flat" cmpd="sng">
            <a:noFill/>
            <a:prstDash val="solid"/>
            <a:round/>
          </a:ln>
          <a:effectLst>
            <a:outerShdw blurRad="203200" dist="76200" dir="5400000" algn="tl" rotWithShape="0">
              <a:srgbClr val="000000">
                <a:alpha val="8000"/>
              </a:srgbClr>
            </a:outerShdw>
          </a:effectLst>
        </p:spPr>
        <p:txBody>
          <a:bodyPr vert="horz" wrap="square" lIns="63500" tIns="63500" rIns="63500" bIns="63500" rtlCol="0" anchor="ctr"/>
          <a:lstStyle/>
          <a:p>
            <a:pPr algn="ctr">
              <a:defRPr/>
            </a:pPr>
          </a:p>
        </p:txBody>
      </p:sp>
      <p:sp>
        <p:nvSpPr>
          <p:cNvPr id="11" name="AutoShape 11"/>
          <p:cNvSpPr/>
          <p:nvPr/>
        </p:nvSpPr>
        <p:spPr>
          <a:xfrm>
            <a:off x="3530600" y="1905000"/>
            <a:ext cx="2413000" cy="76200"/>
          </a:xfrm>
          <a:prstGeom prst="roundRect">
            <a:avLst>
              <a:gd name="adj" fmla="val 133333"/>
            </a:avLst>
          </a:prstGeom>
          <a:solidFill>
            <a:srgbClr val="004D40">
              <a:alpha val="100000"/>
            </a:srgbClr>
          </a:solidFill>
          <a:ln w="25400" cap="flat" cmpd="sng">
            <a:noFill/>
            <a:prstDash val="solid"/>
            <a:round/>
          </a:ln>
        </p:spPr>
        <p:txBody>
          <a:bodyPr vert="horz" wrap="square" lIns="63500" tIns="63500" rIns="63500" bIns="63500" rtlCol="0" anchor="ctr"/>
          <a:lstStyle/>
          <a:p>
            <a:pPr algn="ctr">
              <a:defRPr/>
            </a:pPr>
          </a:p>
        </p:txBody>
      </p:sp>
      <p:sp>
        <p:nvSpPr>
          <p:cNvPr id="12" name="AutoShape 12"/>
          <p:cNvSpPr/>
          <p:nvPr/>
        </p:nvSpPr>
        <p:spPr>
          <a:xfrm>
            <a:off x="4356100" y="2286000"/>
            <a:ext cx="762000" cy="762000"/>
          </a:xfrm>
          <a:prstGeom prst="ellipse">
            <a:avLst/>
          </a:prstGeom>
          <a:solidFill>
            <a:srgbClr val="B2DFDB">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3" name="Picture 13"/>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533900" y="2463800"/>
            <a:ext cx="406400" cy="406400"/>
          </a:xfrm>
          <a:prstGeom prst="rect">
            <a:avLst/>
          </a:prstGeom>
        </p:spPr>
      </p:pic>
      <p:sp>
        <p:nvSpPr>
          <p:cNvPr id="14" name="AutoShape 14"/>
          <p:cNvSpPr/>
          <p:nvPr/>
        </p:nvSpPr>
        <p:spPr>
          <a:xfrm>
            <a:off x="3721100" y="3302000"/>
            <a:ext cx="2032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1" i="0" u="none" strike="noStrike">
                <a:solidFill>
                  <a:srgbClr val="004D40"/>
                </a:solidFill>
                <a:latin typeface="Noto Sans SC" panose="020B0200000000000000" charset="-122"/>
                <a:ea typeface="Noto Sans SC" panose="020B0200000000000000" charset="-122"/>
                <a:cs typeface="Noto Sans SC" panose="020B0200000000000000" charset="-122"/>
                <a:sym typeface="Noto Sans SC" panose="020B0200000000000000" charset="-122"/>
              </a:rPr>
              <a:t>IronClaw接口层原型</a:t>
            </a:r>
            <a:endParaRPr lang="en-US" sz="1100"/>
          </a:p>
        </p:txBody>
      </p:sp>
      <p:sp>
        <p:nvSpPr>
          <p:cNvPr id="15" name="AutoShape 15"/>
          <p:cNvSpPr/>
          <p:nvPr/>
        </p:nvSpPr>
        <p:spPr>
          <a:xfrm>
            <a:off x="3721100" y="3937000"/>
            <a:ext cx="2032000" cy="1270000"/>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en-US" sz="1100" b="0" i="0" u="none" strike="noStrike">
                <a:solidFill>
                  <a:srgbClr val="6B6B6B"/>
                </a:solidFill>
                <a:latin typeface="Noto Sans SC" panose="020B0200000000000000" charset="-122"/>
                <a:ea typeface="Noto Sans SC" panose="020B0200000000000000" charset="-122"/>
                <a:cs typeface="Noto Sans SC" panose="020B0200000000000000" charset="-122"/>
                <a:sym typeface="Noto Sans SC" panose="020B0200000000000000" charset="-122"/>
              </a:rPr>
              <a:t>设计并实现双向调用接口层，打通用户层到内核层的数据通道，构建清晰、安全的系统边界，实现跨层级的高效通信机制。</a:t>
            </a:r>
            <a:endParaRPr lang="en-US" sz="1100"/>
          </a:p>
        </p:txBody>
      </p:sp>
      <p:sp>
        <p:nvSpPr>
          <p:cNvPr id="16" name="AutoShape 16"/>
          <p:cNvSpPr/>
          <p:nvPr/>
        </p:nvSpPr>
        <p:spPr>
          <a:xfrm>
            <a:off x="6248400" y="1905000"/>
            <a:ext cx="2413000" cy="4191000"/>
          </a:xfrm>
          <a:prstGeom prst="roundRect">
            <a:avLst>
              <a:gd name="adj" fmla="val 4210"/>
            </a:avLst>
          </a:prstGeom>
          <a:solidFill>
            <a:srgbClr val="FFFFFF">
              <a:alpha val="100000"/>
            </a:srgbClr>
          </a:solidFill>
          <a:ln w="25400" cap="flat" cmpd="sng">
            <a:noFill/>
            <a:prstDash val="solid"/>
            <a:round/>
          </a:ln>
          <a:effectLst>
            <a:outerShdw blurRad="203200" dist="76200" dir="5400000" algn="tl" rotWithShape="0">
              <a:srgbClr val="000000">
                <a:alpha val="8000"/>
              </a:srgbClr>
            </a:outerShdw>
          </a:effectLst>
        </p:spPr>
        <p:txBody>
          <a:bodyPr vert="horz" wrap="square" lIns="63500" tIns="63500" rIns="63500" bIns="63500" rtlCol="0" anchor="ctr"/>
          <a:lstStyle/>
          <a:p>
            <a:pPr algn="ctr">
              <a:defRPr/>
            </a:pPr>
          </a:p>
        </p:txBody>
      </p:sp>
      <p:sp>
        <p:nvSpPr>
          <p:cNvPr id="17" name="AutoShape 17"/>
          <p:cNvSpPr/>
          <p:nvPr/>
        </p:nvSpPr>
        <p:spPr>
          <a:xfrm>
            <a:off x="6248400" y="1905000"/>
            <a:ext cx="2413000" cy="76200"/>
          </a:xfrm>
          <a:prstGeom prst="roundRect">
            <a:avLst>
              <a:gd name="adj" fmla="val 133333"/>
            </a:avLst>
          </a:prstGeom>
          <a:solidFill>
            <a:srgbClr val="004D40">
              <a:alpha val="100000"/>
            </a:srgbClr>
          </a:solidFill>
          <a:ln w="25400" cap="flat" cmpd="sng">
            <a:noFill/>
            <a:prstDash val="solid"/>
            <a:round/>
          </a:ln>
        </p:spPr>
        <p:txBody>
          <a:bodyPr vert="horz" wrap="square" lIns="63500" tIns="63500" rIns="63500" bIns="63500" rtlCol="0" anchor="ctr"/>
          <a:lstStyle/>
          <a:p>
            <a:pPr algn="ctr">
              <a:defRPr/>
            </a:pPr>
          </a:p>
        </p:txBody>
      </p:sp>
      <p:sp>
        <p:nvSpPr>
          <p:cNvPr id="18" name="AutoShape 18"/>
          <p:cNvSpPr/>
          <p:nvPr/>
        </p:nvSpPr>
        <p:spPr>
          <a:xfrm>
            <a:off x="7073900" y="2286000"/>
            <a:ext cx="762000" cy="762000"/>
          </a:xfrm>
          <a:prstGeom prst="ellipse">
            <a:avLst/>
          </a:prstGeom>
          <a:solidFill>
            <a:srgbClr val="B2DFDB">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9" name="Picture 19"/>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251700" y="2463800"/>
            <a:ext cx="406400" cy="406400"/>
          </a:xfrm>
          <a:prstGeom prst="rect">
            <a:avLst/>
          </a:prstGeom>
        </p:spPr>
      </p:pic>
      <p:sp>
        <p:nvSpPr>
          <p:cNvPr id="20" name="AutoShape 20"/>
          <p:cNvSpPr/>
          <p:nvPr/>
        </p:nvSpPr>
        <p:spPr>
          <a:xfrm>
            <a:off x="6438900" y="3302000"/>
            <a:ext cx="2032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1" i="0" u="none" strike="noStrike">
                <a:solidFill>
                  <a:srgbClr val="004D40"/>
                </a:solidFill>
                <a:latin typeface="Noto Sans SC" panose="020B0200000000000000" charset="-122"/>
                <a:ea typeface="Noto Sans SC" panose="020B0200000000000000" charset="-122"/>
                <a:cs typeface="Noto Sans SC" panose="020B0200000000000000" charset="-122"/>
                <a:sym typeface="Noto Sans SC" panose="020B0200000000000000" charset="-122"/>
              </a:rPr>
              <a:t>实验与验证报告</a:t>
            </a:r>
            <a:endParaRPr lang="en-US" sz="1100"/>
          </a:p>
        </p:txBody>
      </p:sp>
      <p:sp>
        <p:nvSpPr>
          <p:cNvPr id="21" name="AutoShape 21"/>
          <p:cNvSpPr/>
          <p:nvPr/>
        </p:nvSpPr>
        <p:spPr>
          <a:xfrm>
            <a:off x="6438900" y="3937000"/>
            <a:ext cx="2032000" cy="1270000"/>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en-US" sz="1100" b="0" i="0" u="none" strike="noStrike">
                <a:solidFill>
                  <a:srgbClr val="6B6B6B"/>
                </a:solidFill>
                <a:latin typeface="Noto Sans SC" panose="020B0200000000000000" charset="-122"/>
                <a:ea typeface="Noto Sans SC" panose="020B0200000000000000" charset="-122"/>
                <a:cs typeface="Noto Sans SC" panose="020B0200000000000000" charset="-122"/>
                <a:sym typeface="Noto Sans SC" panose="020B0200000000000000" charset="-122"/>
              </a:rPr>
              <a:t>输出详细的量化分析报告，涵盖功能正确性测试、上下文切换性能数据及安全性收益评估，用客观数据充分证明重构价值。</a:t>
            </a:r>
            <a:endParaRPr lang="en-US" sz="1100"/>
          </a:p>
        </p:txBody>
      </p:sp>
      <p:sp>
        <p:nvSpPr>
          <p:cNvPr id="22" name="AutoShape 22"/>
          <p:cNvSpPr/>
          <p:nvPr/>
        </p:nvSpPr>
        <p:spPr>
          <a:xfrm>
            <a:off x="8966200" y="1905000"/>
            <a:ext cx="2413000" cy="4191000"/>
          </a:xfrm>
          <a:prstGeom prst="roundRect">
            <a:avLst>
              <a:gd name="adj" fmla="val 4210"/>
            </a:avLst>
          </a:prstGeom>
          <a:solidFill>
            <a:srgbClr val="FFFFFF">
              <a:alpha val="100000"/>
            </a:srgbClr>
          </a:solidFill>
          <a:ln w="25400" cap="flat" cmpd="sng">
            <a:noFill/>
            <a:prstDash val="solid"/>
            <a:round/>
          </a:ln>
          <a:effectLst>
            <a:outerShdw blurRad="203200" dist="76200" dir="5400000" algn="tl" rotWithShape="0">
              <a:srgbClr val="000000">
                <a:alpha val="8000"/>
              </a:srgbClr>
            </a:outerShdw>
          </a:effectLst>
        </p:spPr>
        <p:txBody>
          <a:bodyPr vert="horz" wrap="square" lIns="63500" tIns="63500" rIns="63500" bIns="63500" rtlCol="0" anchor="ctr"/>
          <a:lstStyle/>
          <a:p>
            <a:pPr algn="ctr">
              <a:defRPr/>
            </a:pPr>
          </a:p>
        </p:txBody>
      </p:sp>
      <p:sp>
        <p:nvSpPr>
          <p:cNvPr id="23" name="AutoShape 23"/>
          <p:cNvSpPr/>
          <p:nvPr/>
        </p:nvSpPr>
        <p:spPr>
          <a:xfrm>
            <a:off x="8966200" y="1905000"/>
            <a:ext cx="2413000" cy="76200"/>
          </a:xfrm>
          <a:prstGeom prst="roundRect">
            <a:avLst>
              <a:gd name="adj" fmla="val 133333"/>
            </a:avLst>
          </a:prstGeom>
          <a:solidFill>
            <a:srgbClr val="004D40">
              <a:alpha val="100000"/>
            </a:srgbClr>
          </a:solidFill>
          <a:ln w="25400" cap="flat" cmpd="sng">
            <a:noFill/>
            <a:prstDash val="solid"/>
            <a:round/>
          </a:ln>
        </p:spPr>
        <p:txBody>
          <a:bodyPr vert="horz" wrap="square" lIns="63500" tIns="63500" rIns="63500" bIns="63500" rtlCol="0" anchor="ctr"/>
          <a:lstStyle/>
          <a:p>
            <a:pPr algn="ctr">
              <a:defRPr/>
            </a:pPr>
          </a:p>
        </p:txBody>
      </p:sp>
      <p:sp>
        <p:nvSpPr>
          <p:cNvPr id="24" name="AutoShape 24"/>
          <p:cNvSpPr/>
          <p:nvPr/>
        </p:nvSpPr>
        <p:spPr>
          <a:xfrm>
            <a:off x="9791700" y="2286000"/>
            <a:ext cx="762000" cy="762000"/>
          </a:xfrm>
          <a:prstGeom prst="ellipse">
            <a:avLst/>
          </a:prstGeom>
          <a:solidFill>
            <a:srgbClr val="B2DFDB">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25" name="Picture 25"/>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9969500" y="2463800"/>
            <a:ext cx="406400" cy="406400"/>
          </a:xfrm>
          <a:prstGeom prst="rect">
            <a:avLst/>
          </a:prstGeom>
        </p:spPr>
      </p:pic>
      <p:sp>
        <p:nvSpPr>
          <p:cNvPr id="26" name="AutoShape 26"/>
          <p:cNvSpPr/>
          <p:nvPr/>
        </p:nvSpPr>
        <p:spPr>
          <a:xfrm>
            <a:off x="9156700" y="3302000"/>
            <a:ext cx="2032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1" i="0" u="none" strike="noStrike">
                <a:solidFill>
                  <a:srgbClr val="004D40"/>
                </a:solidFill>
                <a:latin typeface="Noto Sans SC" panose="020B0200000000000000" charset="-122"/>
                <a:ea typeface="Noto Sans SC" panose="020B0200000000000000" charset="-122"/>
                <a:cs typeface="Noto Sans SC" panose="020B0200000000000000" charset="-122"/>
                <a:sym typeface="Noto Sans SC" panose="020B0200000000000000" charset="-122"/>
              </a:rPr>
              <a:t>文档化迁移方法</a:t>
            </a:r>
            <a:endParaRPr lang="en-US" sz="1100"/>
          </a:p>
        </p:txBody>
      </p:sp>
      <p:sp>
        <p:nvSpPr>
          <p:cNvPr id="27" name="AutoShape 27"/>
          <p:cNvSpPr/>
          <p:nvPr/>
        </p:nvSpPr>
        <p:spPr>
          <a:xfrm>
            <a:off x="9156700" y="3937000"/>
            <a:ext cx="2032000" cy="1270000"/>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en-US" sz="1100" b="0" i="0" u="none" strike="noStrike">
                <a:solidFill>
                  <a:srgbClr val="6B6B6B"/>
                </a:solidFill>
                <a:latin typeface="Noto Sans SC" panose="020B0200000000000000" charset="-122"/>
                <a:ea typeface="Noto Sans SC" panose="020B0200000000000000" charset="-122"/>
                <a:cs typeface="Noto Sans SC" panose="020B0200000000000000" charset="-122"/>
                <a:sym typeface="Noto Sans SC" panose="020B0200000000000000" charset="-122"/>
              </a:rPr>
              <a:t>沉淀一套标准化的工程迁移方法论，包含模块优先级排序、接口适配策略、自动化测试流程及风险清单，为后续项目提供可复用的参考范式。</a:t>
            </a:r>
            <a:endParaRPr lang="en-US" sz="11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AF8F5">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812800" y="558800"/>
            <a:ext cx="105664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1A1A1A"/>
                </a:solidFill>
                <a:latin typeface="Noto Sans SC" panose="020B0200000000000000" charset="-122"/>
                <a:ea typeface="Noto Sans SC" panose="020B0200000000000000" charset="-122"/>
                <a:cs typeface="Noto Sans SC" panose="020B0200000000000000" charset="-122"/>
                <a:sym typeface="Noto Sans SC" panose="020B0200000000000000" charset="-122"/>
              </a:rPr>
              <a:t>Vexilon团队使命：深入重构内核，构建安全接口</a:t>
            </a:r>
            <a:endParaRPr lang="en-US" sz="1100"/>
          </a:p>
        </p:txBody>
      </p:sp>
      <p:sp>
        <p:nvSpPr>
          <p:cNvPr id="3" name="AutoShape 3"/>
          <p:cNvSpPr/>
          <p:nvPr/>
        </p:nvSpPr>
        <p:spPr>
          <a:xfrm>
            <a:off x="812800" y="1397000"/>
            <a:ext cx="5080000" cy="4826000"/>
          </a:xfrm>
          <a:prstGeom prst="roundRect">
            <a:avLst>
              <a:gd name="adj" fmla="val 2105"/>
            </a:avLst>
          </a:prstGeom>
          <a:solidFill>
            <a:srgbClr val="FFFFFF">
              <a:alpha val="100000"/>
            </a:srgbClr>
          </a:solidFill>
          <a:ln w="25400" cap="flat" cmpd="sng">
            <a:noFill/>
            <a:prstDash val="solid"/>
            <a:round/>
          </a:ln>
          <a:effectLst>
            <a:outerShdw blurRad="203200" dist="50800" dir="2700000" algn="tl" rotWithShape="0">
              <a:srgbClr val="004D40">
                <a:alpha val="12000"/>
              </a:srgbClr>
            </a:outerShdw>
          </a:effectLst>
        </p:spPr>
        <p:txBody>
          <a:bodyPr vert="horz" wrap="square" lIns="63500" tIns="63500" rIns="63500" bIns="63500" rtlCol="0" anchor="ctr"/>
          <a:lstStyle/>
          <a:p>
            <a:pPr algn="ctr">
              <a:defRPr/>
            </a:pPr>
          </a:p>
        </p:txBody>
      </p:sp>
      <p:sp>
        <p:nvSpPr>
          <p:cNvPr id="4" name="AutoShape 4"/>
          <p:cNvSpPr/>
          <p:nvPr/>
        </p:nvSpPr>
        <p:spPr>
          <a:xfrm>
            <a:off x="812800" y="1397000"/>
            <a:ext cx="5080000" cy="76200"/>
          </a:xfrm>
          <a:prstGeom prst="roundRect">
            <a:avLst>
              <a:gd name="adj" fmla="val 0"/>
            </a:avLst>
          </a:prstGeom>
          <a:solidFill>
            <a:srgbClr val="004D40">
              <a:alpha val="100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1117600" y="1778000"/>
            <a:ext cx="762000" cy="762000"/>
          </a:xfrm>
          <a:prstGeom prst="ellipse">
            <a:avLst/>
          </a:prstGeom>
          <a:solidFill>
            <a:srgbClr val="B2DFDB">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6" name="Picture 6"/>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270000" y="1930400"/>
            <a:ext cx="457200" cy="457200"/>
          </a:xfrm>
          <a:prstGeom prst="rect">
            <a:avLst/>
          </a:prstGeom>
        </p:spPr>
      </p:pic>
      <p:sp>
        <p:nvSpPr>
          <p:cNvPr id="7" name="AutoShape 7"/>
          <p:cNvSpPr/>
          <p:nvPr/>
        </p:nvSpPr>
        <p:spPr>
          <a:xfrm>
            <a:off x="2082800" y="1879600"/>
            <a:ext cx="3302000" cy="457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04D40"/>
                </a:solidFill>
                <a:latin typeface="Noto Sans SC" panose="020B0200000000000000" charset="-122"/>
                <a:ea typeface="Noto Sans SC" panose="020B0200000000000000" charset="-122"/>
                <a:cs typeface="Noto Sans SC" panose="020B0200000000000000" charset="-122"/>
                <a:sym typeface="Noto Sans SC" panose="020B0200000000000000" charset="-122"/>
              </a:rPr>
              <a:t>使命一：深入式重构</a:t>
            </a:r>
            <a:endParaRPr lang="en-US" sz="1100"/>
          </a:p>
        </p:txBody>
      </p:sp>
      <p:sp>
        <p:nvSpPr>
          <p:cNvPr id="8" name="AutoShape 8"/>
          <p:cNvSpPr/>
          <p:nvPr/>
        </p:nvSpPr>
        <p:spPr>
          <a:xfrm>
            <a:off x="1117600" y="2794000"/>
            <a:ext cx="4470400" cy="1397000"/>
          </a:xfrm>
          <a:prstGeom prst="rect">
            <a:avLst/>
          </a:prstGeom>
          <a:noFill/>
          <a:ln w="12700" cap="flat" cmpd="sng">
            <a:noFill/>
            <a:prstDash val="solid"/>
            <a:round/>
          </a:ln>
        </p:spPr>
        <p:txBody>
          <a:bodyPr vert="horz" wrap="square" lIns="0" tIns="0" rIns="0" bIns="0" rtlCol="0" anchor="t" anchorCtr="0"/>
          <a:lstStyle/>
          <a:p>
            <a:pPr indent="0" algn="l">
              <a:lnSpc>
                <a:spcPct val="133000"/>
              </a:lnSpc>
              <a:defRPr/>
            </a:pPr>
            <a:r>
              <a:rPr lang="en-US" sz="12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基于LiteOS-M内核与过往基础，重点开展</a:t>
            </a:r>
            <a:r>
              <a:rPr lang="en-US" sz="1200" b="1" i="0" u="none" strike="noStrike">
                <a:solidFill>
                  <a:srgbClr val="004D40"/>
                </a:solidFill>
                <a:latin typeface="Noto Sans SC" panose="020B0200000000000000" charset="-122"/>
                <a:ea typeface="Noto Sans SC" panose="020B0200000000000000" charset="-122"/>
                <a:cs typeface="Noto Sans SC" panose="020B0200000000000000" charset="-122"/>
                <a:sym typeface="Noto Sans SC" panose="020B0200000000000000" charset="-122"/>
              </a:rPr>
              <a:t>Rust 深入式重构</a:t>
            </a:r>
            <a:r>
              <a:rPr lang="en-US" sz="12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。针对任务管理、调度器等核心高危路径，利用Rust的类型安全与内存安全特性，彻底替换原有C语言实现的易出错模块，夯实内核底层稳定性。</a:t>
            </a:r>
            <a:endParaRPr lang="en-US" sz="1100"/>
          </a:p>
        </p:txBody>
      </p:sp>
      <p:sp>
        <p:nvSpPr>
          <p:cNvPr id="9" name="AutoShape 9"/>
          <p:cNvSpPr/>
          <p:nvPr/>
        </p:nvSpPr>
        <p:spPr>
          <a:xfrm>
            <a:off x="1117600" y="4445000"/>
            <a:ext cx="4470400" cy="1016000"/>
          </a:xfrm>
          <a:prstGeom prst="roundRect">
            <a:avLst>
              <a:gd name="adj" fmla="val 7500"/>
            </a:avLst>
          </a:prstGeom>
          <a:solidFill>
            <a:srgbClr val="E0F2F1">
              <a:alpha val="100000"/>
            </a:srgbClr>
          </a:solidFill>
          <a:ln w="25400" cap="flat" cmpd="sng">
            <a:noFill/>
            <a:prstDash val="solid"/>
            <a:round/>
          </a:ln>
        </p:spPr>
        <p:txBody>
          <a:bodyPr vert="horz" wrap="square" lIns="63500" tIns="63500" rIns="63500" bIns="63500" rtlCol="0" anchor="ctr"/>
          <a:lstStyle/>
          <a:p>
            <a:pPr algn="ctr">
              <a:defRPr/>
            </a:pPr>
          </a:p>
        </p:txBody>
      </p:sp>
      <p:sp>
        <p:nvSpPr>
          <p:cNvPr id="10" name="AutoShape 10"/>
          <p:cNvSpPr/>
          <p:nvPr/>
        </p:nvSpPr>
        <p:spPr>
          <a:xfrm>
            <a:off x="1320800" y="4572000"/>
            <a:ext cx="4064000" cy="762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200" b="1" i="0" u="none" strike="noStrike">
                <a:solidFill>
                  <a:srgbClr val="004D40"/>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核心目标：</a:t>
            </a:r>
            <a:br>
              <a:rPr lang="en-US" sz="1200" b="1" i="0" u="none" strike="noStrike">
                <a:solidFill>
                  <a:srgbClr val="004D40"/>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200" b="1" i="0" u="none" strike="noStrike">
                <a:solidFill>
                  <a:srgbClr val="004D40"/>
                </a:solidFill>
                <a:latin typeface="Noto Sans SC" panose="020B0200000000000000" charset="-122"/>
                <a:ea typeface="Noto Sans SC" panose="020B0200000000000000" charset="-122"/>
                <a:cs typeface="Noto Sans SC" panose="020B0200000000000000" charset="-122"/>
                <a:sym typeface="Noto Sans SC" panose="020B0200000000000000" charset="-122"/>
              </a:rPr>
              <a:t>利用 Rust 特性消除 C 语言固有风险，实现内核关键路径的零内存安全漏洞。</a:t>
            </a:r>
            <a:endParaRPr lang="en-US" sz="1100"/>
          </a:p>
        </p:txBody>
      </p:sp>
      <p:sp>
        <p:nvSpPr>
          <p:cNvPr id="11" name="AutoShape 11"/>
          <p:cNvSpPr/>
          <p:nvPr/>
        </p:nvSpPr>
        <p:spPr>
          <a:xfrm>
            <a:off x="6299200" y="1397000"/>
            <a:ext cx="5080000" cy="4826000"/>
          </a:xfrm>
          <a:prstGeom prst="roundRect">
            <a:avLst>
              <a:gd name="adj" fmla="val 2105"/>
            </a:avLst>
          </a:prstGeom>
          <a:solidFill>
            <a:srgbClr val="FFFFFF">
              <a:alpha val="100000"/>
            </a:srgbClr>
          </a:solidFill>
          <a:ln w="25400" cap="flat" cmpd="sng">
            <a:noFill/>
            <a:prstDash val="solid"/>
            <a:round/>
          </a:ln>
          <a:effectLst>
            <a:outerShdw blurRad="203200" dist="50800" dir="2700000" algn="tl" rotWithShape="0">
              <a:srgbClr val="004D40">
                <a:alpha val="12000"/>
              </a:srgbClr>
            </a:outerShdw>
          </a:effectLst>
        </p:spPr>
        <p:txBody>
          <a:bodyPr vert="horz" wrap="square" lIns="63500" tIns="63500" rIns="63500" bIns="63500" rtlCol="0" anchor="ctr"/>
          <a:lstStyle/>
          <a:p>
            <a:pPr algn="ctr">
              <a:defRPr/>
            </a:pPr>
          </a:p>
        </p:txBody>
      </p:sp>
      <p:sp>
        <p:nvSpPr>
          <p:cNvPr id="12" name="AutoShape 12"/>
          <p:cNvSpPr/>
          <p:nvPr/>
        </p:nvSpPr>
        <p:spPr>
          <a:xfrm>
            <a:off x="6299200" y="1397000"/>
            <a:ext cx="5080000" cy="76200"/>
          </a:xfrm>
          <a:prstGeom prst="roundRect">
            <a:avLst>
              <a:gd name="adj" fmla="val 0"/>
            </a:avLst>
          </a:prstGeom>
          <a:solidFill>
            <a:srgbClr val="004D40">
              <a:alpha val="100000"/>
            </a:srgbClr>
          </a:solidFill>
          <a:ln w="25400" cap="flat" cmpd="sng">
            <a:noFill/>
            <a:prstDash val="solid"/>
            <a:round/>
          </a:ln>
        </p:spPr>
        <p:txBody>
          <a:bodyPr vert="horz" wrap="square" lIns="63500" tIns="63500" rIns="63500" bIns="63500" rtlCol="0" anchor="ctr"/>
          <a:lstStyle/>
          <a:p>
            <a:pPr algn="ctr">
              <a:defRPr/>
            </a:pPr>
          </a:p>
        </p:txBody>
      </p:sp>
      <p:sp>
        <p:nvSpPr>
          <p:cNvPr id="13" name="AutoShape 13"/>
          <p:cNvSpPr/>
          <p:nvPr/>
        </p:nvSpPr>
        <p:spPr>
          <a:xfrm>
            <a:off x="6604000" y="1778000"/>
            <a:ext cx="762000" cy="762000"/>
          </a:xfrm>
          <a:prstGeom prst="ellipse">
            <a:avLst/>
          </a:prstGeom>
          <a:solidFill>
            <a:srgbClr val="B2DFDB">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4" name="Picture 14"/>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756400" y="1930400"/>
            <a:ext cx="457200" cy="457200"/>
          </a:xfrm>
          <a:prstGeom prst="rect">
            <a:avLst/>
          </a:prstGeom>
        </p:spPr>
      </p:pic>
      <p:sp>
        <p:nvSpPr>
          <p:cNvPr id="15" name="AutoShape 15"/>
          <p:cNvSpPr/>
          <p:nvPr/>
        </p:nvSpPr>
        <p:spPr>
          <a:xfrm>
            <a:off x="7569200" y="1879600"/>
            <a:ext cx="3302000" cy="457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04D40"/>
                </a:solidFill>
                <a:latin typeface="Noto Sans SC" panose="020B0200000000000000" charset="-122"/>
                <a:ea typeface="Noto Sans SC" panose="020B0200000000000000" charset="-122"/>
                <a:cs typeface="Noto Sans SC" panose="020B0200000000000000" charset="-122"/>
                <a:sym typeface="Noto Sans SC" panose="020B0200000000000000" charset="-122"/>
              </a:rPr>
              <a:t>使命二：构建安全接口</a:t>
            </a:r>
            <a:endParaRPr lang="en-US" sz="1100"/>
          </a:p>
        </p:txBody>
      </p:sp>
      <p:sp>
        <p:nvSpPr>
          <p:cNvPr id="16" name="AutoShape 16"/>
          <p:cNvSpPr/>
          <p:nvPr/>
        </p:nvSpPr>
        <p:spPr>
          <a:xfrm>
            <a:off x="6604000" y="2794000"/>
            <a:ext cx="4470400" cy="1397000"/>
          </a:xfrm>
          <a:prstGeom prst="rect">
            <a:avLst/>
          </a:prstGeom>
          <a:noFill/>
          <a:ln w="12700" cap="flat" cmpd="sng">
            <a:noFill/>
            <a:prstDash val="solid"/>
            <a:round/>
          </a:ln>
        </p:spPr>
        <p:txBody>
          <a:bodyPr vert="horz" wrap="square" lIns="0" tIns="0" rIns="0" bIns="0" rtlCol="0" anchor="t" anchorCtr="0"/>
          <a:lstStyle/>
          <a:p>
            <a:pPr indent="0" algn="l">
              <a:lnSpc>
                <a:spcPct val="133000"/>
              </a:lnSpc>
              <a:defRPr/>
            </a:pPr>
            <a:r>
              <a:rPr lang="en-US" sz="12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在内核与用户层之间引入</a:t>
            </a:r>
            <a:r>
              <a:rPr lang="en-US" sz="1200" b="1" i="0" u="none" strike="noStrike">
                <a:solidFill>
                  <a:srgbClr val="004D40"/>
                </a:solidFill>
                <a:latin typeface="Noto Sans SC" panose="020B0200000000000000" charset="-122"/>
                <a:ea typeface="Noto Sans SC" panose="020B0200000000000000" charset="-122"/>
                <a:cs typeface="Noto Sans SC" panose="020B0200000000000000" charset="-122"/>
                <a:sym typeface="Noto Sans SC" panose="020B0200000000000000" charset="-122"/>
              </a:rPr>
              <a:t>IronClaw 中间层</a:t>
            </a:r>
            <a:r>
              <a:rPr lang="en-US" sz="12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，构建双向安全调用边界。该接口不仅封装系统调用，更定义严格的权限控制，为未来 AI Agent 与内核的安全交互奠定基础，探索“自愈型操作系统”的技术路径。</a:t>
            </a:r>
            <a:endParaRPr lang="en-US" sz="1100"/>
          </a:p>
        </p:txBody>
      </p:sp>
      <p:sp>
        <p:nvSpPr>
          <p:cNvPr id="17" name="AutoShape 17"/>
          <p:cNvSpPr/>
          <p:nvPr/>
        </p:nvSpPr>
        <p:spPr>
          <a:xfrm>
            <a:off x="6604000" y="4445000"/>
            <a:ext cx="4470400" cy="1016000"/>
          </a:xfrm>
          <a:prstGeom prst="roundRect">
            <a:avLst>
              <a:gd name="adj" fmla="val 7500"/>
            </a:avLst>
          </a:prstGeom>
          <a:solidFill>
            <a:srgbClr val="E0F2F1">
              <a:alpha val="100000"/>
            </a:srgbClr>
          </a:solidFill>
          <a:ln w="25400" cap="flat" cmpd="sng">
            <a:noFill/>
            <a:prstDash val="solid"/>
            <a:round/>
          </a:ln>
        </p:spPr>
        <p:txBody>
          <a:bodyPr vert="horz" wrap="square" lIns="63500" tIns="63500" rIns="63500" bIns="63500" rtlCol="0" anchor="ctr"/>
          <a:lstStyle/>
          <a:p>
            <a:pPr algn="ctr">
              <a:defRPr/>
            </a:pPr>
          </a:p>
        </p:txBody>
      </p:sp>
      <p:sp>
        <p:nvSpPr>
          <p:cNvPr id="18" name="AutoShape 18"/>
          <p:cNvSpPr/>
          <p:nvPr/>
        </p:nvSpPr>
        <p:spPr>
          <a:xfrm>
            <a:off x="6807200" y="4572000"/>
            <a:ext cx="4064000" cy="762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200" b="1" i="0" u="none" strike="noStrike">
                <a:solidFill>
                  <a:srgbClr val="004D40"/>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核心价值：</a:t>
            </a:r>
            <a:br>
              <a:rPr lang="en-US" sz="1200" b="1" i="0" u="none" strike="noStrike">
                <a:solidFill>
                  <a:srgbClr val="004D40"/>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200" b="1" i="0" u="none" strike="noStrike">
                <a:solidFill>
                  <a:srgbClr val="004D40"/>
                </a:solidFill>
                <a:latin typeface="Noto Sans SC" panose="020B0200000000000000" charset="-122"/>
                <a:ea typeface="Noto Sans SC" panose="020B0200000000000000" charset="-122"/>
                <a:cs typeface="Noto Sans SC" panose="020B0200000000000000" charset="-122"/>
                <a:sym typeface="Noto Sans SC" panose="020B0200000000000000" charset="-122"/>
              </a:rPr>
              <a:t>建立内核能力的安全出口，支撑 AI 驱动的系统实验自动化与智能化演进。</a:t>
            </a:r>
            <a:endParaRPr lang="en-US" sz="11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AF8F5">
            <a:alpha val="100000"/>
          </a:srgbClr>
        </a:solidFill>
        <a:effectLst/>
      </p:bgPr>
    </p:bg>
    <p:spTree>
      <p:nvGrpSpPr>
        <p:cNvPr id="1" name=""/>
        <p:cNvGrpSpPr/>
        <p:nvPr/>
      </p:nvGrpSpPr>
      <p:grpSpPr>
        <a:xfrm>
          <a:off x="0" y="0"/>
          <a:ext cx="0" cy="0"/>
          <a:chOff x="0" y="0"/>
          <a:chExt cx="0" cy="0"/>
        </a:xfrm>
      </p:grpSpPr>
      <p:sp>
        <p:nvSpPr>
          <p:cNvPr id="3" name="AutoShape 3"/>
          <p:cNvSpPr/>
          <p:nvPr/>
        </p:nvSpPr>
        <p:spPr>
          <a:xfrm>
            <a:off x="95250" y="3082290"/>
            <a:ext cx="12192000" cy="762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4800" b="1" i="0" u="none" strike="noStrike">
                <a:solidFill>
                  <a:srgbClr val="1A1A1A"/>
                </a:solidFill>
                <a:latin typeface="Noto Sans SC" panose="020B0200000000000000" charset="-122"/>
                <a:ea typeface="Noto Sans SC" panose="020B0200000000000000" charset="-122"/>
                <a:cs typeface="Noto Sans SC" panose="020B0200000000000000" charset="-122"/>
                <a:sym typeface="Noto Sans SC" panose="020B0200000000000000" charset="-122"/>
              </a:rPr>
              <a:t>问题分析与机遇</a:t>
            </a:r>
            <a:endParaRPr lang="en-US" sz="1100"/>
          </a:p>
        </p:txBody>
      </p:sp>
      <p:sp>
        <p:nvSpPr>
          <p:cNvPr id="4" name="AutoShape 4"/>
          <p:cNvSpPr/>
          <p:nvPr/>
        </p:nvSpPr>
        <p:spPr>
          <a:xfrm>
            <a:off x="5683250" y="4176395"/>
            <a:ext cx="1016000" cy="50800"/>
          </a:xfrm>
          <a:prstGeom prst="roundRect">
            <a:avLst>
              <a:gd name="adj" fmla="val 0"/>
            </a:avLst>
          </a:prstGeom>
          <a:solidFill>
            <a:srgbClr val="004D40">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2"/>
          <p:cNvSpPr/>
          <p:nvPr/>
        </p:nvSpPr>
        <p:spPr>
          <a:xfrm>
            <a:off x="0" y="2286635"/>
            <a:ext cx="12192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400" b="0" i="0" u="none" strike="noStrike">
                <a:solidFill>
                  <a:srgbClr val="6B6B6B"/>
                </a:solidFill>
                <a:latin typeface="Noto Sans SC" panose="020B0200000000000000" charset="-122"/>
                <a:ea typeface="Noto Sans SC" panose="020B0200000000000000" charset="-122"/>
                <a:cs typeface="Noto Sans SC" panose="020B0200000000000000" charset="-122"/>
                <a:sym typeface="Noto Sans SC" panose="020B0200000000000000" charset="-122"/>
              </a:rPr>
              <a:t>02</a:t>
            </a:r>
            <a:endParaRPr lang="en-US" sz="11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AF8F5">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812800" y="558800"/>
            <a:ext cx="105664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1A1A1A"/>
                </a:solidFill>
                <a:latin typeface="Noto Sans SC" panose="020B0200000000000000" charset="-122"/>
                <a:ea typeface="Noto Sans SC" panose="020B0200000000000000" charset="-122"/>
                <a:cs typeface="Noto Sans SC" panose="020B0200000000000000" charset="-122"/>
                <a:sym typeface="Noto Sans SC" panose="020B0200000000000000" charset="-122"/>
              </a:rPr>
              <a:t>原版C-LiteOS-M存在三大核心痛点，构成系统性安全风险</a:t>
            </a:r>
            <a:endParaRPr lang="en-US" sz="1100"/>
          </a:p>
        </p:txBody>
      </p:sp>
      <p:sp>
        <p:nvSpPr>
          <p:cNvPr id="3" name="AutoShape 3"/>
          <p:cNvSpPr/>
          <p:nvPr/>
        </p:nvSpPr>
        <p:spPr>
          <a:xfrm>
            <a:off x="812800" y="1397000"/>
            <a:ext cx="3302000" cy="4826000"/>
          </a:xfrm>
          <a:prstGeom prst="roundRect">
            <a:avLst>
              <a:gd name="adj" fmla="val 3076"/>
            </a:avLst>
          </a:prstGeom>
          <a:solidFill>
            <a:srgbClr val="FFFFFF">
              <a:alpha val="100000"/>
            </a:srgbClr>
          </a:solidFill>
          <a:ln w="25400" cap="flat" cmpd="sng">
            <a:noFill/>
            <a:prstDash val="solid"/>
            <a:round/>
          </a:ln>
          <a:effectLst>
            <a:outerShdw blurRad="152400" dist="50800" dir="2700000" algn="tl" rotWithShape="0">
              <a:srgbClr val="000000">
                <a:alpha val="8000"/>
              </a:srgbClr>
            </a:outerShdw>
          </a:effectLst>
        </p:spPr>
        <p:txBody>
          <a:bodyPr vert="horz" wrap="square" lIns="63500" tIns="63500" rIns="63500" bIns="63500" rtlCol="0" anchor="ctr"/>
          <a:lstStyle/>
          <a:p>
            <a:pPr algn="ctr">
              <a:defRPr/>
            </a:pPr>
          </a:p>
        </p:txBody>
      </p:sp>
      <p:sp>
        <p:nvSpPr>
          <p:cNvPr id="4" name="AutoShape 4"/>
          <p:cNvSpPr/>
          <p:nvPr/>
        </p:nvSpPr>
        <p:spPr>
          <a:xfrm>
            <a:off x="812800" y="1397000"/>
            <a:ext cx="3302000" cy="76200"/>
          </a:xfrm>
          <a:prstGeom prst="roundRect">
            <a:avLst>
              <a:gd name="adj" fmla="val 0"/>
            </a:avLst>
          </a:prstGeom>
          <a:solidFill>
            <a:srgbClr val="004D40">
              <a:alpha val="100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1066800" y="1778000"/>
            <a:ext cx="914400" cy="914400"/>
          </a:xfrm>
          <a:prstGeom prst="ellipse">
            <a:avLst/>
          </a:prstGeom>
          <a:solidFill>
            <a:srgbClr val="B2DFDB">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6" name="Picture 6"/>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270000" y="1981200"/>
            <a:ext cx="508000" cy="508000"/>
          </a:xfrm>
          <a:prstGeom prst="rect">
            <a:avLst/>
          </a:prstGeom>
        </p:spPr>
      </p:pic>
      <p:sp>
        <p:nvSpPr>
          <p:cNvPr id="7" name="AutoShape 7"/>
          <p:cNvSpPr/>
          <p:nvPr/>
        </p:nvSpPr>
        <p:spPr>
          <a:xfrm>
            <a:off x="2159000" y="1841500"/>
            <a:ext cx="1651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4D40"/>
                </a:solidFill>
                <a:latin typeface="Noto Sans SC" panose="020B0200000000000000" charset="-122"/>
                <a:ea typeface="Noto Sans SC" panose="020B0200000000000000" charset="-122"/>
                <a:cs typeface="Noto Sans SC" panose="020B0200000000000000" charset="-122"/>
                <a:sym typeface="Noto Sans SC" panose="020B0200000000000000" charset="-122"/>
              </a:rPr>
              <a:t>内存安全</a:t>
            </a:r>
            <a:br>
              <a:rPr lang="en-US" sz="1800" b="1" i="0" u="none" strike="noStrike">
                <a:solidFill>
                  <a:srgbClr val="004D40"/>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800" b="1" i="0" u="none" strike="noStrike">
                <a:solidFill>
                  <a:srgbClr val="004D40"/>
                </a:solidFill>
                <a:latin typeface="Noto Sans SC" panose="020B0200000000000000" charset="-122"/>
                <a:ea typeface="Noto Sans SC" panose="020B0200000000000000" charset="-122"/>
                <a:cs typeface="Noto Sans SC" panose="020B0200000000000000" charset="-122"/>
                <a:sym typeface="Noto Sans SC" panose="020B0200000000000000" charset="-122"/>
              </a:rPr>
              <a:t>问题</a:t>
            </a:r>
            <a:endParaRPr lang="en-US" sz="1100"/>
          </a:p>
        </p:txBody>
      </p:sp>
      <p:cxnSp>
        <p:nvCxnSpPr>
          <p:cNvPr id="8" name="Connector 8"/>
          <p:cNvCxnSpPr/>
          <p:nvPr/>
        </p:nvCxnSpPr>
        <p:spPr>
          <a:xfrm rot="-15626">
            <a:off x="1066814" y="2914650"/>
            <a:ext cx="2794000" cy="12700"/>
          </a:xfrm>
          <a:prstGeom prst="straightConnector1">
            <a:avLst/>
          </a:prstGeom>
          <a:solidFill>
            <a:srgbClr val="DEE0E3">
              <a:alpha val="100000"/>
            </a:srgbClr>
          </a:solidFill>
          <a:ln w="12700" cap="flat" cmpd="sng">
            <a:solidFill>
              <a:srgbClr val="B2DFDB">
                <a:alpha val="100000"/>
              </a:srgbClr>
            </a:solidFill>
            <a:prstDash val="solid"/>
            <a:round/>
            <a:headEnd type="none" w="med" len="med"/>
            <a:tailEnd type="none" w="med" len="med"/>
          </a:ln>
        </p:spPr>
      </p:cxnSp>
      <p:sp>
        <p:nvSpPr>
          <p:cNvPr id="9" name="AutoShape 9"/>
          <p:cNvSpPr/>
          <p:nvPr/>
        </p:nvSpPr>
        <p:spPr>
          <a:xfrm>
            <a:off x="1066800" y="3175000"/>
            <a:ext cx="2794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6B6B6B"/>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核心风险特征：</a:t>
            </a:r>
            <a:endParaRPr lang="en-US" sz="1100"/>
          </a:p>
        </p:txBody>
      </p:sp>
      <p:sp>
        <p:nvSpPr>
          <p:cNvPr id="10" name="AutoShape 10"/>
          <p:cNvSpPr/>
          <p:nvPr/>
        </p:nvSpPr>
        <p:spPr>
          <a:xfrm>
            <a:off x="1066800" y="3683000"/>
            <a:ext cx="2794000" cy="1651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200" b="0" i="0" u="none" strike="noStrike">
                <a:solidFill>
                  <a:srgbClr val="1A1A1A"/>
                </a:solidFill>
                <a:latin typeface="Noto Sans SC" panose="020B0200000000000000" charset="-122"/>
                <a:ea typeface="Noto Sans SC" panose="020B0200000000000000" charset="-122"/>
                <a:cs typeface="Noto Sans SC" panose="020B0200000000000000" charset="-122"/>
                <a:sym typeface="Noto Sans SC" panose="020B0200000000000000" charset="-122"/>
              </a:rPr>
              <a:t>内核堆管理、任务控制块等核心路径中广泛存在</a:t>
            </a:r>
            <a:r>
              <a:rPr lang="en-US" sz="1200" b="1" i="0" u="none" strike="noStrike">
                <a:solidFill>
                  <a:srgbClr val="004D40"/>
                </a:solidFill>
                <a:latin typeface="Noto Sans SC" panose="020B0200000000000000" charset="-122"/>
                <a:ea typeface="Noto Sans SC" panose="020B0200000000000000" charset="-122"/>
                <a:cs typeface="Noto Sans SC" panose="020B0200000000000000" charset="-122"/>
                <a:sym typeface="Noto Sans SC" panose="020B0200000000000000" charset="-122"/>
              </a:rPr>
              <a:t>裸指针操作</a:t>
            </a:r>
            <a:r>
              <a:rPr lang="en-US" sz="1200" b="0" i="0" u="none" strike="noStrike">
                <a:solidFill>
                  <a:srgbClr val="1A1A1A"/>
                </a:solidFill>
                <a:latin typeface="Noto Sans SC" panose="020B0200000000000000" charset="-122"/>
                <a:ea typeface="Noto Sans SC" panose="020B0200000000000000" charset="-122"/>
                <a:cs typeface="Noto Sans SC" panose="020B0200000000000000" charset="-122"/>
                <a:sym typeface="Noto Sans SC" panose="020B0200000000000000" charset="-122"/>
              </a:rPr>
              <a:t>，极易引发UAF、越界写等致命错误。</a:t>
            </a:r>
            <a:endParaRPr lang="en-US" sz="1100"/>
          </a:p>
          <a:p>
            <a:pPr indent="0" algn="l">
              <a:lnSpc>
                <a:spcPct val="125000"/>
              </a:lnSpc>
            </a:pPr>
            <a:r>
              <a:rPr lang="en-US" sz="1200" b="0" i="0" u="none" strike="noStrike">
                <a:solidFill>
                  <a:srgbClr val="1A1A1A"/>
                </a:solidFill>
                <a:latin typeface="Noto Sans SC" panose="020B0200000000000000" charset="-122"/>
                <a:ea typeface="Noto Sans SC" panose="020B0200000000000000" charset="-122"/>
                <a:cs typeface="Noto Sans SC" panose="020B0200000000000000" charset="-122"/>
                <a:sym typeface="Noto Sans SC" panose="020B0200000000000000" charset="-122"/>
              </a:rPr>
              <a:t>复杂并发场景下的手动内存管理，难以保证长期正确性。</a:t>
            </a:r>
            <a:endParaRPr lang="en-US" sz="1200" b="0" i="0" u="none" strike="noStrike">
              <a:solidFill>
                <a:srgbClr val="1A1A1A"/>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1" name="AutoShape 11"/>
          <p:cNvSpPr/>
          <p:nvPr/>
        </p:nvSpPr>
        <p:spPr>
          <a:xfrm>
            <a:off x="4445000" y="1397000"/>
            <a:ext cx="3302000" cy="4826000"/>
          </a:xfrm>
          <a:prstGeom prst="roundRect">
            <a:avLst>
              <a:gd name="adj" fmla="val 3076"/>
            </a:avLst>
          </a:prstGeom>
          <a:solidFill>
            <a:srgbClr val="FFFFFF">
              <a:alpha val="100000"/>
            </a:srgbClr>
          </a:solidFill>
          <a:ln w="25400" cap="flat" cmpd="sng">
            <a:noFill/>
            <a:prstDash val="solid"/>
            <a:round/>
          </a:ln>
          <a:effectLst>
            <a:outerShdw blurRad="152400" dist="50800" dir="2700000" algn="tl" rotWithShape="0">
              <a:srgbClr val="000000">
                <a:alpha val="8000"/>
              </a:srgbClr>
            </a:outerShdw>
          </a:effectLst>
        </p:spPr>
        <p:txBody>
          <a:bodyPr vert="horz" wrap="square" lIns="63500" tIns="63500" rIns="63500" bIns="63500" rtlCol="0" anchor="ctr"/>
          <a:lstStyle/>
          <a:p>
            <a:pPr algn="ctr">
              <a:defRPr/>
            </a:pPr>
          </a:p>
        </p:txBody>
      </p:sp>
      <p:sp>
        <p:nvSpPr>
          <p:cNvPr id="12" name="AutoShape 12"/>
          <p:cNvSpPr/>
          <p:nvPr/>
        </p:nvSpPr>
        <p:spPr>
          <a:xfrm>
            <a:off x="4445000" y="1397000"/>
            <a:ext cx="3302000" cy="76200"/>
          </a:xfrm>
          <a:prstGeom prst="roundRect">
            <a:avLst>
              <a:gd name="adj" fmla="val 0"/>
            </a:avLst>
          </a:prstGeom>
          <a:solidFill>
            <a:srgbClr val="004D40">
              <a:alpha val="100000"/>
            </a:srgbClr>
          </a:solidFill>
          <a:ln w="25400" cap="flat" cmpd="sng">
            <a:noFill/>
            <a:prstDash val="solid"/>
            <a:round/>
          </a:ln>
        </p:spPr>
        <p:txBody>
          <a:bodyPr vert="horz" wrap="square" lIns="63500" tIns="63500" rIns="63500" bIns="63500" rtlCol="0" anchor="ctr"/>
          <a:lstStyle/>
          <a:p>
            <a:pPr algn="ctr">
              <a:defRPr/>
            </a:pPr>
          </a:p>
        </p:txBody>
      </p:sp>
      <p:sp>
        <p:nvSpPr>
          <p:cNvPr id="13" name="AutoShape 13"/>
          <p:cNvSpPr/>
          <p:nvPr/>
        </p:nvSpPr>
        <p:spPr>
          <a:xfrm>
            <a:off x="4699000" y="1778000"/>
            <a:ext cx="914400" cy="914400"/>
          </a:xfrm>
          <a:prstGeom prst="ellipse">
            <a:avLst/>
          </a:prstGeom>
          <a:solidFill>
            <a:srgbClr val="B2DFDB">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4" name="Picture 14"/>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902200" y="1981200"/>
            <a:ext cx="508000" cy="508000"/>
          </a:xfrm>
          <a:prstGeom prst="rect">
            <a:avLst/>
          </a:prstGeom>
        </p:spPr>
      </p:pic>
      <p:sp>
        <p:nvSpPr>
          <p:cNvPr id="15" name="AutoShape 15"/>
          <p:cNvSpPr/>
          <p:nvPr/>
        </p:nvSpPr>
        <p:spPr>
          <a:xfrm>
            <a:off x="5791200" y="1841500"/>
            <a:ext cx="1651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4D40"/>
                </a:solidFill>
                <a:latin typeface="Noto Sans SC" panose="020B0200000000000000" charset="-122"/>
                <a:ea typeface="Noto Sans SC" panose="020B0200000000000000" charset="-122"/>
                <a:cs typeface="Noto Sans SC" panose="020B0200000000000000" charset="-122"/>
                <a:sym typeface="Noto Sans SC" panose="020B0200000000000000" charset="-122"/>
              </a:rPr>
              <a:t>并发安全</a:t>
            </a:r>
            <a:br>
              <a:rPr lang="en-US" sz="1800" b="1" i="0" u="none" strike="noStrike">
                <a:solidFill>
                  <a:srgbClr val="004D40"/>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800" b="1" i="0" u="none" strike="noStrike">
                <a:solidFill>
                  <a:srgbClr val="004D40"/>
                </a:solidFill>
                <a:latin typeface="Noto Sans SC" panose="020B0200000000000000" charset="-122"/>
                <a:ea typeface="Noto Sans SC" panose="020B0200000000000000" charset="-122"/>
                <a:cs typeface="Noto Sans SC" panose="020B0200000000000000" charset="-122"/>
                <a:sym typeface="Noto Sans SC" panose="020B0200000000000000" charset="-122"/>
              </a:rPr>
              <a:t>问题</a:t>
            </a:r>
            <a:endParaRPr lang="en-US" sz="1100"/>
          </a:p>
        </p:txBody>
      </p:sp>
      <p:cxnSp>
        <p:nvCxnSpPr>
          <p:cNvPr id="16" name="Connector 16"/>
          <p:cNvCxnSpPr/>
          <p:nvPr/>
        </p:nvCxnSpPr>
        <p:spPr>
          <a:xfrm rot="-15626">
            <a:off x="4699014" y="2914650"/>
            <a:ext cx="2794000" cy="12700"/>
          </a:xfrm>
          <a:prstGeom prst="straightConnector1">
            <a:avLst/>
          </a:prstGeom>
          <a:solidFill>
            <a:srgbClr val="DEE0E3">
              <a:alpha val="100000"/>
            </a:srgbClr>
          </a:solidFill>
          <a:ln w="12700" cap="flat" cmpd="sng">
            <a:solidFill>
              <a:srgbClr val="B2DFDB">
                <a:alpha val="100000"/>
              </a:srgbClr>
            </a:solidFill>
            <a:prstDash val="solid"/>
            <a:round/>
            <a:headEnd type="none" w="med" len="med"/>
            <a:tailEnd type="none" w="med" len="med"/>
          </a:ln>
        </p:spPr>
      </p:cxnSp>
      <p:sp>
        <p:nvSpPr>
          <p:cNvPr id="17" name="AutoShape 17"/>
          <p:cNvSpPr/>
          <p:nvPr/>
        </p:nvSpPr>
        <p:spPr>
          <a:xfrm>
            <a:off x="4699000" y="3175000"/>
            <a:ext cx="2794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6B6B6B"/>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核心风险特征：</a:t>
            </a:r>
            <a:endParaRPr lang="en-US" sz="1100"/>
          </a:p>
        </p:txBody>
      </p:sp>
      <p:sp>
        <p:nvSpPr>
          <p:cNvPr id="18" name="AutoShape 18"/>
          <p:cNvSpPr/>
          <p:nvPr/>
        </p:nvSpPr>
        <p:spPr>
          <a:xfrm>
            <a:off x="4699000" y="3683000"/>
            <a:ext cx="2794000" cy="1651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200" b="0" i="0" u="none" strike="noStrike">
                <a:solidFill>
                  <a:srgbClr val="1A1A1A"/>
                </a:solidFill>
                <a:latin typeface="Noto Sans SC" panose="020B0200000000000000" charset="-122"/>
                <a:ea typeface="Noto Sans SC" panose="020B0200000000000000" charset="-122"/>
                <a:cs typeface="Noto Sans SC" panose="020B0200000000000000" charset="-122"/>
                <a:sym typeface="Noto Sans SC" panose="020B0200000000000000" charset="-122"/>
              </a:rPr>
              <a:t>完全依赖</a:t>
            </a:r>
            <a:r>
              <a:rPr lang="en-US" sz="1200" b="1" i="0" u="none" strike="noStrike">
                <a:solidFill>
                  <a:srgbClr val="004D40"/>
                </a:solidFill>
                <a:latin typeface="Noto Sans SC" panose="020B0200000000000000" charset="-122"/>
                <a:ea typeface="Noto Sans SC" panose="020B0200000000000000" charset="-122"/>
                <a:cs typeface="Noto Sans SC" panose="020B0200000000000000" charset="-122"/>
                <a:sym typeface="Noto Sans SC" panose="020B0200000000000000" charset="-122"/>
              </a:rPr>
              <a:t>人工加锁规范</a:t>
            </a:r>
            <a:r>
              <a:rPr lang="en-US" sz="1200" b="0" i="0" u="none" strike="noStrike">
                <a:solidFill>
                  <a:srgbClr val="1A1A1A"/>
                </a:solidFill>
                <a:latin typeface="Noto Sans SC" panose="020B0200000000000000" charset="-122"/>
                <a:ea typeface="Noto Sans SC" panose="020B0200000000000000" charset="-122"/>
                <a:cs typeface="Noto Sans SC" panose="020B0200000000000000" charset="-122"/>
                <a:sym typeface="Noto Sans SC" panose="020B0200000000000000" charset="-122"/>
              </a:rPr>
              <a:t>，在多任务/SMP场景下极易出现竞态条件和数据竞争。</a:t>
            </a:r>
            <a:endParaRPr lang="en-US" sz="1100"/>
          </a:p>
          <a:p>
            <a:pPr indent="0" algn="l">
              <a:lnSpc>
                <a:spcPct val="125000"/>
              </a:lnSpc>
            </a:pPr>
            <a:r>
              <a:rPr lang="en-US" sz="1200" b="0" i="0" u="none" strike="noStrike">
                <a:solidFill>
                  <a:srgbClr val="1A1A1A"/>
                </a:solidFill>
                <a:latin typeface="Noto Sans SC" panose="020B0200000000000000" charset="-122"/>
                <a:ea typeface="Noto Sans SC" panose="020B0200000000000000" charset="-122"/>
                <a:cs typeface="Noto Sans SC" panose="020B0200000000000000" charset="-122"/>
                <a:sym typeface="Noto Sans SC" panose="020B0200000000000000" charset="-122"/>
              </a:rPr>
              <a:t>编译期无法发现此类错误，导致问题在测试阶段难以复现和定位。</a:t>
            </a:r>
            <a:endParaRPr lang="en-US" sz="1200" b="0" i="0" u="none" strike="noStrike">
              <a:solidFill>
                <a:srgbClr val="1A1A1A"/>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9" name="AutoShape 19"/>
          <p:cNvSpPr/>
          <p:nvPr/>
        </p:nvSpPr>
        <p:spPr>
          <a:xfrm>
            <a:off x="8077200" y="1397000"/>
            <a:ext cx="3302000" cy="4826000"/>
          </a:xfrm>
          <a:prstGeom prst="roundRect">
            <a:avLst>
              <a:gd name="adj" fmla="val 3076"/>
            </a:avLst>
          </a:prstGeom>
          <a:solidFill>
            <a:srgbClr val="FFFFFF">
              <a:alpha val="100000"/>
            </a:srgbClr>
          </a:solidFill>
          <a:ln w="25400" cap="flat" cmpd="sng">
            <a:noFill/>
            <a:prstDash val="solid"/>
            <a:round/>
          </a:ln>
          <a:effectLst>
            <a:outerShdw blurRad="152400" dist="50800" dir="2700000" algn="tl" rotWithShape="0">
              <a:srgbClr val="000000">
                <a:alpha val="8000"/>
              </a:srgbClr>
            </a:outerShdw>
          </a:effectLst>
        </p:spPr>
        <p:txBody>
          <a:bodyPr vert="horz" wrap="square" lIns="63500" tIns="63500" rIns="63500" bIns="63500" rtlCol="0" anchor="ctr"/>
          <a:lstStyle/>
          <a:p>
            <a:pPr algn="ctr">
              <a:defRPr/>
            </a:pPr>
          </a:p>
        </p:txBody>
      </p:sp>
      <p:sp>
        <p:nvSpPr>
          <p:cNvPr id="20" name="AutoShape 20"/>
          <p:cNvSpPr/>
          <p:nvPr/>
        </p:nvSpPr>
        <p:spPr>
          <a:xfrm>
            <a:off x="8077200" y="1397000"/>
            <a:ext cx="3302000" cy="76200"/>
          </a:xfrm>
          <a:prstGeom prst="roundRect">
            <a:avLst>
              <a:gd name="adj" fmla="val 0"/>
            </a:avLst>
          </a:prstGeom>
          <a:solidFill>
            <a:srgbClr val="004D40">
              <a:alpha val="100000"/>
            </a:srgbClr>
          </a:solidFill>
          <a:ln w="25400" cap="flat" cmpd="sng">
            <a:noFill/>
            <a:prstDash val="solid"/>
            <a:round/>
          </a:ln>
        </p:spPr>
        <p:txBody>
          <a:bodyPr vert="horz" wrap="square" lIns="63500" tIns="63500" rIns="63500" bIns="63500" rtlCol="0" anchor="ctr"/>
          <a:lstStyle/>
          <a:p>
            <a:pPr algn="ctr">
              <a:defRPr/>
            </a:pPr>
          </a:p>
        </p:txBody>
      </p:sp>
      <p:sp>
        <p:nvSpPr>
          <p:cNvPr id="21" name="AutoShape 21"/>
          <p:cNvSpPr/>
          <p:nvPr/>
        </p:nvSpPr>
        <p:spPr>
          <a:xfrm>
            <a:off x="8331200" y="1778000"/>
            <a:ext cx="914400" cy="914400"/>
          </a:xfrm>
          <a:prstGeom prst="ellipse">
            <a:avLst/>
          </a:prstGeom>
          <a:solidFill>
            <a:srgbClr val="B2DFDB">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22" name="Picture 22"/>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534400" y="1981200"/>
            <a:ext cx="508000" cy="508000"/>
          </a:xfrm>
          <a:prstGeom prst="rect">
            <a:avLst/>
          </a:prstGeom>
        </p:spPr>
      </p:pic>
      <p:sp>
        <p:nvSpPr>
          <p:cNvPr id="23" name="AutoShape 23"/>
          <p:cNvSpPr/>
          <p:nvPr/>
        </p:nvSpPr>
        <p:spPr>
          <a:xfrm>
            <a:off x="9423400" y="1841500"/>
            <a:ext cx="1651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4D40"/>
                </a:solidFill>
                <a:latin typeface="Noto Sans SC" panose="020B0200000000000000" charset="-122"/>
                <a:ea typeface="Noto Sans SC" panose="020B0200000000000000" charset="-122"/>
                <a:cs typeface="Noto Sans SC" panose="020B0200000000000000" charset="-122"/>
                <a:sym typeface="Noto Sans SC" panose="020B0200000000000000" charset="-122"/>
              </a:rPr>
              <a:t>调用安全</a:t>
            </a:r>
            <a:br>
              <a:rPr lang="en-US" sz="1800" b="1" i="0" u="none" strike="noStrike">
                <a:solidFill>
                  <a:srgbClr val="004D40"/>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800" b="1" i="0" u="none" strike="noStrike">
                <a:solidFill>
                  <a:srgbClr val="004D40"/>
                </a:solidFill>
                <a:latin typeface="Noto Sans SC" panose="020B0200000000000000" charset="-122"/>
                <a:ea typeface="Noto Sans SC" panose="020B0200000000000000" charset="-122"/>
                <a:cs typeface="Noto Sans SC" panose="020B0200000000000000" charset="-122"/>
                <a:sym typeface="Noto Sans SC" panose="020B0200000000000000" charset="-122"/>
              </a:rPr>
              <a:t>与隔离问题</a:t>
            </a:r>
            <a:endParaRPr lang="en-US" sz="1100"/>
          </a:p>
        </p:txBody>
      </p:sp>
      <p:cxnSp>
        <p:nvCxnSpPr>
          <p:cNvPr id="24" name="Connector 24"/>
          <p:cNvCxnSpPr/>
          <p:nvPr/>
        </p:nvCxnSpPr>
        <p:spPr>
          <a:xfrm rot="-15626">
            <a:off x="8331214" y="2914650"/>
            <a:ext cx="2794000" cy="12700"/>
          </a:xfrm>
          <a:prstGeom prst="straightConnector1">
            <a:avLst/>
          </a:prstGeom>
          <a:solidFill>
            <a:srgbClr val="DEE0E3">
              <a:alpha val="100000"/>
            </a:srgbClr>
          </a:solidFill>
          <a:ln w="12700" cap="flat" cmpd="sng">
            <a:solidFill>
              <a:srgbClr val="B2DFDB">
                <a:alpha val="100000"/>
              </a:srgbClr>
            </a:solidFill>
            <a:prstDash val="solid"/>
            <a:round/>
            <a:headEnd type="none" w="med" len="med"/>
            <a:tailEnd type="none" w="med" len="med"/>
          </a:ln>
        </p:spPr>
      </p:cxnSp>
      <p:sp>
        <p:nvSpPr>
          <p:cNvPr id="25" name="AutoShape 25"/>
          <p:cNvSpPr/>
          <p:nvPr/>
        </p:nvSpPr>
        <p:spPr>
          <a:xfrm>
            <a:off x="8331200" y="3175000"/>
            <a:ext cx="2794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6B6B6B"/>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核心风险特征：</a:t>
            </a:r>
            <a:endParaRPr lang="en-US" sz="1100"/>
          </a:p>
        </p:txBody>
      </p:sp>
      <p:sp>
        <p:nvSpPr>
          <p:cNvPr id="26" name="AutoShape 26"/>
          <p:cNvSpPr/>
          <p:nvPr/>
        </p:nvSpPr>
        <p:spPr>
          <a:xfrm>
            <a:off x="8331200" y="3683000"/>
            <a:ext cx="2794000" cy="1651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200" b="0" i="0" u="none" strike="noStrike">
                <a:solidFill>
                  <a:srgbClr val="1A1A1A"/>
                </a:solidFill>
                <a:latin typeface="Noto Sans SC" panose="020B0200000000000000" charset="-122"/>
                <a:ea typeface="Noto Sans SC" panose="020B0200000000000000" charset="-122"/>
                <a:cs typeface="Noto Sans SC" panose="020B0200000000000000" charset="-122"/>
                <a:sym typeface="Noto Sans SC" panose="020B0200000000000000" charset="-122"/>
              </a:rPr>
              <a:t>接口缺乏</a:t>
            </a:r>
            <a:r>
              <a:rPr lang="en-US" sz="1200" b="1" i="0" u="none" strike="noStrike">
                <a:solidFill>
                  <a:srgbClr val="004D40"/>
                </a:solidFill>
                <a:latin typeface="Noto Sans SC" panose="020B0200000000000000" charset="-122"/>
                <a:ea typeface="Noto Sans SC" panose="020B0200000000000000" charset="-122"/>
                <a:cs typeface="Noto Sans SC" panose="020B0200000000000000" charset="-122"/>
                <a:sym typeface="Noto Sans SC" panose="020B0200000000000000" charset="-122"/>
              </a:rPr>
              <a:t>统一的能力边界和强类型约束</a:t>
            </a:r>
            <a:r>
              <a:rPr lang="en-US" sz="1200" b="0" i="0" u="none" strike="noStrike">
                <a:solidFill>
                  <a:srgbClr val="1A1A1A"/>
                </a:solidFill>
                <a:latin typeface="Noto Sans SC" panose="020B0200000000000000" charset="-122"/>
                <a:ea typeface="Noto Sans SC" panose="020B0200000000000000" charset="-122"/>
                <a:cs typeface="Noto Sans SC" panose="020B0200000000000000" charset="-122"/>
                <a:sym typeface="Noto Sans SC" panose="020B0200000000000000" charset="-122"/>
              </a:rPr>
              <a:t>，任意任务可调用所有内核API。</a:t>
            </a:r>
            <a:endParaRPr lang="en-US" sz="1100"/>
          </a:p>
          <a:p>
            <a:pPr indent="0" algn="l">
              <a:lnSpc>
                <a:spcPct val="125000"/>
              </a:lnSpc>
            </a:pPr>
            <a:r>
              <a:rPr lang="en-US" sz="1200" b="0" i="0" u="none" strike="noStrike">
                <a:solidFill>
                  <a:srgbClr val="1A1A1A"/>
                </a:solidFill>
                <a:latin typeface="Noto Sans SC" panose="020B0200000000000000" charset="-122"/>
                <a:ea typeface="Noto Sans SC" panose="020B0200000000000000" charset="-122"/>
                <a:cs typeface="Noto Sans SC" panose="020B0200000000000000" charset="-122"/>
                <a:sym typeface="Noto Sans SC" panose="020B0200000000000000" charset="-122"/>
              </a:rPr>
              <a:t>单点任务被攻破即威胁全局安全，系统缺乏有效的防御纵深。</a:t>
            </a:r>
            <a:endParaRPr lang="en-US" sz="1200" b="0" i="0" u="none" strike="noStrike">
              <a:solidFill>
                <a:srgbClr val="1A1A1A"/>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AF8F5">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812800" y="558800"/>
            <a:ext cx="105664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1A1A1A"/>
                </a:solidFill>
                <a:latin typeface="Noto Sans SC" panose="020B0200000000000000" charset="-122"/>
                <a:ea typeface="Noto Sans SC" panose="020B0200000000000000" charset="-122"/>
                <a:cs typeface="Noto Sans SC" panose="020B0200000000000000" charset="-122"/>
                <a:sym typeface="Noto Sans SC" panose="020B0200000000000000" charset="-122"/>
              </a:rPr>
              <a:t>项目顺应两大技术趋势，具备显著的前瞻性与重要性</a:t>
            </a:r>
            <a:endParaRPr lang="en-US" sz="1100"/>
          </a:p>
        </p:txBody>
      </p:sp>
      <p:sp>
        <p:nvSpPr>
          <p:cNvPr id="3" name="AutoShape 3"/>
          <p:cNvSpPr/>
          <p:nvPr/>
        </p:nvSpPr>
        <p:spPr>
          <a:xfrm>
            <a:off x="812800" y="1397000"/>
            <a:ext cx="5080000" cy="2413000"/>
          </a:xfrm>
          <a:prstGeom prst="roundRect">
            <a:avLst>
              <a:gd name="adj" fmla="val 6315"/>
            </a:avLst>
          </a:prstGeom>
          <a:solidFill>
            <a:srgbClr val="FFFFFF">
              <a:alpha val="100000"/>
            </a:srgbClr>
          </a:solidFill>
          <a:ln w="25400" cap="flat" cmpd="sng">
            <a:noFill/>
            <a:prstDash val="solid"/>
            <a:round/>
          </a:ln>
          <a:effectLst>
            <a:outerShdw blurRad="152400" dist="50800" dir="2700000" algn="tl" rotWithShape="0">
              <a:srgbClr val="000000">
                <a:alpha val="6000"/>
              </a:srgbClr>
            </a:outerShdw>
          </a:effectLst>
        </p:spPr>
        <p:txBody>
          <a:bodyPr vert="horz" wrap="square" lIns="63500" tIns="63500" rIns="63500" bIns="63500" rtlCol="0" anchor="ctr"/>
          <a:lstStyle/>
          <a:p>
            <a:pPr algn="ctr">
              <a:defRPr/>
            </a:pPr>
          </a:p>
        </p:txBody>
      </p:sp>
      <p:sp>
        <p:nvSpPr>
          <p:cNvPr id="4" name="AutoShape 4"/>
          <p:cNvSpPr/>
          <p:nvPr/>
        </p:nvSpPr>
        <p:spPr>
          <a:xfrm>
            <a:off x="812800" y="1397000"/>
            <a:ext cx="5080000" cy="50800"/>
          </a:xfrm>
          <a:prstGeom prst="roundRect">
            <a:avLst>
              <a:gd name="adj" fmla="val 0"/>
            </a:avLst>
          </a:prstGeom>
          <a:solidFill>
            <a:srgbClr val="004D40">
              <a:alpha val="100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1066800" y="1651000"/>
            <a:ext cx="4572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04D40"/>
                </a:solidFill>
                <a:latin typeface="Noto Sans SC" panose="020B0200000000000000" charset="-122"/>
                <a:ea typeface="Noto Sans SC" panose="020B0200000000000000" charset="-122"/>
                <a:cs typeface="Noto Sans SC" panose="020B0200000000000000" charset="-122"/>
                <a:sym typeface="Noto Sans SC" panose="020B0200000000000000" charset="-122"/>
              </a:rPr>
              <a:t>趋势一：内存安全语言成为系统编程新范式</a:t>
            </a:r>
            <a:endParaRPr lang="en-US" sz="1100"/>
          </a:p>
        </p:txBody>
      </p:sp>
      <p:sp>
        <p:nvSpPr>
          <p:cNvPr id="6" name="AutoShape 6"/>
          <p:cNvSpPr/>
          <p:nvPr/>
        </p:nvSpPr>
        <p:spPr>
          <a:xfrm>
            <a:off x="1066800" y="2222500"/>
            <a:ext cx="4572000" cy="762000"/>
          </a:xfrm>
          <a:prstGeom prst="roundRect">
            <a:avLst>
              <a:gd name="adj" fmla="val 10000"/>
            </a:avLst>
          </a:prstGeom>
          <a:solidFill>
            <a:srgbClr val="E0F2F1">
              <a:alpha val="50000"/>
            </a:srgbClr>
          </a:solidFill>
          <a:ln w="25400" cap="flat" cmpd="sng">
            <a:noFill/>
            <a:prstDash val="solid"/>
            <a:round/>
          </a:ln>
        </p:spPr>
        <p:txBody>
          <a:bodyPr vert="horz" wrap="square" lIns="63500" tIns="63500" rIns="63500" bIns="63500" rtlCol="0" anchor="ctr"/>
          <a:lstStyle/>
          <a:p>
            <a:pPr algn="ctr">
              <a:defRPr/>
            </a:pPr>
          </a:p>
        </p:txBody>
      </p:sp>
      <p:sp>
        <p:nvSpPr>
          <p:cNvPr id="7" name="AutoShape 7"/>
          <p:cNvSpPr/>
          <p:nvPr/>
        </p:nvSpPr>
        <p:spPr>
          <a:xfrm>
            <a:off x="1193800" y="2286000"/>
            <a:ext cx="4318000" cy="635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100" b="1" i="0" u="none" strike="noStrike">
                <a:solidFill>
                  <a:srgbClr val="004D40"/>
                </a:solidFill>
                <a:latin typeface="Noto Sans SC" panose="020B0200000000000000" charset="-122"/>
                <a:ea typeface="Noto Sans SC" panose="020B0200000000000000" charset="-122"/>
                <a:cs typeface="Noto Sans SC" panose="020B0200000000000000" charset="-122"/>
                <a:sym typeface="Noto Sans SC" panose="020B0200000000000000" charset="-122"/>
              </a:rPr>
              <a:t>行业共识：</a:t>
            </a:r>
            <a:r>
              <a:rPr lang="en-US" sz="11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Linux/Android/Windows均引入Rust；NSA报告建议关键基础设施全面迁移至内存安全语言。</a:t>
            </a:r>
            <a:endParaRPr lang="en-US" sz="1100"/>
          </a:p>
        </p:txBody>
      </p:sp>
      <p:sp>
        <p:nvSpPr>
          <p:cNvPr id="8" name="AutoShape 8"/>
          <p:cNvSpPr/>
          <p:nvPr/>
        </p:nvSpPr>
        <p:spPr>
          <a:xfrm>
            <a:off x="1066800" y="3048000"/>
            <a:ext cx="4572000" cy="635000"/>
          </a:xfrm>
          <a:prstGeom prst="roundRect">
            <a:avLst>
              <a:gd name="adj" fmla="val 12000"/>
            </a:avLst>
          </a:prstGeom>
          <a:solidFill>
            <a:srgbClr val="E0F2F1">
              <a:alpha val="50000"/>
            </a:srgbClr>
          </a:solidFill>
          <a:ln w="25400" cap="flat" cmpd="sng">
            <a:noFill/>
            <a:prstDash val="solid"/>
            <a:round/>
          </a:ln>
        </p:spPr>
        <p:txBody>
          <a:bodyPr vert="horz" wrap="square" lIns="63500" tIns="63500" rIns="63500" bIns="63500" rtlCol="0" anchor="ctr"/>
          <a:lstStyle/>
          <a:p>
            <a:pPr algn="ctr">
              <a:defRPr/>
            </a:pPr>
          </a:p>
        </p:txBody>
      </p:sp>
      <p:sp>
        <p:nvSpPr>
          <p:cNvPr id="9" name="AutoShape 9"/>
          <p:cNvSpPr/>
          <p:nvPr/>
        </p:nvSpPr>
        <p:spPr>
          <a:xfrm>
            <a:off x="1193800" y="3111500"/>
            <a:ext cx="4318000" cy="508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100" b="1" i="0" u="none" strike="noStrike">
                <a:solidFill>
                  <a:srgbClr val="004D40"/>
                </a:solidFill>
                <a:latin typeface="Noto Sans SC" panose="020B0200000000000000" charset="-122"/>
                <a:ea typeface="Noto Sans SC" panose="020B0200000000000000" charset="-122"/>
                <a:cs typeface="Noto Sans SC" panose="020B0200000000000000" charset="-122"/>
                <a:sym typeface="Noto Sans SC" panose="020B0200000000000000" charset="-122"/>
              </a:rPr>
              <a:t>项目机遇：</a:t>
            </a:r>
            <a:r>
              <a:rPr lang="en-US" sz="11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采用Rust重构LiteOS-M，顺应大势，构筑国产RTOS长期竞争力。</a:t>
            </a:r>
            <a:endParaRPr lang="en-US" sz="1100"/>
          </a:p>
        </p:txBody>
      </p:sp>
      <p:sp>
        <p:nvSpPr>
          <p:cNvPr id="10" name="AutoShape 10"/>
          <p:cNvSpPr/>
          <p:nvPr/>
        </p:nvSpPr>
        <p:spPr>
          <a:xfrm>
            <a:off x="812800" y="4064000"/>
            <a:ext cx="5080000" cy="2413000"/>
          </a:xfrm>
          <a:prstGeom prst="roundRect">
            <a:avLst>
              <a:gd name="adj" fmla="val 6315"/>
            </a:avLst>
          </a:prstGeom>
          <a:solidFill>
            <a:srgbClr val="FFFFFF">
              <a:alpha val="100000"/>
            </a:srgbClr>
          </a:solidFill>
          <a:ln w="25400" cap="flat" cmpd="sng">
            <a:noFill/>
            <a:prstDash val="solid"/>
            <a:round/>
          </a:ln>
          <a:effectLst>
            <a:outerShdw blurRad="152400" dist="50800" dir="2700000" algn="tl" rotWithShape="0">
              <a:srgbClr val="000000">
                <a:alpha val="6000"/>
              </a:srgbClr>
            </a:outerShdw>
          </a:effectLst>
        </p:spPr>
        <p:txBody>
          <a:bodyPr vert="horz" wrap="square" lIns="63500" tIns="63500" rIns="63500" bIns="63500" rtlCol="0" anchor="ctr"/>
          <a:lstStyle/>
          <a:p>
            <a:pPr algn="ctr">
              <a:defRPr/>
            </a:pPr>
          </a:p>
        </p:txBody>
      </p:sp>
      <p:sp>
        <p:nvSpPr>
          <p:cNvPr id="11" name="AutoShape 11"/>
          <p:cNvSpPr/>
          <p:nvPr/>
        </p:nvSpPr>
        <p:spPr>
          <a:xfrm>
            <a:off x="812800" y="4064000"/>
            <a:ext cx="5080000" cy="50800"/>
          </a:xfrm>
          <a:prstGeom prst="roundRect">
            <a:avLst>
              <a:gd name="adj" fmla="val 0"/>
            </a:avLst>
          </a:prstGeom>
          <a:solidFill>
            <a:srgbClr val="004D40">
              <a:alpha val="100000"/>
            </a:srgbClr>
          </a:solidFill>
          <a:ln w="25400" cap="flat" cmpd="sng">
            <a:noFill/>
            <a:prstDash val="solid"/>
            <a:round/>
          </a:ln>
        </p:spPr>
        <p:txBody>
          <a:bodyPr vert="horz" wrap="square" lIns="63500" tIns="63500" rIns="63500" bIns="63500" rtlCol="0" anchor="ctr"/>
          <a:lstStyle/>
          <a:p>
            <a:pPr algn="ctr">
              <a:defRPr/>
            </a:pPr>
          </a:p>
        </p:txBody>
      </p:sp>
      <p:sp>
        <p:nvSpPr>
          <p:cNvPr id="12" name="AutoShape 12"/>
          <p:cNvSpPr/>
          <p:nvPr/>
        </p:nvSpPr>
        <p:spPr>
          <a:xfrm>
            <a:off x="1066800" y="4318000"/>
            <a:ext cx="4572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04D40"/>
                </a:solidFill>
                <a:latin typeface="Noto Sans SC" panose="020B0200000000000000" charset="-122"/>
                <a:ea typeface="Noto Sans SC" panose="020B0200000000000000" charset="-122"/>
                <a:cs typeface="Noto Sans SC" panose="020B0200000000000000" charset="-122"/>
                <a:sym typeface="Noto Sans SC" panose="020B0200000000000000" charset="-122"/>
              </a:rPr>
              <a:t>趋势二：AI Agent 与操作系统深度融合</a:t>
            </a:r>
            <a:endParaRPr lang="en-US" sz="1100"/>
          </a:p>
        </p:txBody>
      </p:sp>
      <p:sp>
        <p:nvSpPr>
          <p:cNvPr id="13" name="AutoShape 13"/>
          <p:cNvSpPr/>
          <p:nvPr/>
        </p:nvSpPr>
        <p:spPr>
          <a:xfrm>
            <a:off x="1066800" y="4889500"/>
            <a:ext cx="4572000" cy="762000"/>
          </a:xfrm>
          <a:prstGeom prst="roundRect">
            <a:avLst>
              <a:gd name="adj" fmla="val 10000"/>
            </a:avLst>
          </a:prstGeom>
          <a:solidFill>
            <a:srgbClr val="E0F2F1">
              <a:alpha val="50000"/>
            </a:srgbClr>
          </a:solidFill>
          <a:ln w="25400" cap="flat" cmpd="sng">
            <a:noFill/>
            <a:prstDash val="solid"/>
            <a:round/>
          </a:ln>
        </p:spPr>
        <p:txBody>
          <a:bodyPr vert="horz" wrap="square" lIns="63500" tIns="63500" rIns="63500" bIns="63500" rtlCol="0" anchor="ctr"/>
          <a:lstStyle/>
          <a:p>
            <a:pPr algn="ctr">
              <a:defRPr/>
            </a:pPr>
          </a:p>
        </p:txBody>
      </p:sp>
      <p:sp>
        <p:nvSpPr>
          <p:cNvPr id="14" name="AutoShape 14"/>
          <p:cNvSpPr/>
          <p:nvPr/>
        </p:nvSpPr>
        <p:spPr>
          <a:xfrm>
            <a:off x="1193800" y="4953000"/>
            <a:ext cx="4318000" cy="635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100" b="1" i="0" u="none" strike="noStrike">
                <a:solidFill>
                  <a:srgbClr val="004D40"/>
                </a:solidFill>
                <a:latin typeface="Noto Sans SC" panose="020B0200000000000000" charset="-122"/>
                <a:ea typeface="Noto Sans SC" panose="020B0200000000000000" charset="-122"/>
                <a:cs typeface="Noto Sans SC" panose="020B0200000000000000" charset="-122"/>
                <a:sym typeface="Noto Sans SC" panose="020B0200000000000000" charset="-122"/>
              </a:rPr>
              <a:t>范式转变：</a:t>
            </a:r>
            <a:r>
              <a:rPr lang="en-US" sz="11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AI正从“聊天工具”进化为“自主执行”智能体，可自动生成代码并执行复杂内核任务。</a:t>
            </a:r>
            <a:endParaRPr lang="en-US" sz="1100"/>
          </a:p>
        </p:txBody>
      </p:sp>
      <p:sp>
        <p:nvSpPr>
          <p:cNvPr id="15" name="AutoShape 15"/>
          <p:cNvSpPr/>
          <p:nvPr/>
        </p:nvSpPr>
        <p:spPr>
          <a:xfrm>
            <a:off x="1066800" y="5715000"/>
            <a:ext cx="4572000" cy="635000"/>
          </a:xfrm>
          <a:prstGeom prst="roundRect">
            <a:avLst>
              <a:gd name="adj" fmla="val 12000"/>
            </a:avLst>
          </a:prstGeom>
          <a:solidFill>
            <a:srgbClr val="E0F2F1">
              <a:alpha val="50000"/>
            </a:srgbClr>
          </a:solidFill>
          <a:ln w="25400" cap="flat" cmpd="sng">
            <a:noFill/>
            <a:prstDash val="solid"/>
            <a:round/>
          </a:ln>
        </p:spPr>
        <p:txBody>
          <a:bodyPr vert="horz" wrap="square" lIns="63500" tIns="63500" rIns="63500" bIns="63500" rtlCol="0" anchor="ctr"/>
          <a:lstStyle/>
          <a:p>
            <a:pPr algn="ctr">
              <a:defRPr/>
            </a:pPr>
          </a:p>
        </p:txBody>
      </p:sp>
      <p:sp>
        <p:nvSpPr>
          <p:cNvPr id="16" name="AutoShape 16"/>
          <p:cNvSpPr/>
          <p:nvPr/>
        </p:nvSpPr>
        <p:spPr>
          <a:xfrm>
            <a:off x="1193800" y="5778500"/>
            <a:ext cx="4318000" cy="508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100" b="1" i="0" u="none" strike="noStrike">
                <a:solidFill>
                  <a:srgbClr val="004D40"/>
                </a:solidFill>
                <a:latin typeface="Noto Sans SC" panose="020B0200000000000000" charset="-122"/>
                <a:ea typeface="Noto Sans SC" panose="020B0200000000000000" charset="-122"/>
                <a:cs typeface="Noto Sans SC" panose="020B0200000000000000" charset="-122"/>
                <a:sym typeface="Noto Sans SC" panose="020B0200000000000000" charset="-122"/>
              </a:rPr>
              <a:t>项目机遇：</a:t>
            </a:r>
            <a:r>
              <a:rPr lang="en-US" sz="11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引入IronClaw框架，探索“NL→Agent→内核”闭环，奠基自愈型OS。</a:t>
            </a:r>
            <a:endParaRPr lang="en-US" sz="1100"/>
          </a:p>
        </p:txBody>
      </p:sp>
      <p:sp>
        <p:nvSpPr>
          <p:cNvPr id="17" name="AutoShape 17"/>
          <p:cNvSpPr/>
          <p:nvPr/>
        </p:nvSpPr>
        <p:spPr>
          <a:xfrm>
            <a:off x="6096000" y="1397000"/>
            <a:ext cx="5080000" cy="2413000"/>
          </a:xfrm>
          <a:prstGeom prst="roundRect">
            <a:avLst>
              <a:gd name="adj" fmla="val 6315"/>
            </a:avLst>
          </a:prstGeom>
          <a:solidFill>
            <a:srgbClr val="004D40">
              <a:alpha val="100000"/>
            </a:srgbClr>
          </a:solidFill>
          <a:ln w="25400" cap="flat" cmpd="sng">
            <a:noFill/>
            <a:prstDash val="solid"/>
            <a:round/>
          </a:ln>
          <a:effectLst>
            <a:outerShdw blurRad="203200" dist="76200" dir="2700000" algn="tl" rotWithShape="0">
              <a:srgbClr val="000000">
                <a:alpha val="14000"/>
              </a:srgbClr>
            </a:outerShdw>
          </a:effectLst>
        </p:spPr>
        <p:txBody>
          <a:bodyPr vert="horz" wrap="square" lIns="63500" tIns="63500" rIns="63500" bIns="63500" rtlCol="0" anchor="ctr"/>
          <a:lstStyle/>
          <a:p>
            <a:pPr algn="ctr">
              <a:defRPr/>
            </a:pPr>
          </a:p>
        </p:txBody>
      </p:sp>
      <p:pic>
        <p:nvPicPr>
          <p:cNvPr id="18" name="Picture 18"/>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6350000" y="1714500"/>
            <a:ext cx="711200" cy="711200"/>
          </a:xfrm>
          <a:prstGeom prst="rect">
            <a:avLst/>
          </a:prstGeom>
        </p:spPr>
      </p:pic>
      <p:sp>
        <p:nvSpPr>
          <p:cNvPr id="19" name="AutoShape 19"/>
          <p:cNvSpPr/>
          <p:nvPr/>
        </p:nvSpPr>
        <p:spPr>
          <a:xfrm>
            <a:off x="7239000" y="1714500"/>
            <a:ext cx="3683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Rust：系统级安全的终极答案</a:t>
            </a:r>
            <a:endParaRPr lang="en-US" sz="1100"/>
          </a:p>
        </p:txBody>
      </p:sp>
      <p:sp>
        <p:nvSpPr>
          <p:cNvPr id="20" name="AutoShape 20"/>
          <p:cNvSpPr/>
          <p:nvPr/>
        </p:nvSpPr>
        <p:spPr>
          <a:xfrm>
            <a:off x="6350000" y="2540000"/>
            <a:ext cx="4572000" cy="1079500"/>
          </a:xfrm>
          <a:prstGeom prst="roundRect">
            <a:avLst>
              <a:gd name="adj" fmla="val 9411"/>
            </a:avLst>
          </a:prstGeom>
          <a:solidFill>
            <a:srgbClr val="FFFFFF">
              <a:alpha val="12000"/>
            </a:srgbClr>
          </a:solidFill>
          <a:ln w="25400" cap="flat" cmpd="sng">
            <a:noFill/>
            <a:prstDash val="solid"/>
            <a:round/>
          </a:ln>
        </p:spPr>
        <p:txBody>
          <a:bodyPr vert="horz" wrap="square" lIns="63500" tIns="63500" rIns="63500" bIns="63500" rtlCol="0" anchor="ctr"/>
          <a:lstStyle/>
          <a:p>
            <a:pPr algn="ctr">
              <a:defRPr/>
            </a:pPr>
          </a:p>
        </p:txBody>
      </p:sp>
      <p:sp>
        <p:nvSpPr>
          <p:cNvPr id="21" name="AutoShape 21"/>
          <p:cNvSpPr/>
          <p:nvPr/>
        </p:nvSpPr>
        <p:spPr>
          <a:xfrm>
            <a:off x="6540500" y="2667000"/>
            <a:ext cx="4191000" cy="825500"/>
          </a:xfrm>
          <a:prstGeom prst="rect">
            <a:avLst/>
          </a:prstGeom>
          <a:noFill/>
          <a:ln w="12700" cap="flat" cmpd="sng">
            <a:noFill/>
            <a:prstDash val="solid"/>
            <a:round/>
          </a:ln>
        </p:spPr>
        <p:txBody>
          <a:bodyPr vert="horz" wrap="square" lIns="0" tIns="0" rIns="0" bIns="0" rtlCol="0" anchor="ctr" anchorCtr="0"/>
          <a:lstStyle/>
          <a:p>
            <a:pPr indent="0" algn="l">
              <a:lnSpc>
                <a:spcPct val="113000"/>
              </a:lnSpc>
              <a:defRPr/>
            </a:pPr>
            <a:r>
              <a:rPr lang="en-US" sz="1100" b="0" i="0" u="none" strike="noStrike">
                <a:solidFill>
                  <a:srgbClr val="E0F2F1"/>
                </a:solidFill>
                <a:latin typeface="Noto Sans SC" panose="020B0200000000000000" charset="-122"/>
                <a:ea typeface="Noto Sans SC" panose="020B0200000000000000" charset="-122"/>
                <a:cs typeface="Noto Sans SC" panose="020B0200000000000000" charset="-122"/>
                <a:sym typeface="Noto Sans SC" panose="020B0200000000000000" charset="-122"/>
              </a:rPr>
              <a:t>利用所有权、借用与生命周期机制，在编译期根除内存越界与并发数据竞争。其“零成本抽象”特性完美适配IoT设备资源受限的场景。</a:t>
            </a:r>
            <a:endParaRPr lang="en-US" sz="1100"/>
          </a:p>
        </p:txBody>
      </p:sp>
      <p:sp>
        <p:nvSpPr>
          <p:cNvPr id="22" name="AutoShape 22"/>
          <p:cNvSpPr/>
          <p:nvPr/>
        </p:nvSpPr>
        <p:spPr>
          <a:xfrm>
            <a:off x="6096000" y="4064000"/>
            <a:ext cx="5080000" cy="2413000"/>
          </a:xfrm>
          <a:prstGeom prst="roundRect">
            <a:avLst>
              <a:gd name="adj" fmla="val 6315"/>
            </a:avLst>
          </a:prstGeom>
          <a:solidFill>
            <a:srgbClr val="FFFFFF">
              <a:alpha val="100000"/>
            </a:srgbClr>
          </a:solidFill>
          <a:ln w="25400" cap="flat" cmpd="sng">
            <a:noFill/>
            <a:prstDash val="solid"/>
            <a:round/>
          </a:ln>
          <a:effectLst>
            <a:outerShdw blurRad="203200" dist="76200" dir="2700000" algn="tl" rotWithShape="0">
              <a:srgbClr val="000000">
                <a:alpha val="14000"/>
              </a:srgbClr>
            </a:outerShdw>
          </a:effectLst>
        </p:spPr>
        <p:txBody>
          <a:bodyPr vert="horz" wrap="square" lIns="63500" tIns="63500" rIns="63500" bIns="63500" rtlCol="0" anchor="ctr"/>
          <a:lstStyle/>
          <a:p>
            <a:pPr algn="ctr">
              <a:defRPr/>
            </a:pPr>
          </a:p>
        </p:txBody>
      </p:sp>
      <p:pic>
        <p:nvPicPr>
          <p:cNvPr id="23" name="Picture 23"/>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350000" y="4381500"/>
            <a:ext cx="711200" cy="711200"/>
          </a:xfrm>
          <a:prstGeom prst="rect">
            <a:avLst/>
          </a:prstGeom>
        </p:spPr>
      </p:pic>
      <p:sp>
        <p:nvSpPr>
          <p:cNvPr id="24" name="AutoShape 24"/>
          <p:cNvSpPr/>
          <p:nvPr/>
        </p:nvSpPr>
        <p:spPr>
          <a:xfrm>
            <a:off x="7239000" y="4381500"/>
            <a:ext cx="3683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4D40"/>
                </a:solidFill>
                <a:latin typeface="Noto Sans SC" panose="020B0200000000000000" charset="-122"/>
                <a:ea typeface="Noto Sans SC" panose="020B0200000000000000" charset="-122"/>
                <a:cs typeface="Noto Sans SC" panose="020B0200000000000000" charset="-122"/>
                <a:sym typeface="Noto Sans SC" panose="020B0200000000000000" charset="-122"/>
              </a:rPr>
              <a:t>IronClaw：AI与OS的安全桥梁</a:t>
            </a:r>
            <a:endParaRPr lang="en-US" sz="1100"/>
          </a:p>
        </p:txBody>
      </p:sp>
      <p:sp>
        <p:nvSpPr>
          <p:cNvPr id="25" name="AutoShape 25"/>
          <p:cNvSpPr/>
          <p:nvPr/>
        </p:nvSpPr>
        <p:spPr>
          <a:xfrm>
            <a:off x="6350000" y="5207000"/>
            <a:ext cx="4572000" cy="1079500"/>
          </a:xfrm>
          <a:prstGeom prst="roundRect">
            <a:avLst>
              <a:gd name="adj" fmla="val 9411"/>
            </a:avLst>
          </a:prstGeom>
          <a:solidFill>
            <a:srgbClr val="F0F4F4">
              <a:alpha val="100000"/>
            </a:srgbClr>
          </a:solidFill>
          <a:ln w="25400" cap="flat" cmpd="sng">
            <a:noFill/>
            <a:prstDash val="solid"/>
            <a:round/>
          </a:ln>
        </p:spPr>
        <p:txBody>
          <a:bodyPr vert="horz" wrap="square" lIns="63500" tIns="63500" rIns="63500" bIns="63500" rtlCol="0" anchor="ctr"/>
          <a:lstStyle/>
          <a:p>
            <a:pPr algn="ctr">
              <a:defRPr/>
            </a:pPr>
          </a:p>
        </p:txBody>
      </p:sp>
      <p:sp>
        <p:nvSpPr>
          <p:cNvPr id="26" name="AutoShape 26"/>
          <p:cNvSpPr/>
          <p:nvPr/>
        </p:nvSpPr>
        <p:spPr>
          <a:xfrm>
            <a:off x="6540500" y="5334000"/>
            <a:ext cx="4191000" cy="825500"/>
          </a:xfrm>
          <a:prstGeom prst="rect">
            <a:avLst/>
          </a:prstGeom>
          <a:noFill/>
          <a:ln w="12700" cap="flat" cmpd="sng">
            <a:noFill/>
            <a:prstDash val="solid"/>
            <a:round/>
          </a:ln>
        </p:spPr>
        <p:txBody>
          <a:bodyPr vert="horz" wrap="square" lIns="0" tIns="0" rIns="0" bIns="0" rtlCol="0" anchor="ctr" anchorCtr="0"/>
          <a:lstStyle/>
          <a:p>
            <a:pPr indent="0" algn="l">
              <a:lnSpc>
                <a:spcPct val="113000"/>
              </a:lnSpc>
              <a:defRPr/>
            </a:pPr>
            <a:r>
              <a:rPr lang="en-US" sz="1100" b="0" i="0" u="none" strike="noStrike">
                <a:solidFill>
                  <a:srgbClr val="464646"/>
                </a:solidFill>
                <a:latin typeface="Noto Sans SC" panose="020B0200000000000000" charset="-122"/>
                <a:ea typeface="Noto Sans SC" panose="020B0200000000000000" charset="-122"/>
                <a:cs typeface="Noto Sans SC" panose="020B0200000000000000" charset="-122"/>
                <a:sym typeface="Noto Sans SC" panose="020B0200000000000000" charset="-122"/>
              </a:rPr>
              <a:t>通过WASM沙箱隔离与能力安全模型，为AI Agent提供可控的内核交互接口。这是实现“智能体自主运维”与“自愈型操作系统”的关键路径。</a:t>
            </a:r>
            <a:endParaRPr lang="en-US" sz="11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AF8F5">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2286000"/>
            <a:ext cx="12192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400" b="0" i="0" u="none" strike="noStrike">
                <a:solidFill>
                  <a:srgbClr val="6B6B6B"/>
                </a:solidFill>
                <a:latin typeface="Noto Sans SC" panose="020B0200000000000000" charset="-122"/>
                <a:ea typeface="Noto Sans SC" panose="020B0200000000000000" charset="-122"/>
                <a:cs typeface="Noto Sans SC" panose="020B0200000000000000" charset="-122"/>
                <a:sym typeface="Noto Sans SC" panose="020B0200000000000000" charset="-122"/>
              </a:rPr>
              <a:t>03</a:t>
            </a:r>
            <a:endParaRPr lang="en-US" sz="1100"/>
          </a:p>
        </p:txBody>
      </p:sp>
      <p:sp>
        <p:nvSpPr>
          <p:cNvPr id="3" name="AutoShape 3"/>
          <p:cNvSpPr/>
          <p:nvPr/>
        </p:nvSpPr>
        <p:spPr>
          <a:xfrm>
            <a:off x="0" y="2921000"/>
            <a:ext cx="12192000" cy="889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4800" b="1" i="0" u="none" strike="noStrike">
                <a:solidFill>
                  <a:srgbClr val="1A1A1A"/>
                </a:solidFill>
                <a:latin typeface="Noto Sans SC" panose="020B0200000000000000" charset="-122"/>
                <a:ea typeface="Noto Sans SC" panose="020B0200000000000000" charset="-122"/>
                <a:cs typeface="Noto Sans SC" panose="020B0200000000000000" charset="-122"/>
                <a:sym typeface="Noto Sans SC" panose="020B0200000000000000" charset="-122"/>
              </a:rPr>
              <a:t>已完成工作与成果</a:t>
            </a:r>
            <a:endParaRPr lang="en-US" sz="1100"/>
          </a:p>
        </p:txBody>
      </p:sp>
      <p:sp>
        <p:nvSpPr>
          <p:cNvPr id="4" name="AutoShape 4"/>
          <p:cNvSpPr/>
          <p:nvPr/>
        </p:nvSpPr>
        <p:spPr>
          <a:xfrm>
            <a:off x="5588000" y="4064000"/>
            <a:ext cx="1016000" cy="50800"/>
          </a:xfrm>
          <a:prstGeom prst="roundRect">
            <a:avLst>
              <a:gd name="adj" fmla="val 0"/>
            </a:avLst>
          </a:prstGeom>
          <a:solidFill>
            <a:srgbClr val="004D40">
              <a:alpha val="100000"/>
            </a:srgbClr>
          </a:solidFill>
          <a:ln w="25400" cap="flat" cmpd="sng">
            <a:noFill/>
            <a:prstDash val="solid"/>
            <a:round/>
          </a:ln>
        </p:spPr>
        <p:txBody>
          <a:bodyPr vert="horz" wrap="square" lIns="63500" tIns="63500" rIns="63500" bIns="63500" rtlCol="0" anchor="ctr"/>
          <a:lstStyle/>
          <a:p>
            <a:pPr algn="ctr">
              <a:defRPr/>
            </a:p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AF8F5">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812800" y="558800"/>
            <a:ext cx="105664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1A1A1A"/>
                </a:solidFill>
                <a:latin typeface="Noto Sans SC" panose="020B0200000000000000" charset="-122"/>
                <a:ea typeface="Noto Sans SC" panose="020B0200000000000000" charset="-122"/>
                <a:cs typeface="Noto Sans SC" panose="020B0200000000000000" charset="-122"/>
                <a:sym typeface="Noto Sans SC" panose="020B0200000000000000" charset="-122"/>
              </a:rPr>
              <a:t>完成全面背景调研，明确项目切入点与研究价值</a:t>
            </a:r>
            <a:endParaRPr lang="en-US" sz="1100"/>
          </a:p>
        </p:txBody>
      </p:sp>
      <p:sp>
        <p:nvSpPr>
          <p:cNvPr id="3" name="AutoShape 3"/>
          <p:cNvSpPr/>
          <p:nvPr/>
        </p:nvSpPr>
        <p:spPr>
          <a:xfrm>
            <a:off x="812800" y="1397000"/>
            <a:ext cx="5080000" cy="4953000"/>
          </a:xfrm>
          <a:prstGeom prst="roundRect">
            <a:avLst>
              <a:gd name="adj" fmla="val 3076"/>
            </a:avLst>
          </a:prstGeom>
          <a:solidFill>
            <a:srgbClr val="FFFFFF">
              <a:alpha val="100000"/>
            </a:srgbClr>
          </a:solidFill>
          <a:ln w="25400" cap="flat" cmpd="sng">
            <a:noFill/>
            <a:prstDash val="solid"/>
            <a:round/>
          </a:ln>
          <a:effectLst>
            <a:outerShdw blurRad="203200" dist="50800" dir="5400000" algn="tl" rotWithShape="0">
              <a:srgbClr val="000000">
                <a:alpha val="6000"/>
              </a:srgbClr>
            </a:outerShdw>
          </a:effectLst>
        </p:spPr>
        <p:txBody>
          <a:bodyPr vert="horz" wrap="square" lIns="63500" tIns="63500" rIns="63500" bIns="63500" rtlCol="0" anchor="ctr"/>
          <a:lstStyle/>
          <a:p>
            <a:pPr algn="ctr">
              <a:defRPr/>
            </a:pPr>
          </a:p>
        </p:txBody>
      </p:sp>
      <p:sp>
        <p:nvSpPr>
          <p:cNvPr id="4" name="AutoShape 4"/>
          <p:cNvSpPr/>
          <p:nvPr/>
        </p:nvSpPr>
        <p:spPr>
          <a:xfrm>
            <a:off x="1066800" y="1651000"/>
            <a:ext cx="4572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4D40"/>
                </a:solidFill>
                <a:latin typeface="Noto Sans SC" panose="020B0200000000000000" charset="-122"/>
                <a:ea typeface="Noto Sans SC" panose="020B0200000000000000" charset="-122"/>
                <a:cs typeface="Noto Sans SC" panose="020B0200000000000000" charset="-122"/>
                <a:sym typeface="Noto Sans SC" panose="020B0200000000000000" charset="-122"/>
              </a:rPr>
              <a:t>LiteOS-M 内核模块改写现状分析</a:t>
            </a:r>
            <a:endParaRPr lang="en-US" sz="1100"/>
          </a:p>
        </p:txBody>
      </p:sp>
      <p:sp>
        <p:nvSpPr>
          <p:cNvPr id="5" name="AutoShape 5"/>
          <p:cNvSpPr/>
          <p:nvPr/>
        </p:nvSpPr>
        <p:spPr>
          <a:xfrm>
            <a:off x="1701800" y="2286000"/>
            <a:ext cx="3302000" cy="3302000"/>
          </a:xfrm>
          <a:prstGeom prst="donut">
            <a:avLst>
              <a:gd name="adj" fmla="val 15"/>
            </a:avLst>
          </a:prstGeom>
          <a:solidFill>
            <a:srgbClr val="004D40">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1701800" y="2286000"/>
            <a:ext cx="3302000" cy="3302000"/>
          </a:xfrm>
          <a:prstGeom prst="arc">
            <a:avLst>
              <a:gd name="adj1" fmla="val 900000"/>
              <a:gd name="adj2" fmla="val 1800000"/>
            </a:avLst>
          </a:prstGeom>
          <a:solidFill>
            <a:srgbClr val="B2DFDB">
              <a:alpha val="100000"/>
            </a:srgbClr>
          </a:solidFill>
          <a:ln w="25400" cap="flat" cmpd="sng">
            <a:noFill/>
            <a:prstDash val="solid"/>
            <a:round/>
          </a:ln>
        </p:spPr>
        <p:txBody>
          <a:bodyPr vert="horz" wrap="square" lIns="63500" tIns="63500" rIns="63500" bIns="63500" rtlCol="0" anchor="ctr"/>
          <a:lstStyle/>
          <a:p>
            <a:pPr algn="ctr">
              <a:defRPr/>
            </a:pPr>
          </a:p>
        </p:txBody>
      </p:sp>
      <p:sp>
        <p:nvSpPr>
          <p:cNvPr id="7" name="AutoShape 7"/>
          <p:cNvSpPr/>
          <p:nvPr/>
        </p:nvSpPr>
        <p:spPr>
          <a:xfrm>
            <a:off x="2082800" y="3302000"/>
            <a:ext cx="2540000" cy="762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4800" b="1" i="0" u="none" strike="noStrike">
                <a:solidFill>
                  <a:srgbClr val="004D40"/>
                </a:solidFill>
                <a:latin typeface="Noto Sans SC" panose="020B0200000000000000" charset="-122"/>
                <a:ea typeface="Noto Sans SC" panose="020B0200000000000000" charset="-122"/>
                <a:cs typeface="Noto Sans SC" panose="020B0200000000000000" charset="-122"/>
                <a:sym typeface="Noto Sans SC" panose="020B0200000000000000" charset="-122"/>
              </a:rPr>
              <a:t>11</a:t>
            </a:r>
            <a:r>
              <a:rPr lang="en-US" sz="2000" b="1" i="0" u="none" strike="noStrike">
                <a:solidFill>
                  <a:srgbClr val="004D40"/>
                </a:solidFill>
                <a:latin typeface="Noto Sans SC" panose="020B0200000000000000" charset="-122"/>
                <a:ea typeface="Noto Sans SC" panose="020B0200000000000000" charset="-122"/>
                <a:cs typeface="Noto Sans SC" panose="020B0200000000000000" charset="-122"/>
                <a:sym typeface="Noto Sans SC" panose="020B0200000000000000" charset="-122"/>
              </a:rPr>
              <a:t>个</a:t>
            </a:r>
            <a:endParaRPr lang="en-US" sz="1100"/>
          </a:p>
        </p:txBody>
      </p:sp>
      <p:sp>
        <p:nvSpPr>
          <p:cNvPr id="8" name="AutoShape 8"/>
          <p:cNvSpPr/>
          <p:nvPr/>
        </p:nvSpPr>
        <p:spPr>
          <a:xfrm>
            <a:off x="2082800" y="4191000"/>
            <a:ext cx="2540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400" b="0" i="0" u="none" strike="noStrike">
                <a:solidFill>
                  <a:srgbClr val="6B6B6B"/>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核心模块待改写</a:t>
            </a:r>
            <a:endParaRPr lang="en-US" sz="1100"/>
          </a:p>
        </p:txBody>
      </p:sp>
      <p:sp>
        <p:nvSpPr>
          <p:cNvPr id="9" name="AutoShape 9"/>
          <p:cNvSpPr/>
          <p:nvPr/>
        </p:nvSpPr>
        <p:spPr>
          <a:xfrm>
            <a:off x="1066800" y="5524500"/>
            <a:ext cx="4572000" cy="635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100" b="0" i="0" u="none" strike="noStrike">
                <a:solidFill>
                  <a:srgbClr val="6B6B6B"/>
                </a:solidFill>
                <a:latin typeface="Noto Sans SC" panose="020B0200000000000000" charset="-122"/>
                <a:ea typeface="Noto Sans SC" panose="020B0200000000000000" charset="-122"/>
                <a:cs typeface="Noto Sans SC" panose="020B0200000000000000" charset="-122"/>
                <a:sym typeface="Noto Sans SC" panose="020B0200000000000000" charset="-122"/>
              </a:rPr>
              <a:t>注：当前仅 los_memory.c 模块完成 Rust 改写。剩余任务、调度、IPC 等 11 个核心模块为本次项目的重点攻坚目标。</a:t>
            </a:r>
            <a:endParaRPr lang="en-US" sz="1100"/>
          </a:p>
        </p:txBody>
      </p:sp>
      <p:sp>
        <p:nvSpPr>
          <p:cNvPr id="10" name="AutoShape 10"/>
          <p:cNvSpPr/>
          <p:nvPr/>
        </p:nvSpPr>
        <p:spPr>
          <a:xfrm>
            <a:off x="6096000" y="1397000"/>
            <a:ext cx="5283200" cy="1524000"/>
          </a:xfrm>
          <a:prstGeom prst="roundRect">
            <a:avLst>
              <a:gd name="adj" fmla="val 10000"/>
            </a:avLst>
          </a:prstGeom>
          <a:solidFill>
            <a:srgbClr val="FFFFFF">
              <a:alpha val="100000"/>
            </a:srgbClr>
          </a:solidFill>
          <a:ln w="25400" cap="flat" cmpd="sng">
            <a:noFill/>
            <a:prstDash val="solid"/>
            <a:round/>
          </a:ln>
          <a:effectLst>
            <a:outerShdw blurRad="203200" dist="50800" dir="5400000" algn="tl" rotWithShape="0">
              <a:srgbClr val="000000">
                <a:alpha val="6000"/>
              </a:srgbClr>
            </a:outerShdw>
          </a:effectLst>
        </p:spPr>
        <p:txBody>
          <a:bodyPr vert="horz" wrap="square" lIns="63500" tIns="63500" rIns="63500" bIns="63500" rtlCol="0" anchor="ctr"/>
          <a:lstStyle/>
          <a:p>
            <a:pPr algn="ctr">
              <a:defRPr/>
            </a:pPr>
          </a:p>
        </p:txBody>
      </p:sp>
      <p:pic>
        <p:nvPicPr>
          <p:cNvPr id="11" name="Picture 11"/>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6350000" y="1651000"/>
            <a:ext cx="508000" cy="508000"/>
          </a:xfrm>
          <a:prstGeom prst="rect">
            <a:avLst/>
          </a:prstGeom>
        </p:spPr>
      </p:pic>
      <p:sp>
        <p:nvSpPr>
          <p:cNvPr id="12" name="AutoShape 12"/>
          <p:cNvSpPr/>
          <p:nvPr/>
        </p:nvSpPr>
        <p:spPr>
          <a:xfrm>
            <a:off x="7112000" y="1651000"/>
            <a:ext cx="3937000" cy="330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04D40"/>
                </a:solidFill>
                <a:latin typeface="Noto Sans SC" panose="020B0200000000000000" charset="-122"/>
                <a:ea typeface="Noto Sans SC" panose="020B0200000000000000" charset="-122"/>
                <a:cs typeface="Noto Sans SC" panose="020B0200000000000000" charset="-122"/>
                <a:sym typeface="Noto Sans SC" panose="020B0200000000000000" charset="-122"/>
              </a:rPr>
              <a:t>全面背景趋势深度调研</a:t>
            </a:r>
            <a:endParaRPr lang="en-US" sz="1100"/>
          </a:p>
        </p:txBody>
      </p:sp>
      <p:sp>
        <p:nvSpPr>
          <p:cNvPr id="13" name="AutoShape 13"/>
          <p:cNvSpPr/>
          <p:nvPr/>
        </p:nvSpPr>
        <p:spPr>
          <a:xfrm>
            <a:off x="7112000" y="2095500"/>
            <a:ext cx="3937000" cy="6985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100" b="0" i="0" u="none" strike="noStrike">
                <a:solidFill>
                  <a:srgbClr val="1A1A1A"/>
                </a:solidFill>
                <a:latin typeface="Noto Sans SC" panose="020B0200000000000000" charset="-122"/>
                <a:ea typeface="Noto Sans SC" panose="020B0200000000000000" charset="-122"/>
                <a:cs typeface="Noto Sans SC" panose="020B0200000000000000" charset="-122"/>
                <a:sym typeface="Noto Sans SC" panose="020B0200000000000000" charset="-122"/>
              </a:rPr>
              <a:t>综合研判 IoT 安全形势、C 语言内存缺陷、Rust 在嵌入式领域的生态成熟度，以及 AI 与操作系统融合的前沿技术趋势，为项目奠定坚实的理论基础。</a:t>
            </a:r>
            <a:endParaRPr lang="en-US" sz="1100"/>
          </a:p>
        </p:txBody>
      </p:sp>
      <p:sp>
        <p:nvSpPr>
          <p:cNvPr id="14" name="AutoShape 14"/>
          <p:cNvSpPr/>
          <p:nvPr/>
        </p:nvSpPr>
        <p:spPr>
          <a:xfrm>
            <a:off x="6096000" y="3111500"/>
            <a:ext cx="5283200" cy="1524000"/>
          </a:xfrm>
          <a:prstGeom prst="roundRect">
            <a:avLst>
              <a:gd name="adj" fmla="val 10000"/>
            </a:avLst>
          </a:prstGeom>
          <a:solidFill>
            <a:srgbClr val="FFFFFF">
              <a:alpha val="100000"/>
            </a:srgbClr>
          </a:solidFill>
          <a:ln w="25400" cap="flat" cmpd="sng">
            <a:noFill/>
            <a:prstDash val="solid"/>
            <a:round/>
          </a:ln>
          <a:effectLst>
            <a:outerShdw blurRad="203200" dist="50800" dir="5400000" algn="tl" rotWithShape="0">
              <a:srgbClr val="000000">
                <a:alpha val="6000"/>
              </a:srgbClr>
            </a:outerShdw>
          </a:effectLst>
        </p:spPr>
        <p:txBody>
          <a:bodyPr vert="horz" wrap="square" lIns="63500" tIns="63500" rIns="63500" bIns="63500" rtlCol="0" anchor="ctr"/>
          <a:lstStyle/>
          <a:p>
            <a:pPr algn="ctr">
              <a:defRPr/>
            </a:pPr>
          </a:p>
        </p:txBody>
      </p:sp>
      <p:pic>
        <p:nvPicPr>
          <p:cNvPr id="15" name="Picture 15"/>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350000" y="3365500"/>
            <a:ext cx="508000" cy="508000"/>
          </a:xfrm>
          <a:prstGeom prst="rect">
            <a:avLst/>
          </a:prstGeom>
        </p:spPr>
      </p:pic>
      <p:sp>
        <p:nvSpPr>
          <p:cNvPr id="16" name="AutoShape 16"/>
          <p:cNvSpPr/>
          <p:nvPr/>
        </p:nvSpPr>
        <p:spPr>
          <a:xfrm>
            <a:off x="7112000" y="3365500"/>
            <a:ext cx="3937000" cy="330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04D40"/>
                </a:solidFill>
                <a:latin typeface="Noto Sans SC" panose="020B0200000000000000" charset="-122"/>
                <a:ea typeface="Noto Sans SC" panose="020B0200000000000000" charset="-122"/>
                <a:cs typeface="Noto Sans SC" panose="020B0200000000000000" charset="-122"/>
                <a:sym typeface="Noto Sans SC" panose="020B0200000000000000" charset="-122"/>
              </a:rPr>
              <a:t>历届相关项目系统复盘</a:t>
            </a:r>
            <a:endParaRPr lang="en-US" sz="1100"/>
          </a:p>
        </p:txBody>
      </p:sp>
      <p:sp>
        <p:nvSpPr>
          <p:cNvPr id="17" name="AutoShape 17"/>
          <p:cNvSpPr/>
          <p:nvPr/>
        </p:nvSpPr>
        <p:spPr>
          <a:xfrm>
            <a:off x="7112000" y="3810000"/>
            <a:ext cx="3937000" cy="6985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100" b="0" i="0" u="none" strike="noStrike">
                <a:solidFill>
                  <a:srgbClr val="1A1A1A"/>
                </a:solidFill>
                <a:latin typeface="Noto Sans SC" panose="020B0200000000000000" charset="-122"/>
                <a:ea typeface="Noto Sans SC" panose="020B0200000000000000" charset="-122"/>
                <a:cs typeface="Noto Sans SC" panose="020B0200000000000000" charset="-122"/>
                <a:sym typeface="Noto Sans SC" panose="020B0200000000000000" charset="-122"/>
              </a:rPr>
              <a:t>梳理 2019-2024 年 OSH 课程中 Rust 改写类项目（如 x-rust-freertos、RushToLight），提炼 C/Rust 混合编译、关键数据结构迁移等可复用的技术经验。</a:t>
            </a:r>
            <a:endParaRPr lang="en-US" sz="1100"/>
          </a:p>
        </p:txBody>
      </p:sp>
      <p:sp>
        <p:nvSpPr>
          <p:cNvPr id="18" name="AutoShape 18"/>
          <p:cNvSpPr/>
          <p:nvPr/>
        </p:nvSpPr>
        <p:spPr>
          <a:xfrm>
            <a:off x="6096000" y="4826000"/>
            <a:ext cx="5283200" cy="1524000"/>
          </a:xfrm>
          <a:prstGeom prst="roundRect">
            <a:avLst>
              <a:gd name="adj" fmla="val 10000"/>
            </a:avLst>
          </a:prstGeom>
          <a:solidFill>
            <a:srgbClr val="FFFFFF">
              <a:alpha val="100000"/>
            </a:srgbClr>
          </a:solidFill>
          <a:ln w="25400" cap="flat" cmpd="sng">
            <a:noFill/>
            <a:prstDash val="solid"/>
            <a:round/>
          </a:ln>
          <a:effectLst>
            <a:outerShdw blurRad="203200" dist="50800" dir="5400000" algn="tl" rotWithShape="0">
              <a:srgbClr val="000000">
                <a:alpha val="6000"/>
              </a:srgbClr>
            </a:outerShdw>
          </a:effectLst>
        </p:spPr>
        <p:txBody>
          <a:bodyPr vert="horz" wrap="square" lIns="63500" tIns="63500" rIns="63500" bIns="63500" rtlCol="0" anchor="ctr"/>
          <a:lstStyle/>
          <a:p>
            <a:pPr algn="ctr">
              <a:defRPr/>
            </a:pPr>
          </a:p>
        </p:txBody>
      </p:sp>
      <p:pic>
        <p:nvPicPr>
          <p:cNvPr id="19" name="Picture 19"/>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350000" y="5080000"/>
            <a:ext cx="508000" cy="508000"/>
          </a:xfrm>
          <a:prstGeom prst="rect">
            <a:avLst/>
          </a:prstGeom>
        </p:spPr>
      </p:pic>
      <p:sp>
        <p:nvSpPr>
          <p:cNvPr id="20" name="AutoShape 20"/>
          <p:cNvSpPr/>
          <p:nvPr/>
        </p:nvSpPr>
        <p:spPr>
          <a:xfrm>
            <a:off x="7112000" y="5080000"/>
            <a:ext cx="3937000" cy="330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04D40"/>
                </a:solidFill>
                <a:latin typeface="Noto Sans SC" panose="020B0200000000000000" charset="-122"/>
                <a:ea typeface="Noto Sans SC" panose="020B0200000000000000" charset="-122"/>
                <a:cs typeface="Noto Sans SC" panose="020B0200000000000000" charset="-122"/>
                <a:sym typeface="Noto Sans SC" panose="020B0200000000000000" charset="-122"/>
              </a:rPr>
              <a:t>切入点确认与研究价值</a:t>
            </a:r>
            <a:endParaRPr lang="en-US" sz="1100"/>
          </a:p>
        </p:txBody>
      </p:sp>
      <p:sp>
        <p:nvSpPr>
          <p:cNvPr id="21" name="AutoShape 21"/>
          <p:cNvSpPr/>
          <p:nvPr/>
        </p:nvSpPr>
        <p:spPr>
          <a:xfrm>
            <a:off x="7112000" y="5524500"/>
            <a:ext cx="3937000" cy="6985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100" b="0" i="0" u="none" strike="noStrike">
                <a:solidFill>
                  <a:srgbClr val="1A1A1A"/>
                </a:solidFill>
                <a:latin typeface="Noto Sans SC" panose="020B0200000000000000" charset="-122"/>
                <a:ea typeface="Noto Sans SC" panose="020B0200000000000000" charset="-122"/>
                <a:cs typeface="Noto Sans SC" panose="020B0200000000000000" charset="-122"/>
                <a:sym typeface="Noto Sans SC" panose="020B0200000000000000" charset="-122"/>
              </a:rPr>
              <a:t>验证了 Rust 改写 RTOS 内核的技术可行性，并锁定 LiteOS-M 中未被触及的</a:t>
            </a:r>
            <a:r>
              <a:rPr lang="en-US" sz="1100" b="1" i="0" u="none" strike="noStrike">
                <a:solidFill>
                  <a:srgbClr val="004D40"/>
                </a:solidFill>
                <a:latin typeface="Noto Sans SC" panose="020B0200000000000000" charset="-122"/>
                <a:ea typeface="Noto Sans SC" panose="020B0200000000000000" charset="-122"/>
                <a:cs typeface="Noto Sans SC" panose="020B0200000000000000" charset="-122"/>
                <a:sym typeface="Noto Sans SC" panose="020B0200000000000000" charset="-122"/>
              </a:rPr>
              <a:t>11个核心 C 模块</a:t>
            </a:r>
            <a:r>
              <a:rPr lang="en-US" sz="1100" b="0" i="0" u="none" strike="noStrike">
                <a:solidFill>
                  <a:srgbClr val="1A1A1A"/>
                </a:solidFill>
                <a:latin typeface="Noto Sans SC" panose="020B0200000000000000" charset="-122"/>
                <a:ea typeface="Noto Sans SC" panose="020B0200000000000000" charset="-122"/>
                <a:cs typeface="Noto Sans SC" panose="020B0200000000000000" charset="-122"/>
                <a:sym typeface="Noto Sans SC" panose="020B0200000000000000" charset="-122"/>
              </a:rPr>
              <a:t>，明确了本项目的攻坚方向与核心创新价值。</a:t>
            </a:r>
            <a:endParaRPr lang="en-US" sz="11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AF8F5">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812800" y="558800"/>
            <a:ext cx="105664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1A1A1A"/>
                </a:solidFill>
                <a:latin typeface="Noto Sans SC" panose="020B0200000000000000" charset="-122"/>
                <a:ea typeface="Noto Sans SC" panose="020B0200000000000000" charset="-122"/>
                <a:cs typeface="Noto Sans SC" panose="020B0200000000000000" charset="-122"/>
                <a:sym typeface="Noto Sans SC" panose="020B0200000000000000" charset="-122"/>
              </a:rPr>
              <a:t>理论与技术双重论证，项目实施路径清晰可行</a:t>
            </a:r>
            <a:endParaRPr lang="en-US" sz="1100"/>
          </a:p>
        </p:txBody>
      </p:sp>
      <p:sp>
        <p:nvSpPr>
          <p:cNvPr id="3" name="AutoShape 3"/>
          <p:cNvSpPr/>
          <p:nvPr/>
        </p:nvSpPr>
        <p:spPr>
          <a:xfrm>
            <a:off x="812800" y="1397000"/>
            <a:ext cx="5080000" cy="4826000"/>
          </a:xfrm>
          <a:prstGeom prst="roundRect">
            <a:avLst>
              <a:gd name="adj" fmla="val 3157"/>
            </a:avLst>
          </a:prstGeom>
          <a:solidFill>
            <a:srgbClr val="FFFFFF">
              <a:alpha val="100000"/>
            </a:srgbClr>
          </a:solidFill>
          <a:ln w="25400" cap="flat" cmpd="sng">
            <a:noFill/>
            <a:prstDash val="solid"/>
            <a:round/>
          </a:ln>
          <a:effectLst>
            <a:outerShdw blurRad="203200" dist="50800" dir="2700000" algn="tl" rotWithShape="0">
              <a:srgbClr val="000000">
                <a:alpha val="8000"/>
              </a:srgbClr>
            </a:outerShdw>
          </a:effectLst>
        </p:spPr>
        <p:txBody>
          <a:bodyPr vert="horz" wrap="square" lIns="63500" tIns="63500" rIns="63500" bIns="63500" rtlCol="0" anchor="ctr"/>
          <a:lstStyle/>
          <a:p>
            <a:pPr algn="ctr">
              <a:defRPr/>
            </a:pPr>
          </a:p>
        </p:txBody>
      </p:sp>
      <p:sp>
        <p:nvSpPr>
          <p:cNvPr id="4" name="AutoShape 4"/>
          <p:cNvSpPr/>
          <p:nvPr/>
        </p:nvSpPr>
        <p:spPr>
          <a:xfrm>
            <a:off x="812800" y="1397000"/>
            <a:ext cx="5080000" cy="76200"/>
          </a:xfrm>
          <a:prstGeom prst="roundRect">
            <a:avLst>
              <a:gd name="adj" fmla="val 0"/>
            </a:avLst>
          </a:prstGeom>
          <a:solidFill>
            <a:srgbClr val="004D40">
              <a:alpha val="100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1066800" y="1778000"/>
            <a:ext cx="711200" cy="711200"/>
          </a:xfrm>
          <a:prstGeom prst="ellipse">
            <a:avLst/>
          </a:prstGeom>
          <a:solidFill>
            <a:srgbClr val="E0F2F1">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6" name="Picture 6"/>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219200" y="1930400"/>
            <a:ext cx="406400" cy="406400"/>
          </a:xfrm>
          <a:prstGeom prst="rect">
            <a:avLst/>
          </a:prstGeom>
        </p:spPr>
      </p:pic>
      <p:sp>
        <p:nvSpPr>
          <p:cNvPr id="7" name="AutoShape 7"/>
          <p:cNvSpPr/>
          <p:nvPr/>
        </p:nvSpPr>
        <p:spPr>
          <a:xfrm>
            <a:off x="2032000" y="1778000"/>
            <a:ext cx="3556000" cy="711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4D40"/>
                </a:solidFill>
                <a:latin typeface="Noto Sans SC" panose="020B0200000000000000" charset="-122"/>
                <a:ea typeface="Noto Sans SC" panose="020B0200000000000000" charset="-122"/>
                <a:cs typeface="Noto Sans SC" panose="020B0200000000000000" charset="-122"/>
                <a:sym typeface="Noto Sans SC" panose="020B0200000000000000" charset="-122"/>
              </a:rPr>
              <a:t>理论依据：Rust 的内在优势</a:t>
            </a:r>
            <a:endParaRPr lang="en-US" sz="1100"/>
          </a:p>
        </p:txBody>
      </p:sp>
      <p:cxnSp>
        <p:nvCxnSpPr>
          <p:cNvPr id="8" name="Connector 8"/>
          <p:cNvCxnSpPr/>
          <p:nvPr/>
        </p:nvCxnSpPr>
        <p:spPr>
          <a:xfrm rot="-9549">
            <a:off x="1066809" y="2660650"/>
            <a:ext cx="4572000" cy="12700"/>
          </a:xfrm>
          <a:prstGeom prst="straightConnector1">
            <a:avLst/>
          </a:prstGeom>
          <a:solidFill>
            <a:srgbClr val="DEE0E3">
              <a:alpha val="100000"/>
            </a:srgbClr>
          </a:solidFill>
          <a:ln w="12700" cap="flat" cmpd="sng">
            <a:solidFill>
              <a:srgbClr val="E6E6E6">
                <a:alpha val="100000"/>
              </a:srgbClr>
            </a:solidFill>
            <a:prstDash val="solid"/>
            <a:round/>
            <a:headEnd type="none" w="med" len="med"/>
            <a:tailEnd type="none" w="med" len="med"/>
          </a:ln>
        </p:spPr>
      </p:cxnSp>
      <p:sp>
        <p:nvSpPr>
          <p:cNvPr id="9" name="AutoShape 9"/>
          <p:cNvSpPr/>
          <p:nvPr/>
        </p:nvSpPr>
        <p:spPr>
          <a:xfrm>
            <a:off x="1066800" y="2921000"/>
            <a:ext cx="4572000" cy="1778000"/>
          </a:xfrm>
          <a:prstGeom prst="roundRect">
            <a:avLst>
              <a:gd name="adj" fmla="val 5714"/>
            </a:avLst>
          </a:prstGeom>
          <a:solidFill>
            <a:srgbClr val="F7F9F9">
              <a:alpha val="100000"/>
            </a:srgbClr>
          </a:solidFill>
          <a:ln w="25400" cap="flat" cmpd="sng">
            <a:noFill/>
            <a:prstDash val="solid"/>
            <a:round/>
          </a:ln>
        </p:spPr>
        <p:txBody>
          <a:bodyPr vert="horz" wrap="square" lIns="63500" tIns="63500" rIns="63500" bIns="63500" rtlCol="0" anchor="ctr"/>
          <a:lstStyle/>
          <a:p>
            <a:pPr algn="ctr">
              <a:defRPr/>
            </a:pPr>
          </a:p>
        </p:txBody>
      </p:sp>
      <p:sp>
        <p:nvSpPr>
          <p:cNvPr id="10" name="AutoShape 10"/>
          <p:cNvSpPr/>
          <p:nvPr/>
        </p:nvSpPr>
        <p:spPr>
          <a:xfrm>
            <a:off x="1270000" y="3073400"/>
            <a:ext cx="4165600" cy="14732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2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方案具备坚实的底层理论支撑：</a:t>
            </a:r>
            <a:endParaRPr lang="en-US" sz="1100"/>
          </a:p>
          <a:p>
            <a:pPr indent="0" algn="l">
              <a:lnSpc>
                <a:spcPct val="125000"/>
              </a:lnSpc>
            </a:pPr>
            <a:r>
              <a:rPr lang="en-US" sz="12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1200" b="1"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内存安全：</a:t>
            </a:r>
            <a:r>
              <a:rPr lang="en-US" sz="12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所有权、借用与生命周期机制，在编译期彻底根除内存越界与空指针问题。</a:t>
            </a:r>
            <a:endParaRPr lang="en-US" sz="12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25000"/>
              </a:lnSpc>
            </a:pPr>
            <a:r>
              <a:rPr lang="en-US" sz="12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1200" b="1"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并发安全：</a:t>
            </a:r>
            <a:r>
              <a:rPr lang="en-US" sz="12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Send/Sync trait 静态强制约束，避免数据竞争风险。</a:t>
            </a:r>
            <a:endParaRPr lang="en-US" sz="12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25000"/>
              </a:lnSpc>
            </a:pPr>
            <a:r>
              <a:rPr lang="en-US" sz="12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1200" b="1"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极致性能：</a:t>
            </a:r>
            <a:r>
              <a:rPr lang="en-US" sz="12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零成本抽象特性，完美适配 IoT 设备的资源受限场景。</a:t>
            </a:r>
            <a:endParaRPr lang="en-US" sz="12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1" name="AutoShape 11"/>
          <p:cNvSpPr/>
          <p:nvPr/>
        </p:nvSpPr>
        <p:spPr>
          <a:xfrm>
            <a:off x="1066800" y="4953000"/>
            <a:ext cx="4572000" cy="889000"/>
          </a:xfrm>
          <a:prstGeom prst="roundRect">
            <a:avLst>
              <a:gd name="adj" fmla="val 11428"/>
            </a:avLst>
          </a:prstGeom>
          <a:solidFill>
            <a:srgbClr val="B2DFDB">
              <a:alpha val="40000"/>
            </a:srgbClr>
          </a:solidFill>
          <a:ln w="25400" cap="flat" cmpd="sng">
            <a:noFill/>
            <a:prstDash val="solid"/>
            <a:round/>
          </a:ln>
        </p:spPr>
        <p:txBody>
          <a:bodyPr vert="horz" wrap="square" lIns="63500" tIns="63500" rIns="63500" bIns="63500" rtlCol="0" anchor="ctr"/>
          <a:lstStyle/>
          <a:p>
            <a:pPr algn="ctr">
              <a:defRPr/>
            </a:pPr>
          </a:p>
        </p:txBody>
      </p:sp>
      <p:sp>
        <p:nvSpPr>
          <p:cNvPr id="12" name="AutoShape 12"/>
          <p:cNvSpPr/>
          <p:nvPr/>
        </p:nvSpPr>
        <p:spPr>
          <a:xfrm>
            <a:off x="1270000" y="5080000"/>
            <a:ext cx="4165600" cy="635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200" b="1" i="0" u="none" strike="noStrike">
                <a:solidFill>
                  <a:srgbClr val="004D40"/>
                </a:solidFill>
                <a:latin typeface="Noto Sans SC" panose="020B0200000000000000" charset="-122"/>
                <a:ea typeface="Noto Sans SC" panose="020B0200000000000000" charset="-122"/>
                <a:cs typeface="Noto Sans SC" panose="020B0200000000000000" charset="-122"/>
                <a:sym typeface="Noto Sans SC" panose="020B0200000000000000" charset="-122"/>
              </a:rPr>
              <a:t>结论：任务、调度、IPC 等核心模块适合用 Rust 封装，以类型安全替代原 C 语言实现。</a:t>
            </a:r>
            <a:endParaRPr lang="en-US" sz="1100"/>
          </a:p>
        </p:txBody>
      </p:sp>
      <p:sp>
        <p:nvSpPr>
          <p:cNvPr id="13" name="AutoShape 13"/>
          <p:cNvSpPr/>
          <p:nvPr/>
        </p:nvSpPr>
        <p:spPr>
          <a:xfrm>
            <a:off x="6299200" y="1397000"/>
            <a:ext cx="5080000" cy="4826000"/>
          </a:xfrm>
          <a:prstGeom prst="roundRect">
            <a:avLst>
              <a:gd name="adj" fmla="val 3157"/>
            </a:avLst>
          </a:prstGeom>
          <a:solidFill>
            <a:srgbClr val="FFFFFF">
              <a:alpha val="100000"/>
            </a:srgbClr>
          </a:solidFill>
          <a:ln w="25400" cap="flat" cmpd="sng">
            <a:noFill/>
            <a:prstDash val="solid"/>
            <a:round/>
          </a:ln>
          <a:effectLst>
            <a:outerShdw blurRad="203200" dist="50800" dir="2700000" algn="tl" rotWithShape="0">
              <a:srgbClr val="000000">
                <a:alpha val="8000"/>
              </a:srgbClr>
            </a:outerShdw>
          </a:effectLst>
        </p:spPr>
        <p:txBody>
          <a:bodyPr vert="horz" wrap="square" lIns="63500" tIns="63500" rIns="63500" bIns="63500" rtlCol="0" anchor="ctr"/>
          <a:lstStyle/>
          <a:p>
            <a:pPr algn="ctr">
              <a:defRPr/>
            </a:pPr>
          </a:p>
        </p:txBody>
      </p:sp>
      <p:sp>
        <p:nvSpPr>
          <p:cNvPr id="14" name="AutoShape 14"/>
          <p:cNvSpPr/>
          <p:nvPr/>
        </p:nvSpPr>
        <p:spPr>
          <a:xfrm>
            <a:off x="6299200" y="1397000"/>
            <a:ext cx="5080000" cy="76200"/>
          </a:xfrm>
          <a:prstGeom prst="roundRect">
            <a:avLst>
              <a:gd name="adj" fmla="val 0"/>
            </a:avLst>
          </a:prstGeom>
          <a:solidFill>
            <a:srgbClr val="004D40">
              <a:alpha val="100000"/>
            </a:srgbClr>
          </a:solidFill>
          <a:ln w="25400" cap="flat" cmpd="sng">
            <a:noFill/>
            <a:prstDash val="solid"/>
            <a:round/>
          </a:ln>
        </p:spPr>
        <p:txBody>
          <a:bodyPr vert="horz" wrap="square" lIns="63500" tIns="63500" rIns="63500" bIns="63500" rtlCol="0" anchor="ctr"/>
          <a:lstStyle/>
          <a:p>
            <a:pPr algn="ctr">
              <a:defRPr/>
            </a:pPr>
          </a:p>
        </p:txBody>
      </p:sp>
      <p:sp>
        <p:nvSpPr>
          <p:cNvPr id="15" name="AutoShape 15"/>
          <p:cNvSpPr/>
          <p:nvPr/>
        </p:nvSpPr>
        <p:spPr>
          <a:xfrm>
            <a:off x="6553200" y="1778000"/>
            <a:ext cx="711200" cy="711200"/>
          </a:xfrm>
          <a:prstGeom prst="ellipse">
            <a:avLst/>
          </a:prstGeom>
          <a:solidFill>
            <a:srgbClr val="E0F2F1">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6" name="Picture 16"/>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705600" y="1930400"/>
            <a:ext cx="406400" cy="406400"/>
          </a:xfrm>
          <a:prstGeom prst="rect">
            <a:avLst/>
          </a:prstGeom>
        </p:spPr>
      </p:pic>
      <p:sp>
        <p:nvSpPr>
          <p:cNvPr id="17" name="AutoShape 17"/>
          <p:cNvSpPr/>
          <p:nvPr/>
        </p:nvSpPr>
        <p:spPr>
          <a:xfrm>
            <a:off x="7518400" y="1778000"/>
            <a:ext cx="3556000" cy="711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4D40"/>
                </a:solidFill>
                <a:latin typeface="Noto Sans SC" panose="020B0200000000000000" charset="-122"/>
                <a:ea typeface="Noto Sans SC" panose="020B0200000000000000" charset="-122"/>
                <a:cs typeface="Noto Sans SC" panose="020B0200000000000000" charset="-122"/>
                <a:sym typeface="Noto Sans SC" panose="020B0200000000000000" charset="-122"/>
              </a:rPr>
              <a:t>技术路径：成熟栈与分步实施</a:t>
            </a:r>
            <a:endParaRPr lang="en-US" sz="1100"/>
          </a:p>
        </p:txBody>
      </p:sp>
      <p:cxnSp>
        <p:nvCxnSpPr>
          <p:cNvPr id="18" name="Connector 18"/>
          <p:cNvCxnSpPr/>
          <p:nvPr/>
        </p:nvCxnSpPr>
        <p:spPr>
          <a:xfrm rot="-9549">
            <a:off x="6553209" y="2660650"/>
            <a:ext cx="4572000" cy="12700"/>
          </a:xfrm>
          <a:prstGeom prst="straightConnector1">
            <a:avLst/>
          </a:prstGeom>
          <a:solidFill>
            <a:srgbClr val="DEE0E3">
              <a:alpha val="100000"/>
            </a:srgbClr>
          </a:solidFill>
          <a:ln w="12700" cap="flat" cmpd="sng">
            <a:solidFill>
              <a:srgbClr val="E6E6E6">
                <a:alpha val="100000"/>
              </a:srgbClr>
            </a:solidFill>
            <a:prstDash val="solid"/>
            <a:round/>
            <a:headEnd type="none" w="med" len="med"/>
            <a:tailEnd type="none" w="med" len="med"/>
          </a:ln>
        </p:spPr>
      </p:cxnSp>
      <p:sp>
        <p:nvSpPr>
          <p:cNvPr id="19" name="AutoShape 19"/>
          <p:cNvSpPr/>
          <p:nvPr/>
        </p:nvSpPr>
        <p:spPr>
          <a:xfrm>
            <a:off x="6553200" y="2921000"/>
            <a:ext cx="4572000" cy="1778000"/>
          </a:xfrm>
          <a:prstGeom prst="roundRect">
            <a:avLst>
              <a:gd name="adj" fmla="val 5714"/>
            </a:avLst>
          </a:prstGeom>
          <a:solidFill>
            <a:srgbClr val="F7F9F9">
              <a:alpha val="100000"/>
            </a:srgbClr>
          </a:solidFill>
          <a:ln w="25400" cap="flat" cmpd="sng">
            <a:noFill/>
            <a:prstDash val="solid"/>
            <a:round/>
          </a:ln>
        </p:spPr>
        <p:txBody>
          <a:bodyPr vert="horz" wrap="square" lIns="63500" tIns="63500" rIns="63500" bIns="63500" rtlCol="0" anchor="ctr"/>
          <a:lstStyle/>
          <a:p>
            <a:pPr algn="ctr">
              <a:defRPr/>
            </a:pPr>
          </a:p>
        </p:txBody>
      </p:sp>
      <p:sp>
        <p:nvSpPr>
          <p:cNvPr id="20" name="AutoShape 20"/>
          <p:cNvSpPr/>
          <p:nvPr/>
        </p:nvSpPr>
        <p:spPr>
          <a:xfrm>
            <a:off x="6756400" y="3073400"/>
            <a:ext cx="4165600" cy="14732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2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规划“由易到难”的渐进式重构路径：</a:t>
            </a:r>
            <a:endParaRPr lang="en-US" sz="1100"/>
          </a:p>
          <a:p>
            <a:pPr indent="0" algn="l">
              <a:lnSpc>
                <a:spcPct val="125000"/>
              </a:lnSpc>
            </a:pPr>
            <a:r>
              <a:rPr lang="en-US" sz="12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1200" b="1"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起步阶段：</a:t>
            </a:r>
            <a:r>
              <a:rPr lang="en-US" sz="12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从独立模块 `los_sortlink.c`（排序链表）切入，验证可行性。</a:t>
            </a:r>
            <a:endParaRPr lang="en-US" sz="12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25000"/>
              </a:lnSpc>
            </a:pPr>
            <a:r>
              <a:rPr lang="en-US" sz="12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1200" b="1"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核心攻坚：</a:t>
            </a:r>
            <a:r>
              <a:rPr lang="en-US" sz="12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逐步攻克任务调度模块 (`los_task.c` + `los_sched.c`)。</a:t>
            </a:r>
            <a:endParaRPr lang="en-US" sz="12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25000"/>
              </a:lnSpc>
            </a:pPr>
            <a:r>
              <a:rPr lang="en-US" sz="12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1200" b="1"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环境支持：</a:t>
            </a:r>
            <a:r>
              <a:rPr lang="en-US" sz="12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采用 `no_std + alloc` 底层环境，配合 `bindgen` 实现跨语言交互。</a:t>
            </a:r>
            <a:endParaRPr lang="en-US" sz="12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1" name="AutoShape 21"/>
          <p:cNvSpPr/>
          <p:nvPr/>
        </p:nvSpPr>
        <p:spPr>
          <a:xfrm>
            <a:off x="6553200" y="4953000"/>
            <a:ext cx="4572000" cy="889000"/>
          </a:xfrm>
          <a:prstGeom prst="roundRect">
            <a:avLst>
              <a:gd name="adj" fmla="val 11428"/>
            </a:avLst>
          </a:prstGeom>
          <a:solidFill>
            <a:srgbClr val="B2DFDB">
              <a:alpha val="40000"/>
            </a:srgbClr>
          </a:solidFill>
          <a:ln w="25400" cap="flat" cmpd="sng">
            <a:noFill/>
            <a:prstDash val="solid"/>
            <a:round/>
          </a:ln>
        </p:spPr>
        <p:txBody>
          <a:bodyPr vert="horz" wrap="square" lIns="63500" tIns="63500" rIns="63500" bIns="63500" rtlCol="0" anchor="ctr"/>
          <a:lstStyle/>
          <a:p>
            <a:pPr algn="ctr">
              <a:defRPr/>
            </a:pPr>
          </a:p>
        </p:txBody>
      </p:sp>
      <p:sp>
        <p:nvSpPr>
          <p:cNvPr id="22" name="AutoShape 22"/>
          <p:cNvSpPr/>
          <p:nvPr/>
        </p:nvSpPr>
        <p:spPr>
          <a:xfrm>
            <a:off x="6756400" y="5080000"/>
            <a:ext cx="4165600" cy="635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200" b="1" i="0" u="none" strike="noStrike">
                <a:solidFill>
                  <a:srgbClr val="004D40"/>
                </a:solidFill>
                <a:latin typeface="Noto Sans SC" panose="020B0200000000000000" charset="-122"/>
                <a:ea typeface="Noto Sans SC" panose="020B0200000000000000" charset="-122"/>
                <a:cs typeface="Noto Sans SC" panose="020B0200000000000000" charset="-122"/>
                <a:sym typeface="Noto Sans SC" panose="020B0200000000000000" charset="-122"/>
              </a:rPr>
              <a:t>结论：依托成熟的硬件支持 crate 与工具链，确保了技术方案的落地性与稳定性。</a:t>
            </a:r>
            <a:endParaRPr lang="en-US" sz="11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AF8F5">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812800" y="558800"/>
            <a:ext cx="105664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1A1A1A"/>
                </a:solidFill>
                <a:latin typeface="Noto Sans SC" panose="020B0200000000000000" charset="-122"/>
                <a:ea typeface="Noto Sans SC" panose="020B0200000000000000" charset="-122"/>
                <a:cs typeface="Noto Sans SC" panose="020B0200000000000000" charset="-122"/>
                <a:sym typeface="Noto Sans SC" panose="020B0200000000000000" charset="-122"/>
              </a:rPr>
              <a:t>项目已完成前期准备工作，现已进入核心开发阶段</a:t>
            </a:r>
            <a:endParaRPr lang="en-US" sz="1100"/>
          </a:p>
        </p:txBody>
      </p:sp>
      <p:sp>
        <p:nvSpPr>
          <p:cNvPr id="3" name="AutoShape 3"/>
          <p:cNvSpPr/>
          <p:nvPr/>
        </p:nvSpPr>
        <p:spPr>
          <a:xfrm>
            <a:off x="508000" y="1524000"/>
            <a:ext cx="1778000" cy="4699000"/>
          </a:xfrm>
          <a:prstGeom prst="roundRect">
            <a:avLst>
              <a:gd name="adj" fmla="val 8571"/>
            </a:avLst>
          </a:prstGeom>
          <a:solidFill>
            <a:srgbClr val="FFFFFF">
              <a:alpha val="100000"/>
            </a:srgbClr>
          </a:solidFill>
          <a:ln w="25400" cap="flat" cmpd="sng">
            <a:noFill/>
            <a:prstDash val="solid"/>
            <a:round/>
          </a:ln>
          <a:effectLst>
            <a:outerShdw blurRad="203200" dist="63500" dir="2700000" algn="tl" rotWithShape="0">
              <a:srgbClr val="000000">
                <a:alpha val="8000"/>
              </a:srgbClr>
            </a:outerShdw>
          </a:effectLst>
        </p:spPr>
        <p:txBody>
          <a:bodyPr vert="horz" wrap="square" lIns="63500" tIns="63500" rIns="63500" bIns="63500" rtlCol="0" anchor="ctr"/>
          <a:lstStyle/>
          <a:p>
            <a:pPr algn="ctr">
              <a:defRPr/>
            </a:pPr>
          </a:p>
        </p:txBody>
      </p:sp>
      <p:sp>
        <p:nvSpPr>
          <p:cNvPr id="4" name="AutoShape 4"/>
          <p:cNvSpPr/>
          <p:nvPr/>
        </p:nvSpPr>
        <p:spPr>
          <a:xfrm>
            <a:off x="698500" y="1778000"/>
            <a:ext cx="1397000" cy="635000"/>
          </a:xfrm>
          <a:prstGeom prst="roundRect">
            <a:avLst>
              <a:gd name="adj" fmla="val 16000"/>
            </a:avLst>
          </a:prstGeom>
          <a:solidFill>
            <a:srgbClr val="004D40">
              <a:alpha val="100000"/>
            </a:srgbClr>
          </a:solidFill>
          <a:ln w="25400" cap="flat" cmpd="sng">
            <a:noFill/>
            <a:prstDash val="solid"/>
            <a:round/>
          </a:ln>
        </p:spPr>
        <p:txBody>
          <a:bodyPr vert="horz" wrap="square" lIns="0" tIns="0" rIns="0" bIns="0" rtlCol="0" anchor="ctr" anchorCtr="0"/>
          <a:lstStyle/>
          <a:p>
            <a:pPr indent="0" algn="ctr">
              <a:lnSpc>
                <a:spcPct val="125000"/>
              </a:lnSpc>
              <a:defRPr/>
            </a:pPr>
            <a:r>
              <a:rPr lang="en-US" sz="14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3.4 ~ 3.15</a:t>
            </a:r>
            <a:endParaRPr lang="en-US" sz="1100"/>
          </a:p>
        </p:txBody>
      </p:sp>
      <p:sp>
        <p:nvSpPr>
          <p:cNvPr id="5" name="AutoShape 5"/>
          <p:cNvSpPr/>
          <p:nvPr/>
        </p:nvSpPr>
        <p:spPr>
          <a:xfrm>
            <a:off x="698500" y="2667000"/>
            <a:ext cx="1397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1" i="0" u="none" strike="noStrike">
                <a:solidFill>
                  <a:srgbClr val="004D40"/>
                </a:solidFill>
                <a:latin typeface="Noto Sans SC" panose="020B0200000000000000" charset="-122"/>
                <a:ea typeface="Noto Sans SC" panose="020B0200000000000000" charset="-122"/>
                <a:cs typeface="Noto Sans SC" panose="020B0200000000000000" charset="-122"/>
                <a:sym typeface="Noto Sans SC" panose="020B0200000000000000" charset="-122"/>
              </a:rPr>
              <a:t>选题探索</a:t>
            </a:r>
            <a:endParaRPr lang="en-US" sz="1100"/>
          </a:p>
        </p:txBody>
      </p:sp>
      <p:sp>
        <p:nvSpPr>
          <p:cNvPr id="6" name="AutoShape 6"/>
          <p:cNvSpPr/>
          <p:nvPr/>
        </p:nvSpPr>
        <p:spPr>
          <a:xfrm>
            <a:off x="889000" y="3302000"/>
            <a:ext cx="1016000" cy="25400"/>
          </a:xfrm>
          <a:prstGeom prst="roundRect">
            <a:avLst>
              <a:gd name="adj" fmla="val 0"/>
            </a:avLst>
          </a:prstGeom>
          <a:solidFill>
            <a:srgbClr val="B2DFDB">
              <a:alpha val="100000"/>
            </a:srgbClr>
          </a:solidFill>
          <a:ln w="25400" cap="flat" cmpd="sng">
            <a:noFill/>
            <a:prstDash val="solid"/>
            <a:round/>
          </a:ln>
        </p:spPr>
        <p:txBody>
          <a:bodyPr vert="horz" wrap="square" lIns="63500" tIns="63500" rIns="63500" bIns="63500" rtlCol="0" anchor="ctr"/>
          <a:lstStyle/>
          <a:p>
            <a:pPr algn="ctr">
              <a:defRPr/>
            </a:pPr>
          </a:p>
        </p:txBody>
      </p:sp>
      <p:sp>
        <p:nvSpPr>
          <p:cNvPr id="7" name="AutoShape 7"/>
          <p:cNvSpPr/>
          <p:nvPr/>
        </p:nvSpPr>
        <p:spPr>
          <a:xfrm>
            <a:off x="698500" y="3683000"/>
            <a:ext cx="1397000" cy="12700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100" b="0" i="0" u="none" strike="noStrike">
                <a:solidFill>
                  <a:srgbClr val="6B6B6B"/>
                </a:solidFill>
                <a:latin typeface="Noto Sans SC" panose="020B0200000000000000" charset="-122"/>
                <a:ea typeface="Noto Sans SC" panose="020B0200000000000000" charset="-122"/>
                <a:cs typeface="Noto Sans SC" panose="020B0200000000000000" charset="-122"/>
                <a:sym typeface="Noto Sans SC" panose="020B0200000000000000" charset="-122"/>
              </a:rPr>
              <a:t>组内研讨会分析多个选题，提出LLM嵌入、Rust改写内核等核心方向。</a:t>
            </a:r>
            <a:endParaRPr lang="en-US" sz="1100"/>
          </a:p>
        </p:txBody>
      </p:sp>
      <p:sp>
        <p:nvSpPr>
          <p:cNvPr id="8" name="AutoShape 8"/>
          <p:cNvSpPr/>
          <p:nvPr/>
        </p:nvSpPr>
        <p:spPr>
          <a:xfrm>
            <a:off x="2413000" y="1524000"/>
            <a:ext cx="1778000" cy="4699000"/>
          </a:xfrm>
          <a:prstGeom prst="roundRect">
            <a:avLst>
              <a:gd name="adj" fmla="val 8571"/>
            </a:avLst>
          </a:prstGeom>
          <a:solidFill>
            <a:srgbClr val="FFFFFF">
              <a:alpha val="100000"/>
            </a:srgbClr>
          </a:solidFill>
          <a:ln w="25400" cap="flat" cmpd="sng">
            <a:noFill/>
            <a:prstDash val="solid"/>
            <a:round/>
          </a:ln>
          <a:effectLst>
            <a:outerShdw blurRad="203200" dist="63500" dir="2700000" algn="tl" rotWithShape="0">
              <a:srgbClr val="000000">
                <a:alpha val="8000"/>
              </a:srgbClr>
            </a:outerShdw>
          </a:effectLst>
        </p:spPr>
        <p:txBody>
          <a:bodyPr vert="horz" wrap="square" lIns="63500" tIns="63500" rIns="63500" bIns="63500" rtlCol="0" anchor="ctr"/>
          <a:lstStyle/>
          <a:p>
            <a:pPr algn="ctr">
              <a:defRPr/>
            </a:pPr>
          </a:p>
        </p:txBody>
      </p:sp>
      <p:sp>
        <p:nvSpPr>
          <p:cNvPr id="9" name="AutoShape 9"/>
          <p:cNvSpPr/>
          <p:nvPr/>
        </p:nvSpPr>
        <p:spPr>
          <a:xfrm>
            <a:off x="2603500" y="1778000"/>
            <a:ext cx="1397000" cy="635000"/>
          </a:xfrm>
          <a:prstGeom prst="roundRect">
            <a:avLst>
              <a:gd name="adj" fmla="val 16000"/>
            </a:avLst>
          </a:prstGeom>
          <a:solidFill>
            <a:srgbClr val="004D40">
              <a:alpha val="100000"/>
            </a:srgbClr>
          </a:solidFill>
          <a:ln w="25400" cap="flat" cmpd="sng">
            <a:noFill/>
            <a:prstDash val="solid"/>
            <a:round/>
          </a:ln>
        </p:spPr>
        <p:txBody>
          <a:bodyPr vert="horz" wrap="square" lIns="0" tIns="0" rIns="0" bIns="0" rtlCol="0" anchor="ctr" anchorCtr="0"/>
          <a:lstStyle/>
          <a:p>
            <a:pPr indent="0" algn="ctr">
              <a:lnSpc>
                <a:spcPct val="125000"/>
              </a:lnSpc>
              <a:defRPr/>
            </a:pPr>
            <a:r>
              <a:rPr lang="en-US" sz="14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3.16 ~ 3.18</a:t>
            </a:r>
            <a:endParaRPr lang="en-US" sz="1100"/>
          </a:p>
        </p:txBody>
      </p:sp>
      <p:sp>
        <p:nvSpPr>
          <p:cNvPr id="10" name="AutoShape 10"/>
          <p:cNvSpPr/>
          <p:nvPr/>
        </p:nvSpPr>
        <p:spPr>
          <a:xfrm>
            <a:off x="2603500" y="2667000"/>
            <a:ext cx="1397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1" i="0" u="none" strike="noStrike">
                <a:solidFill>
                  <a:srgbClr val="004D40"/>
                </a:solidFill>
                <a:latin typeface="Noto Sans SC" panose="020B0200000000000000" charset="-122"/>
                <a:ea typeface="Noto Sans SC" panose="020B0200000000000000" charset="-122"/>
                <a:cs typeface="Noto Sans SC" panose="020B0200000000000000" charset="-122"/>
                <a:sym typeface="Noto Sans SC" panose="020B0200000000000000" charset="-122"/>
              </a:rPr>
              <a:t>方向锁定</a:t>
            </a:r>
            <a:endParaRPr lang="en-US" sz="1100"/>
          </a:p>
        </p:txBody>
      </p:sp>
      <p:sp>
        <p:nvSpPr>
          <p:cNvPr id="11" name="AutoShape 11"/>
          <p:cNvSpPr/>
          <p:nvPr/>
        </p:nvSpPr>
        <p:spPr>
          <a:xfrm>
            <a:off x="2794000" y="3302000"/>
            <a:ext cx="1016000" cy="25400"/>
          </a:xfrm>
          <a:prstGeom prst="roundRect">
            <a:avLst>
              <a:gd name="adj" fmla="val 0"/>
            </a:avLst>
          </a:prstGeom>
          <a:solidFill>
            <a:srgbClr val="B2DFDB">
              <a:alpha val="100000"/>
            </a:srgbClr>
          </a:solidFill>
          <a:ln w="25400" cap="flat" cmpd="sng">
            <a:noFill/>
            <a:prstDash val="solid"/>
            <a:round/>
          </a:ln>
        </p:spPr>
        <p:txBody>
          <a:bodyPr vert="horz" wrap="square" lIns="63500" tIns="63500" rIns="63500" bIns="63500" rtlCol="0" anchor="ctr"/>
          <a:lstStyle/>
          <a:p>
            <a:pPr algn="ctr">
              <a:defRPr/>
            </a:pPr>
          </a:p>
        </p:txBody>
      </p:sp>
      <p:sp>
        <p:nvSpPr>
          <p:cNvPr id="12" name="AutoShape 12"/>
          <p:cNvSpPr/>
          <p:nvPr/>
        </p:nvSpPr>
        <p:spPr>
          <a:xfrm>
            <a:off x="2603500" y="3683000"/>
            <a:ext cx="1397000" cy="12700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100" b="0" i="0" u="none" strike="noStrike">
                <a:solidFill>
                  <a:srgbClr val="6B6B6B"/>
                </a:solidFill>
                <a:latin typeface="Noto Sans SC" panose="020B0200000000000000" charset="-122"/>
                <a:ea typeface="Noto Sans SC" panose="020B0200000000000000" charset="-122"/>
                <a:cs typeface="Noto Sans SC" panose="020B0200000000000000" charset="-122"/>
                <a:sym typeface="Noto Sans SC" panose="020B0200000000000000" charset="-122"/>
              </a:rPr>
              <a:t>正式锁定Rust重写项目方向，并对目标重写对象进行初步的可行性探索。</a:t>
            </a:r>
            <a:endParaRPr lang="en-US" sz="1100"/>
          </a:p>
        </p:txBody>
      </p:sp>
      <p:sp>
        <p:nvSpPr>
          <p:cNvPr id="13" name="AutoShape 13"/>
          <p:cNvSpPr/>
          <p:nvPr/>
        </p:nvSpPr>
        <p:spPr>
          <a:xfrm>
            <a:off x="4318000" y="1524000"/>
            <a:ext cx="1778000" cy="4699000"/>
          </a:xfrm>
          <a:prstGeom prst="roundRect">
            <a:avLst>
              <a:gd name="adj" fmla="val 8571"/>
            </a:avLst>
          </a:prstGeom>
          <a:solidFill>
            <a:srgbClr val="FFFFFF">
              <a:alpha val="100000"/>
            </a:srgbClr>
          </a:solidFill>
          <a:ln w="25400" cap="flat" cmpd="sng">
            <a:noFill/>
            <a:prstDash val="solid"/>
            <a:round/>
          </a:ln>
          <a:effectLst>
            <a:outerShdw blurRad="203200" dist="63500" dir="2700000" algn="tl" rotWithShape="0">
              <a:srgbClr val="000000">
                <a:alpha val="8000"/>
              </a:srgbClr>
            </a:outerShdw>
          </a:effectLst>
        </p:spPr>
        <p:txBody>
          <a:bodyPr vert="horz" wrap="square" lIns="63500" tIns="63500" rIns="63500" bIns="63500" rtlCol="0" anchor="ctr"/>
          <a:lstStyle/>
          <a:p>
            <a:pPr algn="ctr">
              <a:defRPr/>
            </a:pPr>
          </a:p>
        </p:txBody>
      </p:sp>
      <p:sp>
        <p:nvSpPr>
          <p:cNvPr id="14" name="AutoShape 14"/>
          <p:cNvSpPr/>
          <p:nvPr/>
        </p:nvSpPr>
        <p:spPr>
          <a:xfrm>
            <a:off x="4508500" y="1778000"/>
            <a:ext cx="1397000" cy="635000"/>
          </a:xfrm>
          <a:prstGeom prst="roundRect">
            <a:avLst>
              <a:gd name="adj" fmla="val 16000"/>
            </a:avLst>
          </a:prstGeom>
          <a:solidFill>
            <a:srgbClr val="004D40">
              <a:alpha val="100000"/>
            </a:srgbClr>
          </a:solidFill>
          <a:ln w="25400" cap="flat" cmpd="sng">
            <a:noFill/>
            <a:prstDash val="solid"/>
            <a:round/>
          </a:ln>
        </p:spPr>
        <p:txBody>
          <a:bodyPr vert="horz" wrap="square" lIns="0" tIns="0" rIns="0" bIns="0" rtlCol="0" anchor="ctr" anchorCtr="0"/>
          <a:lstStyle/>
          <a:p>
            <a:pPr indent="0" algn="ctr">
              <a:lnSpc>
                <a:spcPct val="125000"/>
              </a:lnSpc>
              <a:defRPr/>
            </a:pPr>
            <a:r>
              <a:rPr lang="en-US" sz="14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3.19 ~ 3.29</a:t>
            </a:r>
            <a:endParaRPr lang="en-US" sz="1100"/>
          </a:p>
        </p:txBody>
      </p:sp>
      <p:sp>
        <p:nvSpPr>
          <p:cNvPr id="15" name="AutoShape 15"/>
          <p:cNvSpPr/>
          <p:nvPr/>
        </p:nvSpPr>
        <p:spPr>
          <a:xfrm>
            <a:off x="4508500" y="2667000"/>
            <a:ext cx="1397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1" i="0" u="none" strike="noStrike">
                <a:solidFill>
                  <a:srgbClr val="004D40"/>
                </a:solidFill>
                <a:latin typeface="Noto Sans SC" panose="020B0200000000000000" charset="-122"/>
                <a:ea typeface="Noto Sans SC" panose="020B0200000000000000" charset="-122"/>
                <a:cs typeface="Noto Sans SC" panose="020B0200000000000000" charset="-122"/>
                <a:sym typeface="Noto Sans SC" panose="020B0200000000000000" charset="-122"/>
              </a:rPr>
              <a:t>项目调研</a:t>
            </a:r>
            <a:endParaRPr lang="en-US" sz="1100"/>
          </a:p>
        </p:txBody>
      </p:sp>
      <p:sp>
        <p:nvSpPr>
          <p:cNvPr id="16" name="AutoShape 16"/>
          <p:cNvSpPr/>
          <p:nvPr/>
        </p:nvSpPr>
        <p:spPr>
          <a:xfrm>
            <a:off x="4699000" y="3302000"/>
            <a:ext cx="1016000" cy="25400"/>
          </a:xfrm>
          <a:prstGeom prst="roundRect">
            <a:avLst>
              <a:gd name="adj" fmla="val 0"/>
            </a:avLst>
          </a:prstGeom>
          <a:solidFill>
            <a:srgbClr val="B2DFDB">
              <a:alpha val="100000"/>
            </a:srgbClr>
          </a:solidFill>
          <a:ln w="25400" cap="flat" cmpd="sng">
            <a:noFill/>
            <a:prstDash val="solid"/>
            <a:round/>
          </a:ln>
        </p:spPr>
        <p:txBody>
          <a:bodyPr vert="horz" wrap="square" lIns="63500" tIns="63500" rIns="63500" bIns="63500" rtlCol="0" anchor="ctr"/>
          <a:lstStyle/>
          <a:p>
            <a:pPr algn="ctr">
              <a:defRPr/>
            </a:pPr>
          </a:p>
        </p:txBody>
      </p:sp>
      <p:sp>
        <p:nvSpPr>
          <p:cNvPr id="17" name="AutoShape 17"/>
          <p:cNvSpPr/>
          <p:nvPr/>
        </p:nvSpPr>
        <p:spPr>
          <a:xfrm>
            <a:off x="4508500" y="3683000"/>
            <a:ext cx="1397000" cy="12700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100" b="0" i="0" u="none" strike="noStrike">
                <a:solidFill>
                  <a:srgbClr val="6B6B6B"/>
                </a:solidFill>
                <a:latin typeface="Noto Sans SC" panose="020B0200000000000000" charset="-122"/>
                <a:ea typeface="Noto Sans SC" panose="020B0200000000000000" charset="-122"/>
                <a:cs typeface="Noto Sans SC" panose="020B0200000000000000" charset="-122"/>
                <a:sym typeface="Noto Sans SC" panose="020B0200000000000000" charset="-122"/>
              </a:rPr>
              <a:t>对比分析多种主流RTOS内核架构后，最终选定LiteOS-M作为核心改写对象。</a:t>
            </a:r>
            <a:endParaRPr lang="en-US" sz="1100"/>
          </a:p>
        </p:txBody>
      </p:sp>
      <p:sp>
        <p:nvSpPr>
          <p:cNvPr id="18" name="AutoShape 18"/>
          <p:cNvSpPr/>
          <p:nvPr/>
        </p:nvSpPr>
        <p:spPr>
          <a:xfrm>
            <a:off x="6223000" y="1524000"/>
            <a:ext cx="1778000" cy="4699000"/>
          </a:xfrm>
          <a:prstGeom prst="roundRect">
            <a:avLst>
              <a:gd name="adj" fmla="val 8571"/>
            </a:avLst>
          </a:prstGeom>
          <a:solidFill>
            <a:srgbClr val="FFFFFF">
              <a:alpha val="100000"/>
            </a:srgbClr>
          </a:solidFill>
          <a:ln w="25400" cap="flat" cmpd="sng">
            <a:noFill/>
            <a:prstDash val="solid"/>
            <a:round/>
          </a:ln>
          <a:effectLst>
            <a:outerShdw blurRad="203200" dist="63500" dir="2700000" algn="tl" rotWithShape="0">
              <a:srgbClr val="000000">
                <a:alpha val="8000"/>
              </a:srgbClr>
            </a:outerShdw>
          </a:effectLst>
        </p:spPr>
        <p:txBody>
          <a:bodyPr vert="horz" wrap="square" lIns="63500" tIns="63500" rIns="63500" bIns="63500" rtlCol="0" anchor="ctr"/>
          <a:lstStyle/>
          <a:p>
            <a:pPr algn="ctr">
              <a:defRPr/>
            </a:pPr>
          </a:p>
        </p:txBody>
      </p:sp>
      <p:sp>
        <p:nvSpPr>
          <p:cNvPr id="19" name="AutoShape 19"/>
          <p:cNvSpPr/>
          <p:nvPr/>
        </p:nvSpPr>
        <p:spPr>
          <a:xfrm>
            <a:off x="6413500" y="1778000"/>
            <a:ext cx="1397000" cy="635000"/>
          </a:xfrm>
          <a:prstGeom prst="roundRect">
            <a:avLst>
              <a:gd name="adj" fmla="val 16000"/>
            </a:avLst>
          </a:prstGeom>
          <a:solidFill>
            <a:srgbClr val="004D40">
              <a:alpha val="100000"/>
            </a:srgbClr>
          </a:solidFill>
          <a:ln w="25400" cap="flat" cmpd="sng">
            <a:noFill/>
            <a:prstDash val="solid"/>
            <a:round/>
          </a:ln>
        </p:spPr>
        <p:txBody>
          <a:bodyPr vert="horz" wrap="square" lIns="0" tIns="0" rIns="0" bIns="0" rtlCol="0" anchor="ctr" anchorCtr="0"/>
          <a:lstStyle/>
          <a:p>
            <a:pPr indent="0" algn="ctr">
              <a:lnSpc>
                <a:spcPct val="125000"/>
              </a:lnSpc>
              <a:defRPr/>
            </a:pPr>
            <a:r>
              <a:rPr lang="en-US" sz="14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3.30 ~ 4.1</a:t>
            </a:r>
            <a:endParaRPr lang="en-US" sz="1100"/>
          </a:p>
        </p:txBody>
      </p:sp>
      <p:sp>
        <p:nvSpPr>
          <p:cNvPr id="20" name="AutoShape 20"/>
          <p:cNvSpPr/>
          <p:nvPr/>
        </p:nvSpPr>
        <p:spPr>
          <a:xfrm>
            <a:off x="6413500" y="2667000"/>
            <a:ext cx="1397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1" i="0" u="none" strike="noStrike">
                <a:solidFill>
                  <a:srgbClr val="004D40"/>
                </a:solidFill>
                <a:latin typeface="Noto Sans SC" panose="020B0200000000000000" charset="-122"/>
                <a:ea typeface="Noto Sans SC" panose="020B0200000000000000" charset="-122"/>
                <a:cs typeface="Noto Sans SC" panose="020B0200000000000000" charset="-122"/>
                <a:sym typeface="Noto Sans SC" panose="020B0200000000000000" charset="-122"/>
              </a:rPr>
              <a:t>路线收敛</a:t>
            </a:r>
            <a:endParaRPr lang="en-US" sz="1100"/>
          </a:p>
        </p:txBody>
      </p:sp>
      <p:sp>
        <p:nvSpPr>
          <p:cNvPr id="21" name="AutoShape 21"/>
          <p:cNvSpPr/>
          <p:nvPr/>
        </p:nvSpPr>
        <p:spPr>
          <a:xfrm>
            <a:off x="6604000" y="3302000"/>
            <a:ext cx="1016000" cy="25400"/>
          </a:xfrm>
          <a:prstGeom prst="roundRect">
            <a:avLst>
              <a:gd name="adj" fmla="val 0"/>
            </a:avLst>
          </a:prstGeom>
          <a:solidFill>
            <a:srgbClr val="B2DFDB">
              <a:alpha val="100000"/>
            </a:srgbClr>
          </a:solidFill>
          <a:ln w="25400" cap="flat" cmpd="sng">
            <a:noFill/>
            <a:prstDash val="solid"/>
            <a:round/>
          </a:ln>
        </p:spPr>
        <p:txBody>
          <a:bodyPr vert="horz" wrap="square" lIns="63500" tIns="63500" rIns="63500" bIns="63500" rtlCol="0" anchor="ctr"/>
          <a:lstStyle/>
          <a:p>
            <a:pPr algn="ctr">
              <a:defRPr/>
            </a:pPr>
          </a:p>
        </p:txBody>
      </p:sp>
      <p:sp>
        <p:nvSpPr>
          <p:cNvPr id="22" name="AutoShape 22"/>
          <p:cNvSpPr/>
          <p:nvPr/>
        </p:nvSpPr>
        <p:spPr>
          <a:xfrm>
            <a:off x="6413500" y="3683000"/>
            <a:ext cx="1397000" cy="12700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100" b="0" i="0" u="none" strike="noStrike">
                <a:solidFill>
                  <a:srgbClr val="6B6B6B"/>
                </a:solidFill>
                <a:latin typeface="Noto Sans SC" panose="020B0200000000000000" charset="-122"/>
                <a:ea typeface="Noto Sans SC" panose="020B0200000000000000" charset="-122"/>
                <a:cs typeface="Noto Sans SC" panose="020B0200000000000000" charset="-122"/>
                <a:sym typeface="Noto Sans SC" panose="020B0200000000000000" charset="-122"/>
              </a:rPr>
              <a:t>与导师线下深度研讨，确立“核心模块接力重构 + IronClaw接口层”技术路线。</a:t>
            </a:r>
            <a:endParaRPr lang="en-US" sz="1100"/>
          </a:p>
        </p:txBody>
      </p:sp>
      <p:sp>
        <p:nvSpPr>
          <p:cNvPr id="23" name="AutoShape 23"/>
          <p:cNvSpPr/>
          <p:nvPr/>
        </p:nvSpPr>
        <p:spPr>
          <a:xfrm>
            <a:off x="8128000" y="1524000"/>
            <a:ext cx="1778000" cy="4699000"/>
          </a:xfrm>
          <a:prstGeom prst="roundRect">
            <a:avLst>
              <a:gd name="adj" fmla="val 8571"/>
            </a:avLst>
          </a:prstGeom>
          <a:solidFill>
            <a:srgbClr val="FFFFFF">
              <a:alpha val="100000"/>
            </a:srgbClr>
          </a:solidFill>
          <a:ln w="25400" cap="flat" cmpd="sng">
            <a:noFill/>
            <a:prstDash val="solid"/>
            <a:round/>
          </a:ln>
          <a:effectLst>
            <a:outerShdw blurRad="203200" dist="63500" dir="2700000" algn="tl" rotWithShape="0">
              <a:srgbClr val="000000">
                <a:alpha val="8000"/>
              </a:srgbClr>
            </a:outerShdw>
          </a:effectLst>
        </p:spPr>
        <p:txBody>
          <a:bodyPr vert="horz" wrap="square" lIns="63500" tIns="63500" rIns="63500" bIns="63500" rtlCol="0" anchor="ctr"/>
          <a:lstStyle/>
          <a:p>
            <a:pPr algn="ctr">
              <a:defRPr/>
            </a:pPr>
          </a:p>
        </p:txBody>
      </p:sp>
      <p:sp>
        <p:nvSpPr>
          <p:cNvPr id="24" name="AutoShape 24"/>
          <p:cNvSpPr/>
          <p:nvPr/>
        </p:nvSpPr>
        <p:spPr>
          <a:xfrm>
            <a:off x="8318500" y="1778000"/>
            <a:ext cx="1397000" cy="635000"/>
          </a:xfrm>
          <a:prstGeom prst="roundRect">
            <a:avLst>
              <a:gd name="adj" fmla="val 16000"/>
            </a:avLst>
          </a:prstGeom>
          <a:solidFill>
            <a:srgbClr val="004D40">
              <a:alpha val="100000"/>
            </a:srgbClr>
          </a:solidFill>
          <a:ln w="25400" cap="flat" cmpd="sng">
            <a:noFill/>
            <a:prstDash val="solid"/>
            <a:round/>
          </a:ln>
        </p:spPr>
        <p:txBody>
          <a:bodyPr vert="horz" wrap="square" lIns="0" tIns="0" rIns="0" bIns="0" rtlCol="0" anchor="ctr" anchorCtr="0"/>
          <a:lstStyle/>
          <a:p>
            <a:pPr indent="0" algn="ctr">
              <a:lnSpc>
                <a:spcPct val="125000"/>
              </a:lnSpc>
              <a:defRPr/>
            </a:pPr>
            <a:r>
              <a:rPr lang="en-US" sz="14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4.6 ~ 4.19</a:t>
            </a:r>
            <a:endParaRPr lang="en-US" sz="1100"/>
          </a:p>
        </p:txBody>
      </p:sp>
      <p:sp>
        <p:nvSpPr>
          <p:cNvPr id="25" name="AutoShape 25"/>
          <p:cNvSpPr/>
          <p:nvPr/>
        </p:nvSpPr>
        <p:spPr>
          <a:xfrm>
            <a:off x="8318500" y="2667000"/>
            <a:ext cx="1397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1" i="0" u="none" strike="noStrike">
                <a:solidFill>
                  <a:srgbClr val="004D40"/>
                </a:solidFill>
                <a:latin typeface="Noto Sans SC" panose="020B0200000000000000" charset="-122"/>
                <a:ea typeface="Noto Sans SC" panose="020B0200000000000000" charset="-122"/>
                <a:cs typeface="Noto Sans SC" panose="020B0200000000000000" charset="-122"/>
                <a:sym typeface="Noto Sans SC" panose="020B0200000000000000" charset="-122"/>
              </a:rPr>
              <a:t>报告撰写</a:t>
            </a:r>
            <a:endParaRPr lang="en-US" sz="1100"/>
          </a:p>
        </p:txBody>
      </p:sp>
      <p:sp>
        <p:nvSpPr>
          <p:cNvPr id="26" name="AutoShape 26"/>
          <p:cNvSpPr/>
          <p:nvPr/>
        </p:nvSpPr>
        <p:spPr>
          <a:xfrm>
            <a:off x="8509000" y="3302000"/>
            <a:ext cx="1016000" cy="25400"/>
          </a:xfrm>
          <a:prstGeom prst="roundRect">
            <a:avLst>
              <a:gd name="adj" fmla="val 0"/>
            </a:avLst>
          </a:prstGeom>
          <a:solidFill>
            <a:srgbClr val="B2DFDB">
              <a:alpha val="100000"/>
            </a:srgbClr>
          </a:solidFill>
          <a:ln w="25400" cap="flat" cmpd="sng">
            <a:noFill/>
            <a:prstDash val="solid"/>
            <a:round/>
          </a:ln>
        </p:spPr>
        <p:txBody>
          <a:bodyPr vert="horz" wrap="square" lIns="63500" tIns="63500" rIns="63500" bIns="63500" rtlCol="0" anchor="ctr"/>
          <a:lstStyle/>
          <a:p>
            <a:pPr algn="ctr">
              <a:defRPr/>
            </a:pPr>
          </a:p>
        </p:txBody>
      </p:sp>
      <p:sp>
        <p:nvSpPr>
          <p:cNvPr id="27" name="AutoShape 27"/>
          <p:cNvSpPr/>
          <p:nvPr/>
        </p:nvSpPr>
        <p:spPr>
          <a:xfrm>
            <a:off x="8318500" y="3683000"/>
            <a:ext cx="1397000" cy="12700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100" b="0" i="0" u="none" strike="noStrike">
                <a:solidFill>
                  <a:srgbClr val="6B6B6B"/>
                </a:solidFill>
                <a:latin typeface="Noto Sans SC" panose="020B0200000000000000" charset="-122"/>
                <a:ea typeface="Noto Sans SC" panose="020B0200000000000000" charset="-122"/>
                <a:cs typeface="Noto Sans SC" panose="020B0200000000000000" charset="-122"/>
                <a:sym typeface="Noto Sans SC" panose="020B0200000000000000" charset="-122"/>
              </a:rPr>
              <a:t>完成项目README、技术调研报告、可行性分析报告及本次阶段汇报PPT的撰写。</a:t>
            </a:r>
            <a:endParaRPr lang="en-US" sz="1100"/>
          </a:p>
        </p:txBody>
      </p:sp>
      <p:sp>
        <p:nvSpPr>
          <p:cNvPr id="28" name="AutoShape 28"/>
          <p:cNvSpPr/>
          <p:nvPr/>
        </p:nvSpPr>
        <p:spPr>
          <a:xfrm>
            <a:off x="10033000" y="1524000"/>
            <a:ext cx="1778000" cy="4699000"/>
          </a:xfrm>
          <a:prstGeom prst="roundRect">
            <a:avLst>
              <a:gd name="adj" fmla="val 8571"/>
            </a:avLst>
          </a:prstGeom>
          <a:solidFill>
            <a:srgbClr val="E0F2F1">
              <a:alpha val="100000"/>
            </a:srgbClr>
          </a:solidFill>
          <a:ln w="25400" cap="flat" cmpd="sng">
            <a:solidFill>
              <a:srgbClr val="004D40">
                <a:alpha val="100000"/>
              </a:srgbClr>
            </a:solidFill>
            <a:prstDash val="solid"/>
            <a:round/>
          </a:ln>
          <a:effectLst>
            <a:outerShdw blurRad="254000" dist="63500" dir="2700000" algn="tl" rotWithShape="0">
              <a:srgbClr val="004D40">
                <a:alpha val="18000"/>
              </a:srgbClr>
            </a:outerShdw>
          </a:effectLst>
        </p:spPr>
        <p:txBody>
          <a:bodyPr vert="horz" wrap="square" lIns="63500" tIns="63500" rIns="63500" bIns="63500" rtlCol="0" anchor="ctr"/>
          <a:lstStyle/>
          <a:p>
            <a:pPr algn="ctr">
              <a:defRPr/>
            </a:pPr>
          </a:p>
        </p:txBody>
      </p:sp>
      <p:sp>
        <p:nvSpPr>
          <p:cNvPr id="29" name="AutoShape 29"/>
          <p:cNvSpPr/>
          <p:nvPr/>
        </p:nvSpPr>
        <p:spPr>
          <a:xfrm>
            <a:off x="10223500" y="1778000"/>
            <a:ext cx="1397000" cy="635000"/>
          </a:xfrm>
          <a:prstGeom prst="roundRect">
            <a:avLst>
              <a:gd name="adj" fmla="val 16000"/>
            </a:avLst>
          </a:prstGeom>
          <a:solidFill>
            <a:srgbClr val="B2DFDB">
              <a:alpha val="100000"/>
            </a:srgbClr>
          </a:solidFill>
          <a:ln w="25400" cap="flat" cmpd="sng">
            <a:noFill/>
            <a:prstDash val="solid"/>
            <a:round/>
          </a:ln>
        </p:spPr>
        <p:txBody>
          <a:bodyPr vert="horz" wrap="square" lIns="0" tIns="0" rIns="0" bIns="0" rtlCol="0" anchor="ctr" anchorCtr="0"/>
          <a:lstStyle/>
          <a:p>
            <a:pPr indent="0" algn="ctr">
              <a:lnSpc>
                <a:spcPct val="125000"/>
              </a:lnSpc>
              <a:defRPr/>
            </a:pPr>
            <a:r>
              <a:rPr lang="en-US" sz="1400" b="1" i="0" u="none" strike="noStrike">
                <a:solidFill>
                  <a:srgbClr val="004D40"/>
                </a:solidFill>
                <a:latin typeface="Noto Sans SC" panose="020B0200000000000000" charset="-122"/>
                <a:ea typeface="Noto Sans SC" panose="020B0200000000000000" charset="-122"/>
                <a:cs typeface="Noto Sans SC" panose="020B0200000000000000" charset="-122"/>
                <a:sym typeface="Noto Sans SC" panose="020B0200000000000000" charset="-122"/>
              </a:rPr>
              <a:t>4.19 ~ ···</a:t>
            </a:r>
            <a:endParaRPr lang="en-US" sz="1100"/>
          </a:p>
        </p:txBody>
      </p:sp>
      <p:sp>
        <p:nvSpPr>
          <p:cNvPr id="30" name="AutoShape 30"/>
          <p:cNvSpPr/>
          <p:nvPr/>
        </p:nvSpPr>
        <p:spPr>
          <a:xfrm>
            <a:off x="10223500" y="2667000"/>
            <a:ext cx="1397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1" i="0" u="none" strike="noStrike">
                <a:solidFill>
                  <a:srgbClr val="004D40"/>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核心开发</a:t>
            </a:r>
            <a:endParaRPr lang="en-US" sz="1100"/>
          </a:p>
        </p:txBody>
      </p:sp>
      <p:sp>
        <p:nvSpPr>
          <p:cNvPr id="31" name="AutoShape 31"/>
          <p:cNvSpPr/>
          <p:nvPr/>
        </p:nvSpPr>
        <p:spPr>
          <a:xfrm>
            <a:off x="10414000" y="3302000"/>
            <a:ext cx="1016000" cy="25400"/>
          </a:xfrm>
          <a:prstGeom prst="roundRect">
            <a:avLst>
              <a:gd name="adj" fmla="val 0"/>
            </a:avLst>
          </a:prstGeom>
          <a:solidFill>
            <a:srgbClr val="004D40">
              <a:alpha val="60000"/>
            </a:srgbClr>
          </a:solidFill>
          <a:ln w="25400" cap="flat" cmpd="sng">
            <a:noFill/>
            <a:prstDash val="solid"/>
            <a:round/>
          </a:ln>
        </p:spPr>
        <p:txBody>
          <a:bodyPr vert="horz" wrap="square" lIns="63500" tIns="63500" rIns="63500" bIns="63500" rtlCol="0" anchor="ctr"/>
          <a:lstStyle/>
          <a:p>
            <a:pPr algn="ctr">
              <a:defRPr/>
            </a:pPr>
          </a:p>
        </p:txBody>
      </p:sp>
      <p:sp>
        <p:nvSpPr>
          <p:cNvPr id="32" name="AutoShape 32"/>
          <p:cNvSpPr/>
          <p:nvPr/>
        </p:nvSpPr>
        <p:spPr>
          <a:xfrm>
            <a:off x="10223500" y="3683000"/>
            <a:ext cx="1397000" cy="12700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100" b="0" i="0" u="none" strike="noStrike">
                <a:solidFill>
                  <a:srgbClr val="1A1A1A"/>
                </a:solidFill>
                <a:latin typeface="Noto Sans SC" panose="020B0200000000000000" charset="-122"/>
                <a:ea typeface="Noto Sans SC" panose="020B0200000000000000" charset="-122"/>
                <a:cs typeface="Noto Sans SC" panose="020B0200000000000000" charset="-122"/>
                <a:sym typeface="Noto Sans SC" panose="020B0200000000000000" charset="-122"/>
              </a:rPr>
              <a:t>正式进入核心模块的Rust改写、功能验证与单元测试阶段，按计划推进迭代。</a:t>
            </a:r>
            <a:endParaRPr lang="en-US" sz="11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AF8F5">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2159000"/>
            <a:ext cx="12192000" cy="4445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400" b="0" i="0" u="none" strike="noStrike">
                <a:solidFill>
                  <a:srgbClr val="6B6B6B"/>
                </a:solidFill>
                <a:latin typeface="Noto Sans SC" panose="020B0200000000000000" charset="-122"/>
                <a:ea typeface="Noto Sans SC" panose="020B0200000000000000" charset="-122"/>
                <a:cs typeface="Noto Sans SC" panose="020B0200000000000000" charset="-122"/>
                <a:sym typeface="Noto Sans SC" panose="020B0200000000000000" charset="-122"/>
              </a:rPr>
              <a:t>04</a:t>
            </a:r>
            <a:endParaRPr lang="en-US" sz="1100"/>
          </a:p>
        </p:txBody>
      </p:sp>
      <p:sp>
        <p:nvSpPr>
          <p:cNvPr id="3" name="AutoShape 3"/>
          <p:cNvSpPr/>
          <p:nvPr/>
        </p:nvSpPr>
        <p:spPr>
          <a:xfrm>
            <a:off x="0" y="2921000"/>
            <a:ext cx="12192000" cy="889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4800" b="1" i="0" u="none" strike="noStrike">
                <a:solidFill>
                  <a:srgbClr val="1A1A1A"/>
                </a:solidFill>
                <a:latin typeface="Noto Sans SC" panose="020B0200000000000000" charset="-122"/>
                <a:ea typeface="Noto Sans SC" panose="020B0200000000000000" charset="-122"/>
                <a:cs typeface="Noto Sans SC" panose="020B0200000000000000" charset="-122"/>
                <a:sym typeface="Noto Sans SC" panose="020B0200000000000000" charset="-122"/>
              </a:rPr>
              <a:t>技术方案与实施路径</a:t>
            </a:r>
            <a:endParaRPr lang="en-US" sz="1100"/>
          </a:p>
        </p:txBody>
      </p:sp>
      <p:sp>
        <p:nvSpPr>
          <p:cNvPr id="4" name="AutoShape 4"/>
          <p:cNvSpPr/>
          <p:nvPr/>
        </p:nvSpPr>
        <p:spPr>
          <a:xfrm>
            <a:off x="5588000" y="4127500"/>
            <a:ext cx="1016000" cy="50800"/>
          </a:xfrm>
          <a:prstGeom prst="roundRect">
            <a:avLst>
              <a:gd name="adj" fmla="val 0"/>
            </a:avLst>
          </a:prstGeom>
          <a:solidFill>
            <a:srgbClr val="004D40">
              <a:alpha val="100000"/>
            </a:srgbClr>
          </a:solidFill>
          <a:ln w="25400" cap="flat" cmpd="sng">
            <a:noFill/>
            <a:prstDash val="solid"/>
            <a:round/>
          </a:ln>
        </p:spPr>
        <p:txBody>
          <a:bodyPr vert="horz" wrap="square" lIns="63500" tIns="63500" rIns="63500" bIns="63500" rtlCol="0" anchor="ctr"/>
          <a:lstStyle/>
          <a:p>
            <a:pPr algn="ctr">
              <a:defRPr/>
            </a:p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AF8F5">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812800" y="558800"/>
            <a:ext cx="10566400" cy="889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1A1A1A"/>
                </a:solidFill>
                <a:latin typeface="Noto Sans SC" panose="020B0200000000000000" charset="-122"/>
                <a:ea typeface="Noto Sans SC" panose="020B0200000000000000" charset="-122"/>
                <a:cs typeface="Noto Sans SC" panose="020B0200000000000000" charset="-122"/>
                <a:sym typeface="Noto Sans SC" panose="020B0200000000000000" charset="-122"/>
              </a:rPr>
              <a:t>采用分层架构，通过IronClaw中间层实现安全隔离与高效交互</a:t>
            </a:r>
            <a:endParaRPr lang="en-US" sz="1100"/>
          </a:p>
        </p:txBody>
      </p:sp>
      <p:sp>
        <p:nvSpPr>
          <p:cNvPr id="3" name="AutoShape 3"/>
          <p:cNvSpPr/>
          <p:nvPr/>
        </p:nvSpPr>
        <p:spPr>
          <a:xfrm>
            <a:off x="812800" y="1651000"/>
            <a:ext cx="3810000" cy="1397000"/>
          </a:xfrm>
          <a:prstGeom prst="roundRect">
            <a:avLst>
              <a:gd name="adj" fmla="val 7272"/>
            </a:avLst>
          </a:prstGeom>
          <a:solidFill>
            <a:srgbClr val="FFFFFF">
              <a:alpha val="100000"/>
            </a:srgbClr>
          </a:solidFill>
          <a:ln w="25400" cap="flat" cmpd="sng">
            <a:noFill/>
            <a:prstDash val="solid"/>
            <a:round/>
          </a:ln>
          <a:effectLst>
            <a:outerShdw blurRad="127000" dist="50800" dir="5400000" algn="tl" rotWithShape="0">
              <a:srgbClr val="000000">
                <a:alpha val="8000"/>
              </a:srgbClr>
            </a:outerShdw>
          </a:effectLst>
        </p:spPr>
        <p:txBody>
          <a:bodyPr vert="horz" wrap="square" lIns="63500" tIns="63500" rIns="63500" bIns="63500" rtlCol="0" anchor="ctr"/>
          <a:lstStyle/>
          <a:p>
            <a:pPr algn="ctr">
              <a:defRPr/>
            </a:pPr>
          </a:p>
        </p:txBody>
      </p:sp>
      <p:sp>
        <p:nvSpPr>
          <p:cNvPr id="4" name="AutoShape 4"/>
          <p:cNvSpPr/>
          <p:nvPr/>
        </p:nvSpPr>
        <p:spPr>
          <a:xfrm>
            <a:off x="812800" y="1651000"/>
            <a:ext cx="76200" cy="1397000"/>
          </a:xfrm>
          <a:prstGeom prst="roundRect">
            <a:avLst>
              <a:gd name="adj" fmla="val 0"/>
            </a:avLst>
          </a:prstGeom>
          <a:solidFill>
            <a:srgbClr val="004D40">
              <a:alpha val="100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1092200" y="1803400"/>
            <a:ext cx="3302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04D40"/>
                </a:solidFill>
                <a:latin typeface="Noto Sans SC" panose="020B0200000000000000" charset="-122"/>
                <a:ea typeface="Noto Sans SC" panose="020B0200000000000000" charset="-122"/>
                <a:cs typeface="Noto Sans SC" panose="020B0200000000000000" charset="-122"/>
                <a:sym typeface="Noto Sans SC" panose="020B0200000000000000" charset="-122"/>
              </a:rPr>
              <a:t>语言与运行环境</a:t>
            </a:r>
            <a:endParaRPr lang="en-US" sz="1100"/>
          </a:p>
        </p:txBody>
      </p:sp>
      <p:sp>
        <p:nvSpPr>
          <p:cNvPr id="6" name="AutoShape 6"/>
          <p:cNvSpPr/>
          <p:nvPr/>
        </p:nvSpPr>
        <p:spPr>
          <a:xfrm>
            <a:off x="1092200" y="2286000"/>
            <a:ext cx="3302000" cy="635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200" b="0" i="0" u="none" strike="noStrike">
                <a:solidFill>
                  <a:srgbClr val="6B6B6B"/>
                </a:solidFill>
                <a:latin typeface="Noto Sans SC" panose="020B0200000000000000" charset="-122"/>
                <a:ea typeface="Noto Sans SC" panose="020B0200000000000000" charset="-122"/>
                <a:cs typeface="Noto Sans SC" panose="020B0200000000000000" charset="-122"/>
                <a:sym typeface="Noto Sans SC" panose="020B0200000000000000" charset="-122"/>
              </a:rPr>
              <a:t>采用 Rust (`no_std` + `alloc`) 与 C 混合开发内核，兼顾内存安全与底层兼容性。</a:t>
            </a:r>
            <a:endParaRPr lang="en-US" sz="1100"/>
          </a:p>
        </p:txBody>
      </p:sp>
      <p:sp>
        <p:nvSpPr>
          <p:cNvPr id="7" name="AutoShape 7"/>
          <p:cNvSpPr/>
          <p:nvPr/>
        </p:nvSpPr>
        <p:spPr>
          <a:xfrm>
            <a:off x="812800" y="3302000"/>
            <a:ext cx="3810000" cy="1397000"/>
          </a:xfrm>
          <a:prstGeom prst="roundRect">
            <a:avLst>
              <a:gd name="adj" fmla="val 7272"/>
            </a:avLst>
          </a:prstGeom>
          <a:solidFill>
            <a:srgbClr val="FFFFFF">
              <a:alpha val="100000"/>
            </a:srgbClr>
          </a:solidFill>
          <a:ln w="25400" cap="flat" cmpd="sng">
            <a:noFill/>
            <a:prstDash val="solid"/>
            <a:round/>
          </a:ln>
          <a:effectLst>
            <a:outerShdw blurRad="127000" dist="50800" dir="5400000" algn="tl" rotWithShape="0">
              <a:srgbClr val="000000">
                <a:alpha val="8000"/>
              </a:srgbClr>
            </a:outerShdw>
          </a:effectLst>
        </p:spPr>
        <p:txBody>
          <a:bodyPr vert="horz" wrap="square" lIns="63500" tIns="63500" rIns="63500" bIns="63500" rtlCol="0" anchor="ctr"/>
          <a:lstStyle/>
          <a:p>
            <a:pPr algn="ctr">
              <a:defRPr/>
            </a:pPr>
          </a:p>
        </p:txBody>
      </p:sp>
      <p:sp>
        <p:nvSpPr>
          <p:cNvPr id="8" name="AutoShape 8"/>
          <p:cNvSpPr/>
          <p:nvPr/>
        </p:nvSpPr>
        <p:spPr>
          <a:xfrm>
            <a:off x="812800" y="3302000"/>
            <a:ext cx="76200" cy="1397000"/>
          </a:xfrm>
          <a:prstGeom prst="roundRect">
            <a:avLst>
              <a:gd name="adj" fmla="val 0"/>
            </a:avLst>
          </a:prstGeom>
          <a:solidFill>
            <a:srgbClr val="004D40">
              <a:alpha val="100000"/>
            </a:srgbClr>
          </a:solidFill>
          <a:ln w="25400" cap="flat" cmpd="sng">
            <a:noFill/>
            <a:prstDash val="solid"/>
            <a:round/>
          </a:ln>
        </p:spPr>
        <p:txBody>
          <a:bodyPr vert="horz" wrap="square" lIns="63500" tIns="63500" rIns="63500" bIns="63500" rtlCol="0" anchor="ctr"/>
          <a:lstStyle/>
          <a:p>
            <a:pPr algn="ctr">
              <a:defRPr/>
            </a:pPr>
          </a:p>
        </p:txBody>
      </p:sp>
      <p:sp>
        <p:nvSpPr>
          <p:cNvPr id="9" name="AutoShape 9"/>
          <p:cNvSpPr/>
          <p:nvPr/>
        </p:nvSpPr>
        <p:spPr>
          <a:xfrm>
            <a:off x="1092200" y="3454400"/>
            <a:ext cx="3302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04D40"/>
                </a:solidFill>
                <a:latin typeface="Noto Sans SC" panose="020B0200000000000000" charset="-122"/>
                <a:ea typeface="Noto Sans SC" panose="020B0200000000000000" charset="-122"/>
                <a:cs typeface="Noto Sans SC" panose="020B0200000000000000" charset="-122"/>
                <a:sym typeface="Noto Sans SC" panose="020B0200000000000000" charset="-122"/>
              </a:rPr>
              <a:t>交互与绑定机制</a:t>
            </a:r>
            <a:endParaRPr lang="en-US" sz="1100"/>
          </a:p>
        </p:txBody>
      </p:sp>
      <p:sp>
        <p:nvSpPr>
          <p:cNvPr id="10" name="AutoShape 10"/>
          <p:cNvSpPr/>
          <p:nvPr/>
        </p:nvSpPr>
        <p:spPr>
          <a:xfrm>
            <a:off x="1092200" y="3937000"/>
            <a:ext cx="3302000" cy="635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200" b="0" i="0" u="none" strike="noStrike">
                <a:solidFill>
                  <a:srgbClr val="6B6B6B"/>
                </a:solidFill>
                <a:latin typeface="Noto Sans SC" panose="020B0200000000000000" charset="-122"/>
                <a:ea typeface="Noto Sans SC" panose="020B0200000000000000" charset="-122"/>
                <a:cs typeface="Noto Sans SC" panose="020B0200000000000000" charset="-122"/>
                <a:sym typeface="Noto Sans SC" panose="020B0200000000000000" charset="-122"/>
              </a:rPr>
              <a:t>基于 FFI / `bindgen` 实现跨语言调用，利用 `repr(C)` 保证数据结构在 Rust 与 C 间的严格对齐。</a:t>
            </a:r>
            <a:endParaRPr lang="en-US" sz="1100"/>
          </a:p>
        </p:txBody>
      </p:sp>
      <p:sp>
        <p:nvSpPr>
          <p:cNvPr id="11" name="AutoShape 11"/>
          <p:cNvSpPr/>
          <p:nvPr/>
        </p:nvSpPr>
        <p:spPr>
          <a:xfrm>
            <a:off x="812800" y="4953000"/>
            <a:ext cx="3810000" cy="1397000"/>
          </a:xfrm>
          <a:prstGeom prst="roundRect">
            <a:avLst>
              <a:gd name="adj" fmla="val 7272"/>
            </a:avLst>
          </a:prstGeom>
          <a:solidFill>
            <a:srgbClr val="FFFFFF">
              <a:alpha val="100000"/>
            </a:srgbClr>
          </a:solidFill>
          <a:ln w="25400" cap="flat" cmpd="sng">
            <a:noFill/>
            <a:prstDash val="solid"/>
            <a:round/>
          </a:ln>
          <a:effectLst>
            <a:outerShdw blurRad="127000" dist="50800" dir="5400000" algn="tl" rotWithShape="0">
              <a:srgbClr val="000000">
                <a:alpha val="8000"/>
              </a:srgbClr>
            </a:outerShdw>
          </a:effectLst>
        </p:spPr>
        <p:txBody>
          <a:bodyPr vert="horz" wrap="square" lIns="63500" tIns="63500" rIns="63500" bIns="63500" rtlCol="0" anchor="ctr"/>
          <a:lstStyle/>
          <a:p>
            <a:pPr algn="ctr">
              <a:defRPr/>
            </a:pPr>
          </a:p>
        </p:txBody>
      </p:sp>
      <p:sp>
        <p:nvSpPr>
          <p:cNvPr id="12" name="AutoShape 12"/>
          <p:cNvSpPr/>
          <p:nvPr/>
        </p:nvSpPr>
        <p:spPr>
          <a:xfrm>
            <a:off x="812800" y="4953000"/>
            <a:ext cx="76200" cy="1397000"/>
          </a:xfrm>
          <a:prstGeom prst="roundRect">
            <a:avLst>
              <a:gd name="adj" fmla="val 0"/>
            </a:avLst>
          </a:prstGeom>
          <a:solidFill>
            <a:srgbClr val="004D40">
              <a:alpha val="100000"/>
            </a:srgbClr>
          </a:solidFill>
          <a:ln w="25400" cap="flat" cmpd="sng">
            <a:noFill/>
            <a:prstDash val="solid"/>
            <a:round/>
          </a:ln>
        </p:spPr>
        <p:txBody>
          <a:bodyPr vert="horz" wrap="square" lIns="63500" tIns="63500" rIns="63500" bIns="63500" rtlCol="0" anchor="ctr"/>
          <a:lstStyle/>
          <a:p>
            <a:pPr algn="ctr">
              <a:defRPr/>
            </a:pPr>
          </a:p>
        </p:txBody>
      </p:sp>
      <p:sp>
        <p:nvSpPr>
          <p:cNvPr id="13" name="AutoShape 13"/>
          <p:cNvSpPr/>
          <p:nvPr/>
        </p:nvSpPr>
        <p:spPr>
          <a:xfrm>
            <a:off x="1092200" y="5105400"/>
            <a:ext cx="3302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04D40"/>
                </a:solidFill>
                <a:latin typeface="Noto Sans SC" panose="020B0200000000000000" charset="-122"/>
                <a:ea typeface="Noto Sans SC" panose="020B0200000000000000" charset="-122"/>
                <a:cs typeface="Noto Sans SC" panose="020B0200000000000000" charset="-122"/>
                <a:sym typeface="Noto Sans SC" panose="020B0200000000000000" charset="-122"/>
              </a:rPr>
              <a:t>全链路验证环境</a:t>
            </a:r>
            <a:endParaRPr lang="en-US" sz="1100"/>
          </a:p>
        </p:txBody>
      </p:sp>
      <p:sp>
        <p:nvSpPr>
          <p:cNvPr id="14" name="AutoShape 14"/>
          <p:cNvSpPr/>
          <p:nvPr/>
        </p:nvSpPr>
        <p:spPr>
          <a:xfrm>
            <a:off x="1092200" y="5588000"/>
            <a:ext cx="3302000" cy="635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200" b="0" i="0" u="none" strike="noStrike">
                <a:solidFill>
                  <a:srgbClr val="6B6B6B"/>
                </a:solidFill>
                <a:latin typeface="Noto Sans SC" panose="020B0200000000000000" charset="-122"/>
                <a:ea typeface="Noto Sans SC" panose="020B0200000000000000" charset="-122"/>
                <a:cs typeface="Noto Sans SC" panose="020B0200000000000000" charset="-122"/>
                <a:sym typeface="Noto Sans SC" panose="020B0200000000000000" charset="-122"/>
              </a:rPr>
              <a:t>构建“单元测试 + QEMU 仿真 + 开发板真机”三级验证体系，确保核心模块的功能正确性与稳定性。</a:t>
            </a:r>
            <a:endParaRPr lang="en-US" sz="1100"/>
          </a:p>
        </p:txBody>
      </p:sp>
      <p:sp>
        <p:nvSpPr>
          <p:cNvPr id="15" name="AutoShape 15"/>
          <p:cNvSpPr/>
          <p:nvPr/>
        </p:nvSpPr>
        <p:spPr>
          <a:xfrm>
            <a:off x="4953000" y="1651000"/>
            <a:ext cx="6096000" cy="1143000"/>
          </a:xfrm>
          <a:prstGeom prst="roundRect">
            <a:avLst>
              <a:gd name="adj" fmla="val 8888"/>
            </a:avLst>
          </a:prstGeom>
          <a:solidFill>
            <a:srgbClr val="FFFFFF">
              <a:alpha val="100000"/>
            </a:srgbClr>
          </a:solidFill>
          <a:ln w="25400" cap="flat" cmpd="sng">
            <a:noFill/>
            <a:prstDash val="solid"/>
            <a:round/>
          </a:ln>
          <a:effectLst>
            <a:outerShdw blurRad="101600" dist="38100" dir="5400000" algn="tl" rotWithShape="0">
              <a:srgbClr val="000000">
                <a:alpha val="6000"/>
              </a:srgbClr>
            </a:outerShdw>
          </a:effectLst>
        </p:spPr>
        <p:txBody>
          <a:bodyPr vert="horz" wrap="square" lIns="63500" tIns="63500" rIns="63500" bIns="63500" rtlCol="0" anchor="ctr"/>
          <a:lstStyle/>
          <a:p>
            <a:pPr algn="ctr">
              <a:defRPr/>
            </a:pPr>
          </a:p>
        </p:txBody>
      </p:sp>
      <p:sp>
        <p:nvSpPr>
          <p:cNvPr id="16" name="AutoShape 16"/>
          <p:cNvSpPr/>
          <p:nvPr/>
        </p:nvSpPr>
        <p:spPr>
          <a:xfrm>
            <a:off x="5207000" y="1803400"/>
            <a:ext cx="5588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1A1A1A"/>
                </a:solidFill>
                <a:latin typeface="Noto Sans SC" panose="020B0200000000000000" charset="-122"/>
                <a:ea typeface="Noto Sans SC" panose="020B0200000000000000" charset="-122"/>
                <a:cs typeface="Noto Sans SC" panose="020B0200000000000000" charset="-122"/>
                <a:sym typeface="Noto Sans SC" panose="020B0200000000000000" charset="-122"/>
              </a:rPr>
              <a:t>用户应用 (User Application)</a:t>
            </a:r>
            <a:endParaRPr lang="en-US" sz="1100"/>
          </a:p>
        </p:txBody>
      </p:sp>
      <p:sp>
        <p:nvSpPr>
          <p:cNvPr id="17" name="AutoShape 17"/>
          <p:cNvSpPr/>
          <p:nvPr/>
        </p:nvSpPr>
        <p:spPr>
          <a:xfrm>
            <a:off x="5207000" y="2286000"/>
            <a:ext cx="5588000" cy="508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200" b="0" i="0" u="none" strike="noStrike">
                <a:solidFill>
                  <a:srgbClr val="6B6B6B"/>
                </a:solidFill>
                <a:latin typeface="Noto Sans SC" panose="020B0200000000000000" charset="-122"/>
                <a:ea typeface="Noto Sans SC" panose="020B0200000000000000" charset="-122"/>
                <a:cs typeface="Noto Sans SC" panose="020B0200000000000000" charset="-122"/>
                <a:sym typeface="Noto Sans SC" panose="020B0200000000000000" charset="-122"/>
              </a:rPr>
              <a:t>位于架构顶层，负责具体业务逻辑实现。不再直接操作内核，而是通过 IronClaw 标准化接口发起交互请求。</a:t>
            </a:r>
            <a:endParaRPr lang="en-US" sz="1100"/>
          </a:p>
        </p:txBody>
      </p:sp>
      <p:pic>
        <p:nvPicPr>
          <p:cNvPr id="18" name="Picture 18"/>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747000" y="2857500"/>
            <a:ext cx="304800" cy="304800"/>
          </a:xfrm>
          <a:prstGeom prst="rect">
            <a:avLst/>
          </a:prstGeom>
        </p:spPr>
      </p:pic>
      <p:sp>
        <p:nvSpPr>
          <p:cNvPr id="19" name="AutoShape 19"/>
          <p:cNvSpPr/>
          <p:nvPr/>
        </p:nvSpPr>
        <p:spPr>
          <a:xfrm>
            <a:off x="4953000" y="3390900"/>
            <a:ext cx="6096000" cy="1206500"/>
          </a:xfrm>
          <a:prstGeom prst="roundRect">
            <a:avLst>
              <a:gd name="adj" fmla="val 8421"/>
            </a:avLst>
          </a:prstGeom>
          <a:solidFill>
            <a:srgbClr val="B2DFDB">
              <a:alpha val="100000"/>
            </a:srgbClr>
          </a:solidFill>
          <a:ln w="25400" cap="flat" cmpd="sng">
            <a:noFill/>
            <a:prstDash val="solid"/>
            <a:round/>
          </a:ln>
        </p:spPr>
        <p:txBody>
          <a:bodyPr vert="horz" wrap="square" lIns="63500" tIns="63500" rIns="63500" bIns="63500" rtlCol="0" anchor="ctr"/>
          <a:lstStyle/>
          <a:p>
            <a:pPr algn="ctr">
              <a:defRPr/>
            </a:pPr>
          </a:p>
        </p:txBody>
      </p:sp>
      <p:sp>
        <p:nvSpPr>
          <p:cNvPr id="20" name="AutoShape 20"/>
          <p:cNvSpPr/>
          <p:nvPr/>
        </p:nvSpPr>
        <p:spPr>
          <a:xfrm>
            <a:off x="5207000" y="3543300"/>
            <a:ext cx="5588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04D40"/>
                </a:solidFill>
                <a:latin typeface="Noto Sans SC" panose="020B0200000000000000" charset="-122"/>
                <a:ea typeface="Noto Sans SC" panose="020B0200000000000000" charset="-122"/>
                <a:cs typeface="Noto Sans SC" panose="020B0200000000000000" charset="-122"/>
                <a:sym typeface="Noto Sans SC" panose="020B0200000000000000" charset="-122"/>
              </a:rPr>
              <a:t>IronClaw 接口层 (Interface Layer)</a:t>
            </a:r>
            <a:endParaRPr lang="en-US" sz="1100"/>
          </a:p>
        </p:txBody>
      </p:sp>
      <p:sp>
        <p:nvSpPr>
          <p:cNvPr id="21" name="AutoShape 21"/>
          <p:cNvSpPr/>
          <p:nvPr/>
        </p:nvSpPr>
        <p:spPr>
          <a:xfrm>
            <a:off x="5207000" y="4025900"/>
            <a:ext cx="5588000" cy="508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200" b="0" i="0" u="none" strike="noStrike">
                <a:solidFill>
                  <a:srgbClr val="1A1A1A"/>
                </a:solidFill>
                <a:latin typeface="Noto Sans SC" panose="020B0200000000000000" charset="-122"/>
                <a:ea typeface="Noto Sans SC" panose="020B0200000000000000" charset="-122"/>
                <a:cs typeface="Noto Sans SC" panose="020B0200000000000000" charset="-122"/>
                <a:sym typeface="Noto Sans SC" panose="020B0200000000000000" charset="-122"/>
              </a:rPr>
              <a:t>安全隔离的核心枢纽。负责系统调用的统一封装、调用者权限校验、输入参数的合法性检查，拦截非法请求。</a:t>
            </a:r>
            <a:endParaRPr lang="en-US" sz="1100"/>
          </a:p>
        </p:txBody>
      </p:sp>
      <p:pic>
        <p:nvPicPr>
          <p:cNvPr id="22" name="Picture 22"/>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747000" y="4648200"/>
            <a:ext cx="304800" cy="304800"/>
          </a:xfrm>
          <a:prstGeom prst="rect">
            <a:avLst/>
          </a:prstGeom>
        </p:spPr>
      </p:pic>
      <p:sp>
        <p:nvSpPr>
          <p:cNvPr id="23" name="AutoShape 23"/>
          <p:cNvSpPr/>
          <p:nvPr/>
        </p:nvSpPr>
        <p:spPr>
          <a:xfrm>
            <a:off x="4953000" y="5041900"/>
            <a:ext cx="6096000" cy="1206500"/>
          </a:xfrm>
          <a:prstGeom prst="roundRect">
            <a:avLst>
              <a:gd name="adj" fmla="val 8421"/>
            </a:avLst>
          </a:prstGeom>
          <a:solidFill>
            <a:srgbClr val="B2DFDB">
              <a:alpha val="100000"/>
            </a:srgbClr>
          </a:solidFill>
          <a:ln w="25400" cap="flat" cmpd="sng">
            <a:noFill/>
            <a:prstDash val="solid"/>
            <a:round/>
          </a:ln>
        </p:spPr>
        <p:txBody>
          <a:bodyPr vert="horz" wrap="square" lIns="63500" tIns="63500" rIns="63500" bIns="63500" rtlCol="0" anchor="ctr"/>
          <a:lstStyle/>
          <a:p>
            <a:pPr algn="ctr">
              <a:defRPr/>
            </a:pPr>
          </a:p>
        </p:txBody>
      </p:sp>
      <p:sp>
        <p:nvSpPr>
          <p:cNvPr id="24" name="AutoShape 24"/>
          <p:cNvSpPr/>
          <p:nvPr/>
        </p:nvSpPr>
        <p:spPr>
          <a:xfrm>
            <a:off x="5207000" y="5194300"/>
            <a:ext cx="5588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04D40"/>
                </a:solidFill>
                <a:latin typeface="Noto Sans SC" panose="020B0200000000000000" charset="-122"/>
                <a:ea typeface="Noto Sans SC" panose="020B0200000000000000" charset="-122"/>
                <a:cs typeface="Noto Sans SC" panose="020B0200000000000000" charset="-122"/>
                <a:sym typeface="Noto Sans SC" panose="020B0200000000000000" charset="-122"/>
              </a:rPr>
              <a:t>Rust 改写内核模块 (Core Modules)</a:t>
            </a:r>
            <a:endParaRPr lang="en-US" sz="1100"/>
          </a:p>
        </p:txBody>
      </p:sp>
      <p:sp>
        <p:nvSpPr>
          <p:cNvPr id="25" name="AutoShape 25"/>
          <p:cNvSpPr/>
          <p:nvPr/>
        </p:nvSpPr>
        <p:spPr>
          <a:xfrm>
            <a:off x="5207000" y="5676900"/>
            <a:ext cx="5588000" cy="508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200" b="0" i="0" u="none" strike="noStrike">
                <a:solidFill>
                  <a:srgbClr val="1A1A1A"/>
                </a:solidFill>
                <a:latin typeface="Noto Sans SC" panose="020B0200000000000000" charset="-122"/>
                <a:ea typeface="Noto Sans SC" panose="020B0200000000000000" charset="-122"/>
                <a:cs typeface="Noto Sans SC" panose="020B0200000000000000" charset="-122"/>
                <a:sym typeface="Noto Sans SC" panose="020B0200000000000000" charset="-122"/>
              </a:rPr>
              <a:t>包含 Task (任务管理)、Sched (调度)、IPC (进程通信)、Memory (内存管理) 等核心组件，利用 Rust 特性消除内存安全隐患。</a:t>
            </a:r>
            <a:endParaRPr lang="en-US" sz="110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AF8F5">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812800" y="558800"/>
            <a:ext cx="105664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1A1A1A"/>
                </a:solidFill>
                <a:latin typeface="Noto Sans SC" panose="020B0200000000000000" charset="-122"/>
                <a:ea typeface="Noto Sans SC" panose="020B0200000000000000" charset="-122"/>
                <a:cs typeface="Noto Sans SC" panose="020B0200000000000000" charset="-122"/>
                <a:sym typeface="Noto Sans SC" panose="020B0200000000000000" charset="-122"/>
              </a:rPr>
              <a:t>明确模块改写优先级，确保项目从核心路径稳步推进</a:t>
            </a:r>
            <a:endParaRPr lang="en-US" sz="1100"/>
          </a:p>
        </p:txBody>
      </p:sp>
      <p:sp>
        <p:nvSpPr>
          <p:cNvPr id="3" name="AutoShape 3"/>
          <p:cNvSpPr/>
          <p:nvPr/>
        </p:nvSpPr>
        <p:spPr>
          <a:xfrm>
            <a:off x="812800" y="1219200"/>
            <a:ext cx="105664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6B6B6B"/>
                </a:solidFill>
                <a:latin typeface="Noto Sans SC" panose="020B0200000000000000" charset="-122"/>
                <a:ea typeface="Noto Sans SC" panose="020B0200000000000000" charset="-122"/>
                <a:cs typeface="Noto Sans SC" panose="020B0200000000000000" charset="-122"/>
                <a:sym typeface="Noto Sans SC" panose="020B0200000000000000" charset="-122"/>
              </a:rPr>
              <a:t>已有基础：2024届成果已完成 `mm/los_memory.c` 的 Rust 改写</a:t>
            </a:r>
            <a:endParaRPr lang="en-US" sz="1100"/>
          </a:p>
        </p:txBody>
      </p:sp>
      <p:sp>
        <p:nvSpPr>
          <p:cNvPr id="4" name="AutoShape 4"/>
          <p:cNvSpPr/>
          <p:nvPr/>
        </p:nvSpPr>
        <p:spPr>
          <a:xfrm>
            <a:off x="812800" y="1905000"/>
            <a:ext cx="3302000" cy="4191000"/>
          </a:xfrm>
          <a:prstGeom prst="roundRect">
            <a:avLst>
              <a:gd name="adj" fmla="val 4615"/>
            </a:avLst>
          </a:prstGeom>
          <a:solidFill>
            <a:srgbClr val="FFFFFF">
              <a:alpha val="100000"/>
            </a:srgbClr>
          </a:solidFill>
          <a:ln w="25400" cap="flat" cmpd="sng">
            <a:noFill/>
            <a:prstDash val="solid"/>
            <a:round/>
          </a:ln>
          <a:effectLst>
            <a:outerShdw blurRad="203200" dist="50800" dir="5400000" algn="tl" rotWithShape="0">
              <a:srgbClr val="000000">
                <a:alpha val="8000"/>
              </a:srgbClr>
            </a:outerShdw>
          </a:effectLst>
        </p:spPr>
        <p:txBody>
          <a:bodyPr vert="horz" wrap="square" lIns="63500" tIns="63500" rIns="63500" bIns="63500" rtlCol="0" anchor="ctr"/>
          <a:lstStyle/>
          <a:p>
            <a:pPr algn="ctr">
              <a:defRPr/>
            </a:pPr>
          </a:p>
        </p:txBody>
      </p:sp>
      <p:sp>
        <p:nvSpPr>
          <p:cNvPr id="5" name="AutoShape 5"/>
          <p:cNvSpPr/>
          <p:nvPr/>
        </p:nvSpPr>
        <p:spPr>
          <a:xfrm>
            <a:off x="812800" y="1905000"/>
            <a:ext cx="3302000" cy="889000"/>
          </a:xfrm>
          <a:prstGeom prst="roundRect">
            <a:avLst>
              <a:gd name="adj" fmla="val 17142"/>
            </a:avLst>
          </a:prstGeom>
          <a:solidFill>
            <a:srgbClr val="004D40">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812800" y="2095500"/>
            <a:ext cx="3302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 核心攻坚 (Highest)</a:t>
            </a:r>
            <a:endParaRPr lang="en-US" sz="1100"/>
          </a:p>
        </p:txBody>
      </p:sp>
      <p:sp>
        <p:nvSpPr>
          <p:cNvPr id="7" name="AutoShape 7"/>
          <p:cNvSpPr/>
          <p:nvPr/>
        </p:nvSpPr>
        <p:spPr>
          <a:xfrm>
            <a:off x="1066800" y="3048000"/>
            <a:ext cx="2794000" cy="1016000"/>
          </a:xfrm>
          <a:prstGeom prst="roundRect">
            <a:avLst>
              <a:gd name="adj" fmla="val 10000"/>
            </a:avLst>
          </a:prstGeom>
          <a:solidFill>
            <a:srgbClr val="E0F2F1">
              <a:alpha val="100000"/>
            </a:srgbClr>
          </a:solidFill>
          <a:ln w="25400" cap="flat" cmpd="sng">
            <a:noFill/>
            <a:prstDash val="solid"/>
            <a:round/>
          </a:ln>
        </p:spPr>
        <p:txBody>
          <a:bodyPr vert="horz" wrap="square" lIns="63500" tIns="63500" rIns="63500" bIns="63500" rtlCol="0" anchor="ctr"/>
          <a:lstStyle/>
          <a:p>
            <a:pPr algn="ctr">
              <a:defRPr/>
            </a:pPr>
          </a:p>
        </p:txBody>
      </p:sp>
      <p:sp>
        <p:nvSpPr>
          <p:cNvPr id="8" name="AutoShape 8"/>
          <p:cNvSpPr/>
          <p:nvPr/>
        </p:nvSpPr>
        <p:spPr>
          <a:xfrm>
            <a:off x="1193800" y="3175000"/>
            <a:ext cx="2540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1" i="0" u="none" strike="noStrike">
                <a:solidFill>
                  <a:srgbClr val="004D40"/>
                </a:solidFill>
                <a:latin typeface="Noto Sans SC" panose="020B0200000000000000" charset="-122"/>
                <a:ea typeface="Noto Sans SC" panose="020B0200000000000000" charset="-122"/>
                <a:cs typeface="Noto Sans SC" panose="020B0200000000000000" charset="-122"/>
                <a:sym typeface="Noto Sans SC" panose="020B0200000000000000" charset="-122"/>
              </a:rPr>
              <a:t>TARGET MODULES</a:t>
            </a:r>
            <a:endParaRPr lang="en-US" sz="1100"/>
          </a:p>
        </p:txBody>
      </p:sp>
      <p:sp>
        <p:nvSpPr>
          <p:cNvPr id="9" name="AutoShape 9"/>
          <p:cNvSpPr/>
          <p:nvPr/>
        </p:nvSpPr>
        <p:spPr>
          <a:xfrm>
            <a:off x="1193800" y="3492500"/>
            <a:ext cx="2540000" cy="508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1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los_sortlink.c / los_task.c</a:t>
            </a:r>
            <a:br>
              <a:rPr lang="en-US" sz="11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1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los_sched.c</a:t>
            </a:r>
            <a:endParaRPr lang="en-US" sz="1100"/>
          </a:p>
        </p:txBody>
      </p:sp>
      <p:sp>
        <p:nvSpPr>
          <p:cNvPr id="10" name="AutoShape 10"/>
          <p:cNvSpPr/>
          <p:nvPr/>
        </p:nvSpPr>
        <p:spPr>
          <a:xfrm>
            <a:off x="1066800" y="4318000"/>
            <a:ext cx="2794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1A1A1A"/>
                </a:solidFill>
                <a:latin typeface="Noto Sans SC" panose="020B0200000000000000" charset="-122"/>
                <a:ea typeface="Noto Sans SC" panose="020B0200000000000000" charset="-122"/>
                <a:cs typeface="Noto Sans SC" panose="020B0200000000000000" charset="-122"/>
                <a:sym typeface="Noto Sans SC" panose="020B0200000000000000" charset="-122"/>
              </a:rPr>
              <a:t>📌 改写策略与价值</a:t>
            </a:r>
            <a:endParaRPr lang="en-US" sz="1100"/>
          </a:p>
        </p:txBody>
      </p:sp>
      <p:sp>
        <p:nvSpPr>
          <p:cNvPr id="11" name="AutoShape 11"/>
          <p:cNvSpPr/>
          <p:nvPr/>
        </p:nvSpPr>
        <p:spPr>
          <a:xfrm>
            <a:off x="1066800" y="4699000"/>
            <a:ext cx="2794000" cy="1016000"/>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en-US" sz="1100" b="0" i="0" u="none" strike="noStrike">
                <a:solidFill>
                  <a:srgbClr val="6B6B6B"/>
                </a:solidFill>
                <a:latin typeface="Noto Sans SC" panose="020B0200000000000000" charset="-122"/>
                <a:ea typeface="Noto Sans SC" panose="020B0200000000000000" charset="-122"/>
                <a:cs typeface="Noto Sans SC" panose="020B0200000000000000" charset="-122"/>
                <a:sym typeface="Noto Sans SC" panose="020B0200000000000000" charset="-122"/>
              </a:rPr>
              <a:t>位于内核核心路径，是内存安全漏洞的高发区。作为项目启动的第一阶段目标，投入核心资源进行攻坚，确保基础稳固。</a:t>
            </a:r>
            <a:endParaRPr lang="en-US" sz="1100"/>
          </a:p>
        </p:txBody>
      </p:sp>
      <p:sp>
        <p:nvSpPr>
          <p:cNvPr id="12" name="AutoShape 12"/>
          <p:cNvSpPr/>
          <p:nvPr/>
        </p:nvSpPr>
        <p:spPr>
          <a:xfrm>
            <a:off x="4445000" y="1905000"/>
            <a:ext cx="3302000" cy="4191000"/>
          </a:xfrm>
          <a:prstGeom prst="roundRect">
            <a:avLst>
              <a:gd name="adj" fmla="val 4615"/>
            </a:avLst>
          </a:prstGeom>
          <a:solidFill>
            <a:srgbClr val="FFFFFF">
              <a:alpha val="100000"/>
            </a:srgbClr>
          </a:solidFill>
          <a:ln w="25400" cap="flat" cmpd="sng">
            <a:noFill/>
            <a:prstDash val="solid"/>
            <a:round/>
          </a:ln>
          <a:effectLst>
            <a:outerShdw blurRad="203200" dist="50800" dir="5400000" algn="tl" rotWithShape="0">
              <a:srgbClr val="000000">
                <a:alpha val="8000"/>
              </a:srgbClr>
            </a:outerShdw>
          </a:effectLst>
        </p:spPr>
        <p:txBody>
          <a:bodyPr vert="horz" wrap="square" lIns="63500" tIns="63500" rIns="63500" bIns="63500" rtlCol="0" anchor="ctr"/>
          <a:lstStyle/>
          <a:p>
            <a:pPr algn="ctr">
              <a:defRPr/>
            </a:pPr>
          </a:p>
        </p:txBody>
      </p:sp>
      <p:sp>
        <p:nvSpPr>
          <p:cNvPr id="13" name="AutoShape 13"/>
          <p:cNvSpPr/>
          <p:nvPr/>
        </p:nvSpPr>
        <p:spPr>
          <a:xfrm>
            <a:off x="4445000" y="1905000"/>
            <a:ext cx="3302000" cy="889000"/>
          </a:xfrm>
          <a:prstGeom prst="roundRect">
            <a:avLst>
              <a:gd name="adj" fmla="val 17142"/>
            </a:avLst>
          </a:prstGeom>
          <a:solidFill>
            <a:srgbClr val="B2DFDB">
              <a:alpha val="100000"/>
            </a:srgbClr>
          </a:solidFill>
          <a:ln w="25400" cap="flat" cmpd="sng">
            <a:noFill/>
            <a:prstDash val="solid"/>
            <a:round/>
          </a:ln>
        </p:spPr>
        <p:txBody>
          <a:bodyPr vert="horz" wrap="square" lIns="63500" tIns="63500" rIns="63500" bIns="63500" rtlCol="0" anchor="ctr"/>
          <a:lstStyle/>
          <a:p>
            <a:pPr algn="ctr">
              <a:defRPr/>
            </a:pPr>
          </a:p>
        </p:txBody>
      </p:sp>
      <p:sp>
        <p:nvSpPr>
          <p:cNvPr id="14" name="AutoShape 14"/>
          <p:cNvSpPr/>
          <p:nvPr/>
        </p:nvSpPr>
        <p:spPr>
          <a:xfrm>
            <a:off x="4445000" y="2095500"/>
            <a:ext cx="3302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1" i="0" u="none" strike="noStrike">
                <a:solidFill>
                  <a:srgbClr val="004D40"/>
                </a:solidFill>
                <a:latin typeface="Noto Sans SC" panose="020B0200000000000000" charset="-122"/>
                <a:ea typeface="Noto Sans SC" panose="020B0200000000000000" charset="-122"/>
                <a:cs typeface="Noto Sans SC" panose="020B0200000000000000" charset="-122"/>
                <a:sym typeface="Noto Sans SC" panose="020B0200000000000000" charset="-122"/>
              </a:rPr>
              <a:t>★★ 并行推进 (High)</a:t>
            </a:r>
            <a:endParaRPr lang="en-US" sz="1100"/>
          </a:p>
        </p:txBody>
      </p:sp>
      <p:sp>
        <p:nvSpPr>
          <p:cNvPr id="15" name="AutoShape 15"/>
          <p:cNvSpPr/>
          <p:nvPr/>
        </p:nvSpPr>
        <p:spPr>
          <a:xfrm>
            <a:off x="4699000" y="3048000"/>
            <a:ext cx="2794000" cy="1016000"/>
          </a:xfrm>
          <a:prstGeom prst="roundRect">
            <a:avLst>
              <a:gd name="adj" fmla="val 10000"/>
            </a:avLst>
          </a:prstGeom>
          <a:solidFill>
            <a:srgbClr val="F5F5F5">
              <a:alpha val="100000"/>
            </a:srgbClr>
          </a:solidFill>
          <a:ln w="25400" cap="flat" cmpd="sng">
            <a:noFill/>
            <a:prstDash val="solid"/>
            <a:round/>
          </a:ln>
        </p:spPr>
        <p:txBody>
          <a:bodyPr vert="horz" wrap="square" lIns="63500" tIns="63500" rIns="63500" bIns="63500" rtlCol="0" anchor="ctr"/>
          <a:lstStyle/>
          <a:p>
            <a:pPr algn="ctr">
              <a:defRPr/>
            </a:pPr>
          </a:p>
        </p:txBody>
      </p:sp>
      <p:sp>
        <p:nvSpPr>
          <p:cNvPr id="16" name="AutoShape 16"/>
          <p:cNvSpPr/>
          <p:nvPr/>
        </p:nvSpPr>
        <p:spPr>
          <a:xfrm>
            <a:off x="4826000" y="3175000"/>
            <a:ext cx="2540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1" i="0" u="none" strike="noStrike">
                <a:solidFill>
                  <a:srgbClr val="004D40"/>
                </a:solidFill>
                <a:latin typeface="Noto Sans SC" panose="020B0200000000000000" charset="-122"/>
                <a:ea typeface="Noto Sans SC" panose="020B0200000000000000" charset="-122"/>
                <a:cs typeface="Noto Sans SC" panose="020B0200000000000000" charset="-122"/>
                <a:sym typeface="Noto Sans SC" panose="020B0200000000000000" charset="-122"/>
              </a:rPr>
              <a:t>IPC SUBSYSTEM</a:t>
            </a:r>
            <a:endParaRPr lang="en-US" sz="1100"/>
          </a:p>
        </p:txBody>
      </p:sp>
      <p:sp>
        <p:nvSpPr>
          <p:cNvPr id="17" name="AutoShape 17"/>
          <p:cNvSpPr/>
          <p:nvPr/>
        </p:nvSpPr>
        <p:spPr>
          <a:xfrm>
            <a:off x="4826000" y="3492500"/>
            <a:ext cx="2540000" cy="508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1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los_sem.c / los_mux.c</a:t>
            </a:r>
            <a:br>
              <a:rPr lang="en-US" sz="11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1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los_queue.c / los_event.c</a:t>
            </a:r>
            <a:endParaRPr lang="en-US" sz="1100"/>
          </a:p>
        </p:txBody>
      </p:sp>
      <p:sp>
        <p:nvSpPr>
          <p:cNvPr id="18" name="AutoShape 18"/>
          <p:cNvSpPr/>
          <p:nvPr/>
        </p:nvSpPr>
        <p:spPr>
          <a:xfrm>
            <a:off x="4699000" y="4318000"/>
            <a:ext cx="2794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1A1A1A"/>
                </a:solidFill>
                <a:latin typeface="Noto Sans SC" panose="020B0200000000000000" charset="-122"/>
                <a:ea typeface="Noto Sans SC" panose="020B0200000000000000" charset="-122"/>
                <a:cs typeface="Noto Sans SC" panose="020B0200000000000000" charset="-122"/>
                <a:sym typeface="Noto Sans SC" panose="020B0200000000000000" charset="-122"/>
              </a:rPr>
              <a:t>⚡ 实施建议</a:t>
            </a:r>
            <a:endParaRPr lang="en-US" sz="1100"/>
          </a:p>
        </p:txBody>
      </p:sp>
      <p:sp>
        <p:nvSpPr>
          <p:cNvPr id="19" name="AutoShape 19"/>
          <p:cNvSpPr/>
          <p:nvPr/>
        </p:nvSpPr>
        <p:spPr>
          <a:xfrm>
            <a:off x="4699000" y="4699000"/>
            <a:ext cx="2794000" cy="1016000"/>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en-US" sz="1100" b="0" i="0" u="none" strike="noStrike">
                <a:solidFill>
                  <a:srgbClr val="6B6B6B"/>
                </a:solidFill>
                <a:latin typeface="Noto Sans SC" panose="020B0200000000000000" charset="-122"/>
                <a:ea typeface="Noto Sans SC" panose="020B0200000000000000" charset="-122"/>
                <a:cs typeface="Noto Sans SC" panose="020B0200000000000000" charset="-122"/>
                <a:sym typeface="Noto Sans SC" panose="020B0200000000000000" charset="-122"/>
              </a:rPr>
              <a:t>模块独立性强，与核心调度耦合度低。适合作为并行任务分配给不同小组，或作为项目第二阶段的重点目标同步开展。</a:t>
            </a:r>
            <a:endParaRPr lang="en-US" sz="1100"/>
          </a:p>
        </p:txBody>
      </p:sp>
      <p:sp>
        <p:nvSpPr>
          <p:cNvPr id="20" name="AutoShape 20"/>
          <p:cNvSpPr/>
          <p:nvPr/>
        </p:nvSpPr>
        <p:spPr>
          <a:xfrm>
            <a:off x="8077200" y="1905000"/>
            <a:ext cx="3302000" cy="4191000"/>
          </a:xfrm>
          <a:prstGeom prst="roundRect">
            <a:avLst>
              <a:gd name="adj" fmla="val 4615"/>
            </a:avLst>
          </a:prstGeom>
          <a:solidFill>
            <a:srgbClr val="FFFFFF">
              <a:alpha val="100000"/>
            </a:srgbClr>
          </a:solidFill>
          <a:ln w="25400" cap="flat" cmpd="sng">
            <a:noFill/>
            <a:prstDash val="solid"/>
            <a:round/>
          </a:ln>
          <a:effectLst>
            <a:outerShdw blurRad="203200" dist="50800" dir="5400000" algn="tl" rotWithShape="0">
              <a:srgbClr val="000000">
                <a:alpha val="8000"/>
              </a:srgbClr>
            </a:outerShdw>
          </a:effectLst>
        </p:spPr>
        <p:txBody>
          <a:bodyPr vert="horz" wrap="square" lIns="63500" tIns="63500" rIns="63500" bIns="63500" rtlCol="0" anchor="ctr"/>
          <a:lstStyle/>
          <a:p>
            <a:pPr algn="ctr">
              <a:defRPr/>
            </a:pPr>
          </a:p>
        </p:txBody>
      </p:sp>
      <p:sp>
        <p:nvSpPr>
          <p:cNvPr id="21" name="AutoShape 21"/>
          <p:cNvSpPr/>
          <p:nvPr/>
        </p:nvSpPr>
        <p:spPr>
          <a:xfrm>
            <a:off x="8077200" y="1905000"/>
            <a:ext cx="3302000" cy="889000"/>
          </a:xfrm>
          <a:prstGeom prst="roundRect">
            <a:avLst>
              <a:gd name="adj" fmla="val 17142"/>
            </a:avLst>
          </a:prstGeom>
          <a:solidFill>
            <a:srgbClr val="E0E0E0">
              <a:alpha val="100000"/>
            </a:srgbClr>
          </a:solidFill>
          <a:ln w="25400" cap="flat" cmpd="sng">
            <a:noFill/>
            <a:prstDash val="solid"/>
            <a:round/>
          </a:ln>
        </p:spPr>
        <p:txBody>
          <a:bodyPr vert="horz" wrap="square" lIns="63500" tIns="63500" rIns="63500" bIns="63500" rtlCol="0" anchor="ctr"/>
          <a:lstStyle/>
          <a:p>
            <a:pPr algn="ctr">
              <a:defRPr/>
            </a:pPr>
          </a:p>
        </p:txBody>
      </p:sp>
      <p:sp>
        <p:nvSpPr>
          <p:cNvPr id="22" name="AutoShape 22"/>
          <p:cNvSpPr/>
          <p:nvPr/>
        </p:nvSpPr>
        <p:spPr>
          <a:xfrm>
            <a:off x="8077200" y="2095500"/>
            <a:ext cx="3302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1"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 后期收尾 (Medium)</a:t>
            </a:r>
            <a:endParaRPr lang="en-US" sz="1100"/>
          </a:p>
        </p:txBody>
      </p:sp>
      <p:sp>
        <p:nvSpPr>
          <p:cNvPr id="23" name="AutoShape 23"/>
          <p:cNvSpPr/>
          <p:nvPr/>
        </p:nvSpPr>
        <p:spPr>
          <a:xfrm>
            <a:off x="8331200" y="3048000"/>
            <a:ext cx="2794000" cy="1016000"/>
          </a:xfrm>
          <a:prstGeom prst="roundRect">
            <a:avLst>
              <a:gd name="adj" fmla="val 10000"/>
            </a:avLst>
          </a:prstGeom>
          <a:solidFill>
            <a:srgbClr val="F5F5F5">
              <a:alpha val="100000"/>
            </a:srgbClr>
          </a:solidFill>
          <a:ln w="25400" cap="flat" cmpd="sng">
            <a:noFill/>
            <a:prstDash val="solid"/>
            <a:round/>
          </a:ln>
        </p:spPr>
        <p:txBody>
          <a:bodyPr vert="horz" wrap="square" lIns="63500" tIns="63500" rIns="63500" bIns="63500" rtlCol="0" anchor="ctr"/>
          <a:lstStyle/>
          <a:p>
            <a:pPr algn="ctr">
              <a:defRPr/>
            </a:pPr>
          </a:p>
        </p:txBody>
      </p:sp>
      <p:sp>
        <p:nvSpPr>
          <p:cNvPr id="24" name="AutoShape 24"/>
          <p:cNvSpPr/>
          <p:nvPr/>
        </p:nvSpPr>
        <p:spPr>
          <a:xfrm>
            <a:off x="8458200" y="3175000"/>
            <a:ext cx="2540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1" i="0" u="none" strike="noStrike">
                <a:solidFill>
                  <a:srgbClr val="004D40"/>
                </a:solidFill>
                <a:latin typeface="Noto Sans SC" panose="020B0200000000000000" charset="-122"/>
                <a:ea typeface="Noto Sans SC" panose="020B0200000000000000" charset="-122"/>
                <a:cs typeface="Noto Sans SC" panose="020B0200000000000000" charset="-122"/>
                <a:sym typeface="Noto Sans SC" panose="020B0200000000000000" charset="-122"/>
              </a:rPr>
              <a:t>SYSTEM AUXILIARY</a:t>
            </a:r>
            <a:endParaRPr lang="en-US" sz="1100"/>
          </a:p>
        </p:txBody>
      </p:sp>
      <p:sp>
        <p:nvSpPr>
          <p:cNvPr id="25" name="AutoShape 25"/>
          <p:cNvSpPr/>
          <p:nvPr/>
        </p:nvSpPr>
        <p:spPr>
          <a:xfrm>
            <a:off x="8458200" y="3492500"/>
            <a:ext cx="2540000" cy="508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1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los_swtmr.c / los_tick.c</a:t>
            </a:r>
            <a:br>
              <a:rPr lang="en-US" sz="11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1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los_init.c</a:t>
            </a:r>
            <a:endParaRPr lang="en-US" sz="1100"/>
          </a:p>
        </p:txBody>
      </p:sp>
      <p:sp>
        <p:nvSpPr>
          <p:cNvPr id="26" name="AutoShape 26"/>
          <p:cNvSpPr/>
          <p:nvPr/>
        </p:nvSpPr>
        <p:spPr>
          <a:xfrm>
            <a:off x="8331200" y="4318000"/>
            <a:ext cx="2794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1A1A1A"/>
                </a:solidFill>
                <a:latin typeface="Noto Sans SC" panose="020B0200000000000000" charset="-122"/>
                <a:ea typeface="Noto Sans SC" panose="020B0200000000000000" charset="-122"/>
                <a:cs typeface="Noto Sans SC" panose="020B0200000000000000" charset="-122"/>
                <a:sym typeface="Noto Sans SC" panose="020B0200000000000000" charset="-122"/>
              </a:rPr>
              <a:t>📅 排期规划</a:t>
            </a:r>
            <a:endParaRPr lang="en-US" sz="1100"/>
          </a:p>
        </p:txBody>
      </p:sp>
      <p:sp>
        <p:nvSpPr>
          <p:cNvPr id="27" name="AutoShape 27"/>
          <p:cNvSpPr/>
          <p:nvPr/>
        </p:nvSpPr>
        <p:spPr>
          <a:xfrm>
            <a:off x="8331200" y="4699000"/>
            <a:ext cx="2794000" cy="1016000"/>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en-US" sz="1100" b="0" i="0" u="none" strike="noStrike">
                <a:solidFill>
                  <a:srgbClr val="6B6B6B"/>
                </a:solidFill>
                <a:latin typeface="Noto Sans SC" panose="020B0200000000000000" charset="-122"/>
                <a:ea typeface="Noto Sans SC" panose="020B0200000000000000" charset="-122"/>
                <a:cs typeface="Noto Sans SC" panose="020B0200000000000000" charset="-122"/>
                <a:sym typeface="Noto Sans SC" panose="020B0200000000000000" charset="-122"/>
              </a:rPr>
              <a:t>功能相对稳定，对系统核心安全影响较小。建议安排在项目后期，作为收尾工作进行系统集成与适配。</a:t>
            </a:r>
            <a:endParaRPr lang="en-US" sz="11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AF8F5">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812800" y="558800"/>
            <a:ext cx="105664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1A1A1A"/>
                </a:solidFill>
                <a:latin typeface="Noto Sans SC" panose="020B0200000000000000" charset="-122"/>
                <a:ea typeface="Noto Sans SC" panose="020B0200000000000000" charset="-122"/>
                <a:cs typeface="Noto Sans SC" panose="020B0200000000000000" charset="-122"/>
                <a:sym typeface="Noto Sans SC" panose="020B0200000000000000" charset="-122"/>
              </a:rPr>
              <a:t>项目分四阶段推进，每个阶段均有明确目标与交付物</a:t>
            </a:r>
            <a:endParaRPr lang="en-US" sz="1100"/>
          </a:p>
        </p:txBody>
      </p:sp>
      <p:sp>
        <p:nvSpPr>
          <p:cNvPr id="3" name="AutoShape 3"/>
          <p:cNvSpPr/>
          <p:nvPr/>
        </p:nvSpPr>
        <p:spPr>
          <a:xfrm>
            <a:off x="812800" y="1397000"/>
            <a:ext cx="2451100" cy="4699000"/>
          </a:xfrm>
          <a:prstGeom prst="roundRect">
            <a:avLst>
              <a:gd name="adj" fmla="val 4145"/>
            </a:avLst>
          </a:prstGeom>
          <a:solidFill>
            <a:srgbClr val="FFFFFF">
              <a:alpha val="100000"/>
            </a:srgbClr>
          </a:solidFill>
          <a:ln w="25400" cap="flat" cmpd="sng">
            <a:noFill/>
            <a:prstDash val="solid"/>
            <a:round/>
          </a:ln>
          <a:effectLst>
            <a:outerShdw blurRad="152400" dist="50800" dir="5400000" algn="tl" rotWithShape="0">
              <a:srgbClr val="000000">
                <a:alpha val="8000"/>
              </a:srgbClr>
            </a:outerShdw>
          </a:effectLst>
        </p:spPr>
        <p:txBody>
          <a:bodyPr vert="horz" wrap="square" lIns="63500" tIns="63500" rIns="63500" bIns="63500" rtlCol="0" anchor="ctr"/>
          <a:lstStyle/>
          <a:p>
            <a:pPr algn="ctr">
              <a:defRPr/>
            </a:pPr>
          </a:p>
        </p:txBody>
      </p:sp>
      <p:sp>
        <p:nvSpPr>
          <p:cNvPr id="4" name="AutoShape 4"/>
          <p:cNvSpPr/>
          <p:nvPr/>
        </p:nvSpPr>
        <p:spPr>
          <a:xfrm>
            <a:off x="812800" y="1397000"/>
            <a:ext cx="2451100" cy="812800"/>
          </a:xfrm>
          <a:prstGeom prst="roundRect">
            <a:avLst>
              <a:gd name="adj" fmla="val 12500"/>
            </a:avLst>
          </a:prstGeom>
          <a:solidFill>
            <a:srgbClr val="004D40">
              <a:alpha val="100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939800" y="1549400"/>
            <a:ext cx="21971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阶段 1：基础验证</a:t>
            </a:r>
            <a:endParaRPr lang="en-US" sz="1100"/>
          </a:p>
        </p:txBody>
      </p:sp>
      <p:sp>
        <p:nvSpPr>
          <p:cNvPr id="6" name="AutoShape 6"/>
          <p:cNvSpPr/>
          <p:nvPr/>
        </p:nvSpPr>
        <p:spPr>
          <a:xfrm>
            <a:off x="1016000" y="2413000"/>
            <a:ext cx="2044700" cy="406400"/>
          </a:xfrm>
          <a:prstGeom prst="roundRect">
            <a:avLst>
              <a:gd name="adj" fmla="val 12500"/>
            </a:avLst>
          </a:prstGeom>
          <a:solidFill>
            <a:srgbClr val="B2DFDB">
              <a:alpha val="100000"/>
            </a:srgbClr>
          </a:solidFill>
          <a:ln w="25400" cap="flat" cmpd="sng">
            <a:noFill/>
            <a:prstDash val="solid"/>
            <a:round/>
          </a:ln>
        </p:spPr>
        <p:txBody>
          <a:bodyPr vert="horz" wrap="square" lIns="63500" tIns="63500" rIns="63500" bIns="63500" rtlCol="0" anchor="ctr"/>
          <a:lstStyle/>
          <a:p>
            <a:pPr algn="ctr">
              <a:defRPr/>
            </a:pPr>
          </a:p>
        </p:txBody>
      </p:sp>
      <p:sp>
        <p:nvSpPr>
          <p:cNvPr id="7" name="AutoShape 7"/>
          <p:cNvSpPr/>
          <p:nvPr/>
        </p:nvSpPr>
        <p:spPr>
          <a:xfrm>
            <a:off x="1143000" y="2413000"/>
            <a:ext cx="1790700" cy="406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004D40"/>
                </a:solidFill>
                <a:latin typeface="Noto Sans SC" panose="020B0200000000000000" charset="-122"/>
                <a:ea typeface="Noto Sans SC" panose="020B0200000000000000" charset="-122"/>
                <a:cs typeface="Noto Sans SC" panose="020B0200000000000000" charset="-122"/>
                <a:sym typeface="Noto Sans SC" panose="020B0200000000000000" charset="-122"/>
              </a:rPr>
              <a:t>▍ 核心任务</a:t>
            </a:r>
            <a:endParaRPr lang="en-US" sz="1100"/>
          </a:p>
        </p:txBody>
      </p:sp>
      <p:sp>
        <p:nvSpPr>
          <p:cNvPr id="8" name="AutoShape 8"/>
          <p:cNvSpPr/>
          <p:nvPr/>
        </p:nvSpPr>
        <p:spPr>
          <a:xfrm>
            <a:off x="1016000" y="2946400"/>
            <a:ext cx="2044700" cy="1016000"/>
          </a:xfrm>
          <a:prstGeom prst="rect">
            <a:avLst/>
          </a:prstGeom>
          <a:noFill/>
          <a:ln w="12700" cap="flat" cmpd="sng">
            <a:noFill/>
            <a:prstDash val="solid"/>
            <a:round/>
          </a:ln>
        </p:spPr>
        <p:txBody>
          <a:bodyPr vert="horz" wrap="square" lIns="0" tIns="0" rIns="0" bIns="0" rtlCol="0" anchor="t" anchorCtr="0"/>
          <a:lstStyle/>
          <a:p>
            <a:pPr indent="0" algn="l">
              <a:lnSpc>
                <a:spcPct val="108000"/>
              </a:lnSpc>
              <a:defRPr/>
            </a:pPr>
            <a:r>
              <a:rPr lang="en-US" sz="1100" b="0" i="0" u="none" strike="noStrike">
                <a:solidFill>
                  <a:srgbClr val="1A1A1A"/>
                </a:solidFill>
                <a:latin typeface="Noto Sans SC" panose="020B0200000000000000" charset="-122"/>
                <a:ea typeface="Noto Sans SC" panose="020B0200000000000000" charset="-122"/>
                <a:cs typeface="Noto Sans SC" panose="020B0200000000000000" charset="-122"/>
                <a:sym typeface="Noto Sans SC" panose="020B0200000000000000" charset="-122"/>
              </a:rPr>
              <a:t>完成 `los_sortlink.c` 模块改写，重点跑通 FFI 调用与模块级单元测试的闭环验证。</a:t>
            </a:r>
            <a:endParaRPr lang="en-US" sz="1100"/>
          </a:p>
        </p:txBody>
      </p:sp>
      <p:sp>
        <p:nvSpPr>
          <p:cNvPr id="9" name="AutoShape 9"/>
          <p:cNvSpPr/>
          <p:nvPr/>
        </p:nvSpPr>
        <p:spPr>
          <a:xfrm>
            <a:off x="1016000" y="4191000"/>
            <a:ext cx="2044700" cy="406400"/>
          </a:xfrm>
          <a:prstGeom prst="roundRect">
            <a:avLst>
              <a:gd name="adj" fmla="val 12500"/>
            </a:avLst>
          </a:prstGeom>
          <a:solidFill>
            <a:srgbClr val="B2DFDB">
              <a:alpha val="100000"/>
            </a:srgbClr>
          </a:solidFill>
          <a:ln w="25400" cap="flat" cmpd="sng">
            <a:noFill/>
            <a:prstDash val="solid"/>
            <a:round/>
          </a:ln>
        </p:spPr>
        <p:txBody>
          <a:bodyPr vert="horz" wrap="square" lIns="63500" tIns="63500" rIns="63500" bIns="63500" rtlCol="0" anchor="ctr"/>
          <a:lstStyle/>
          <a:p>
            <a:pPr algn="ctr">
              <a:defRPr/>
            </a:pPr>
          </a:p>
        </p:txBody>
      </p:sp>
      <p:sp>
        <p:nvSpPr>
          <p:cNvPr id="10" name="AutoShape 10"/>
          <p:cNvSpPr/>
          <p:nvPr/>
        </p:nvSpPr>
        <p:spPr>
          <a:xfrm>
            <a:off x="1143000" y="4191000"/>
            <a:ext cx="1790700" cy="406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004D40"/>
                </a:solidFill>
                <a:latin typeface="Noto Sans SC" panose="020B0200000000000000" charset="-122"/>
                <a:ea typeface="Noto Sans SC" panose="020B0200000000000000" charset="-122"/>
                <a:cs typeface="Noto Sans SC" panose="020B0200000000000000" charset="-122"/>
                <a:sym typeface="Noto Sans SC" panose="020B0200000000000000" charset="-122"/>
              </a:rPr>
              <a:t>▍ 阶段目标</a:t>
            </a:r>
            <a:endParaRPr lang="en-US" sz="1100"/>
          </a:p>
        </p:txBody>
      </p:sp>
      <p:sp>
        <p:nvSpPr>
          <p:cNvPr id="11" name="AutoShape 11"/>
          <p:cNvSpPr/>
          <p:nvPr/>
        </p:nvSpPr>
        <p:spPr>
          <a:xfrm>
            <a:off x="1016000" y="4724400"/>
            <a:ext cx="2044700" cy="889000"/>
          </a:xfrm>
          <a:prstGeom prst="rect">
            <a:avLst/>
          </a:prstGeom>
          <a:noFill/>
          <a:ln w="12700" cap="flat" cmpd="sng">
            <a:noFill/>
            <a:prstDash val="solid"/>
            <a:round/>
          </a:ln>
        </p:spPr>
        <p:txBody>
          <a:bodyPr vert="horz" wrap="square" lIns="0" tIns="0" rIns="0" bIns="0" rtlCol="0" anchor="t" anchorCtr="0"/>
          <a:lstStyle/>
          <a:p>
            <a:pPr indent="0" algn="l">
              <a:lnSpc>
                <a:spcPct val="108000"/>
              </a:lnSpc>
              <a:defRPr/>
            </a:pPr>
            <a:r>
              <a:rPr lang="en-US" sz="1100" b="0" i="0" u="none" strike="noStrike">
                <a:solidFill>
                  <a:srgbClr val="6B6B6B"/>
                </a:solidFill>
                <a:latin typeface="Noto Sans SC" panose="020B0200000000000000" charset="-122"/>
                <a:ea typeface="Noto Sans SC" panose="020B0200000000000000" charset="-122"/>
                <a:cs typeface="Noto Sans SC" panose="020B0200000000000000" charset="-122"/>
                <a:sym typeface="Noto Sans SC" panose="020B0200000000000000" charset="-122"/>
              </a:rPr>
              <a:t>沉淀统一的底层编码模板，输出标准的接口命名规范文档。</a:t>
            </a:r>
            <a:endParaRPr lang="en-US" sz="1100"/>
          </a:p>
        </p:txBody>
      </p:sp>
      <p:sp>
        <p:nvSpPr>
          <p:cNvPr id="12" name="AutoShape 12"/>
          <p:cNvSpPr/>
          <p:nvPr/>
        </p:nvSpPr>
        <p:spPr>
          <a:xfrm>
            <a:off x="3517900" y="1397000"/>
            <a:ext cx="2451100" cy="4699000"/>
          </a:xfrm>
          <a:prstGeom prst="roundRect">
            <a:avLst>
              <a:gd name="adj" fmla="val 4145"/>
            </a:avLst>
          </a:prstGeom>
          <a:solidFill>
            <a:srgbClr val="FFFFFF">
              <a:alpha val="100000"/>
            </a:srgbClr>
          </a:solidFill>
          <a:ln w="25400" cap="flat" cmpd="sng">
            <a:noFill/>
            <a:prstDash val="solid"/>
            <a:round/>
          </a:ln>
          <a:effectLst>
            <a:outerShdw blurRad="152400" dist="50800" dir="5400000" algn="tl" rotWithShape="0">
              <a:srgbClr val="000000">
                <a:alpha val="8000"/>
              </a:srgbClr>
            </a:outerShdw>
          </a:effectLst>
        </p:spPr>
        <p:txBody>
          <a:bodyPr vert="horz" wrap="square" lIns="63500" tIns="63500" rIns="63500" bIns="63500" rtlCol="0" anchor="ctr"/>
          <a:lstStyle/>
          <a:p>
            <a:pPr algn="ctr">
              <a:defRPr/>
            </a:pPr>
          </a:p>
        </p:txBody>
      </p:sp>
      <p:sp>
        <p:nvSpPr>
          <p:cNvPr id="13" name="AutoShape 13"/>
          <p:cNvSpPr/>
          <p:nvPr/>
        </p:nvSpPr>
        <p:spPr>
          <a:xfrm>
            <a:off x="3517900" y="1397000"/>
            <a:ext cx="2451100" cy="812800"/>
          </a:xfrm>
          <a:prstGeom prst="roundRect">
            <a:avLst>
              <a:gd name="adj" fmla="val 12500"/>
            </a:avLst>
          </a:prstGeom>
          <a:solidFill>
            <a:srgbClr val="004D40">
              <a:alpha val="100000"/>
            </a:srgbClr>
          </a:solidFill>
          <a:ln w="25400" cap="flat" cmpd="sng">
            <a:noFill/>
            <a:prstDash val="solid"/>
            <a:round/>
          </a:ln>
        </p:spPr>
        <p:txBody>
          <a:bodyPr vert="horz" wrap="square" lIns="63500" tIns="63500" rIns="63500" bIns="63500" rtlCol="0" anchor="ctr"/>
          <a:lstStyle/>
          <a:p>
            <a:pPr algn="ctr">
              <a:defRPr/>
            </a:pPr>
          </a:p>
        </p:txBody>
      </p:sp>
      <p:sp>
        <p:nvSpPr>
          <p:cNvPr id="14" name="AutoShape 14"/>
          <p:cNvSpPr/>
          <p:nvPr/>
        </p:nvSpPr>
        <p:spPr>
          <a:xfrm>
            <a:off x="3644900" y="1549400"/>
            <a:ext cx="21971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阶段 2：核心能力</a:t>
            </a:r>
            <a:endParaRPr lang="en-US" sz="1100"/>
          </a:p>
        </p:txBody>
      </p:sp>
      <p:sp>
        <p:nvSpPr>
          <p:cNvPr id="15" name="AutoShape 15"/>
          <p:cNvSpPr/>
          <p:nvPr/>
        </p:nvSpPr>
        <p:spPr>
          <a:xfrm>
            <a:off x="3721100" y="2413000"/>
            <a:ext cx="2044700" cy="406400"/>
          </a:xfrm>
          <a:prstGeom prst="roundRect">
            <a:avLst>
              <a:gd name="adj" fmla="val 12500"/>
            </a:avLst>
          </a:prstGeom>
          <a:solidFill>
            <a:srgbClr val="B2DFDB">
              <a:alpha val="100000"/>
            </a:srgbClr>
          </a:solidFill>
          <a:ln w="25400" cap="flat" cmpd="sng">
            <a:noFill/>
            <a:prstDash val="solid"/>
            <a:round/>
          </a:ln>
        </p:spPr>
        <p:txBody>
          <a:bodyPr vert="horz" wrap="square" lIns="63500" tIns="63500" rIns="63500" bIns="63500" rtlCol="0" anchor="ctr"/>
          <a:lstStyle/>
          <a:p>
            <a:pPr algn="ctr">
              <a:defRPr/>
            </a:pPr>
          </a:p>
        </p:txBody>
      </p:sp>
      <p:sp>
        <p:nvSpPr>
          <p:cNvPr id="16" name="AutoShape 16"/>
          <p:cNvSpPr/>
          <p:nvPr/>
        </p:nvSpPr>
        <p:spPr>
          <a:xfrm>
            <a:off x="3848100" y="2413000"/>
            <a:ext cx="1790700" cy="406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004D40"/>
                </a:solidFill>
                <a:latin typeface="Noto Sans SC" panose="020B0200000000000000" charset="-122"/>
                <a:ea typeface="Noto Sans SC" panose="020B0200000000000000" charset="-122"/>
                <a:cs typeface="Noto Sans SC" panose="020B0200000000000000" charset="-122"/>
                <a:sym typeface="Noto Sans SC" panose="020B0200000000000000" charset="-122"/>
              </a:rPr>
              <a:t>▍ 核心任务</a:t>
            </a:r>
            <a:endParaRPr lang="en-US" sz="1100"/>
          </a:p>
        </p:txBody>
      </p:sp>
      <p:sp>
        <p:nvSpPr>
          <p:cNvPr id="17" name="AutoShape 17"/>
          <p:cNvSpPr/>
          <p:nvPr/>
        </p:nvSpPr>
        <p:spPr>
          <a:xfrm>
            <a:off x="3721100" y="2946400"/>
            <a:ext cx="2044700" cy="1016000"/>
          </a:xfrm>
          <a:prstGeom prst="rect">
            <a:avLst/>
          </a:prstGeom>
          <a:noFill/>
          <a:ln w="12700" cap="flat" cmpd="sng">
            <a:noFill/>
            <a:prstDash val="solid"/>
            <a:round/>
          </a:ln>
        </p:spPr>
        <p:txBody>
          <a:bodyPr vert="horz" wrap="square" lIns="0" tIns="0" rIns="0" bIns="0" rtlCol="0" anchor="t" anchorCtr="0"/>
          <a:lstStyle/>
          <a:p>
            <a:pPr indent="0" algn="l">
              <a:lnSpc>
                <a:spcPct val="108000"/>
              </a:lnSpc>
              <a:defRPr/>
            </a:pPr>
            <a:r>
              <a:rPr lang="en-US" sz="1100" b="0" i="0" u="none" strike="noStrike">
                <a:solidFill>
                  <a:srgbClr val="1A1A1A"/>
                </a:solidFill>
                <a:latin typeface="Noto Sans SC" panose="020B0200000000000000" charset="-122"/>
                <a:ea typeface="Noto Sans SC" panose="020B0200000000000000" charset="-122"/>
                <a:cs typeface="Noto Sans SC" panose="020B0200000000000000" charset="-122"/>
                <a:sym typeface="Noto Sans SC" panose="020B0200000000000000" charset="-122"/>
              </a:rPr>
              <a:t>联合架构组完成 `los_task.c` 与 `los_sched.c` 的深度改写与逻辑整合。</a:t>
            </a:r>
            <a:endParaRPr lang="en-US" sz="1100"/>
          </a:p>
        </p:txBody>
      </p:sp>
      <p:sp>
        <p:nvSpPr>
          <p:cNvPr id="18" name="AutoShape 18"/>
          <p:cNvSpPr/>
          <p:nvPr/>
        </p:nvSpPr>
        <p:spPr>
          <a:xfrm>
            <a:off x="3721100" y="4191000"/>
            <a:ext cx="2044700" cy="406400"/>
          </a:xfrm>
          <a:prstGeom prst="roundRect">
            <a:avLst>
              <a:gd name="adj" fmla="val 12500"/>
            </a:avLst>
          </a:prstGeom>
          <a:solidFill>
            <a:srgbClr val="B2DFDB">
              <a:alpha val="100000"/>
            </a:srgbClr>
          </a:solidFill>
          <a:ln w="25400" cap="flat" cmpd="sng">
            <a:noFill/>
            <a:prstDash val="solid"/>
            <a:round/>
          </a:ln>
        </p:spPr>
        <p:txBody>
          <a:bodyPr vert="horz" wrap="square" lIns="63500" tIns="63500" rIns="63500" bIns="63500" rtlCol="0" anchor="ctr"/>
          <a:lstStyle/>
          <a:p>
            <a:pPr algn="ctr">
              <a:defRPr/>
            </a:pPr>
          </a:p>
        </p:txBody>
      </p:sp>
      <p:sp>
        <p:nvSpPr>
          <p:cNvPr id="19" name="AutoShape 19"/>
          <p:cNvSpPr/>
          <p:nvPr/>
        </p:nvSpPr>
        <p:spPr>
          <a:xfrm>
            <a:off x="3848100" y="4191000"/>
            <a:ext cx="1790700" cy="406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004D40"/>
                </a:solidFill>
                <a:latin typeface="Noto Sans SC" panose="020B0200000000000000" charset="-122"/>
                <a:ea typeface="Noto Sans SC" panose="020B0200000000000000" charset="-122"/>
                <a:cs typeface="Noto Sans SC" panose="020B0200000000000000" charset="-122"/>
                <a:sym typeface="Noto Sans SC" panose="020B0200000000000000" charset="-122"/>
              </a:rPr>
              <a:t>▍ 阶段目标</a:t>
            </a:r>
            <a:endParaRPr lang="en-US" sz="1100"/>
          </a:p>
        </p:txBody>
      </p:sp>
      <p:sp>
        <p:nvSpPr>
          <p:cNvPr id="20" name="AutoShape 20"/>
          <p:cNvSpPr/>
          <p:nvPr/>
        </p:nvSpPr>
        <p:spPr>
          <a:xfrm>
            <a:off x="3721100" y="4724400"/>
            <a:ext cx="2044700" cy="1016000"/>
          </a:xfrm>
          <a:prstGeom prst="rect">
            <a:avLst/>
          </a:prstGeom>
          <a:noFill/>
          <a:ln w="12700" cap="flat" cmpd="sng">
            <a:noFill/>
            <a:prstDash val="solid"/>
            <a:round/>
          </a:ln>
        </p:spPr>
        <p:txBody>
          <a:bodyPr vert="horz" wrap="square" lIns="0" tIns="0" rIns="0" bIns="0" rtlCol="0" anchor="t" anchorCtr="0"/>
          <a:lstStyle/>
          <a:p>
            <a:pPr indent="0" algn="l">
              <a:lnSpc>
                <a:spcPct val="108000"/>
              </a:lnSpc>
              <a:defRPr/>
            </a:pPr>
            <a:r>
              <a:rPr lang="en-US" sz="1100" b="0" i="0" u="none" strike="noStrike">
                <a:solidFill>
                  <a:srgbClr val="6B6B6B"/>
                </a:solidFill>
                <a:latin typeface="Noto Sans SC" panose="020B0200000000000000" charset="-122"/>
                <a:ea typeface="Noto Sans SC" panose="020B0200000000000000" charset="-122"/>
                <a:cs typeface="Noto Sans SC" panose="020B0200000000000000" charset="-122"/>
                <a:sym typeface="Noto Sans SC" panose="020B0200000000000000" charset="-122"/>
              </a:rPr>
              <a:t>打通任务创建、阻塞/唤醒及优先级调度全链路，建立核心模块性能基准线。</a:t>
            </a:r>
            <a:endParaRPr lang="en-US" sz="1100"/>
          </a:p>
        </p:txBody>
      </p:sp>
      <p:sp>
        <p:nvSpPr>
          <p:cNvPr id="21" name="AutoShape 21"/>
          <p:cNvSpPr/>
          <p:nvPr/>
        </p:nvSpPr>
        <p:spPr>
          <a:xfrm>
            <a:off x="6223000" y="1397000"/>
            <a:ext cx="2451100" cy="4699000"/>
          </a:xfrm>
          <a:prstGeom prst="roundRect">
            <a:avLst>
              <a:gd name="adj" fmla="val 4145"/>
            </a:avLst>
          </a:prstGeom>
          <a:solidFill>
            <a:srgbClr val="FFFFFF">
              <a:alpha val="100000"/>
            </a:srgbClr>
          </a:solidFill>
          <a:ln w="25400" cap="flat" cmpd="sng">
            <a:noFill/>
            <a:prstDash val="solid"/>
            <a:round/>
          </a:ln>
          <a:effectLst>
            <a:outerShdw blurRad="152400" dist="50800" dir="5400000" algn="tl" rotWithShape="0">
              <a:srgbClr val="000000">
                <a:alpha val="8000"/>
              </a:srgbClr>
            </a:outerShdw>
          </a:effectLst>
        </p:spPr>
        <p:txBody>
          <a:bodyPr vert="horz" wrap="square" lIns="63500" tIns="63500" rIns="63500" bIns="63500" rtlCol="0" anchor="ctr"/>
          <a:lstStyle/>
          <a:p>
            <a:pPr algn="ctr">
              <a:defRPr/>
            </a:pPr>
          </a:p>
        </p:txBody>
      </p:sp>
      <p:sp>
        <p:nvSpPr>
          <p:cNvPr id="22" name="AutoShape 22"/>
          <p:cNvSpPr/>
          <p:nvPr/>
        </p:nvSpPr>
        <p:spPr>
          <a:xfrm>
            <a:off x="6223000" y="1397000"/>
            <a:ext cx="2451100" cy="812800"/>
          </a:xfrm>
          <a:prstGeom prst="roundRect">
            <a:avLst>
              <a:gd name="adj" fmla="val 12500"/>
            </a:avLst>
          </a:prstGeom>
          <a:solidFill>
            <a:srgbClr val="004D40">
              <a:alpha val="100000"/>
            </a:srgbClr>
          </a:solidFill>
          <a:ln w="25400" cap="flat" cmpd="sng">
            <a:noFill/>
            <a:prstDash val="solid"/>
            <a:round/>
          </a:ln>
        </p:spPr>
        <p:txBody>
          <a:bodyPr vert="horz" wrap="square" lIns="63500" tIns="63500" rIns="63500" bIns="63500" rtlCol="0" anchor="ctr"/>
          <a:lstStyle/>
          <a:p>
            <a:pPr algn="ctr">
              <a:defRPr/>
            </a:pPr>
          </a:p>
        </p:txBody>
      </p:sp>
      <p:sp>
        <p:nvSpPr>
          <p:cNvPr id="23" name="AutoShape 23"/>
          <p:cNvSpPr/>
          <p:nvPr/>
        </p:nvSpPr>
        <p:spPr>
          <a:xfrm>
            <a:off x="6350000" y="1549400"/>
            <a:ext cx="21971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阶段 3：通信能力</a:t>
            </a:r>
            <a:endParaRPr lang="en-US" sz="1100"/>
          </a:p>
        </p:txBody>
      </p:sp>
      <p:sp>
        <p:nvSpPr>
          <p:cNvPr id="24" name="AutoShape 24"/>
          <p:cNvSpPr/>
          <p:nvPr/>
        </p:nvSpPr>
        <p:spPr>
          <a:xfrm>
            <a:off x="6426200" y="2413000"/>
            <a:ext cx="2044700" cy="406400"/>
          </a:xfrm>
          <a:prstGeom prst="roundRect">
            <a:avLst>
              <a:gd name="adj" fmla="val 12500"/>
            </a:avLst>
          </a:prstGeom>
          <a:solidFill>
            <a:srgbClr val="B2DFDB">
              <a:alpha val="100000"/>
            </a:srgbClr>
          </a:solidFill>
          <a:ln w="25400" cap="flat" cmpd="sng">
            <a:noFill/>
            <a:prstDash val="solid"/>
            <a:round/>
          </a:ln>
        </p:spPr>
        <p:txBody>
          <a:bodyPr vert="horz" wrap="square" lIns="63500" tIns="63500" rIns="63500" bIns="63500" rtlCol="0" anchor="ctr"/>
          <a:lstStyle/>
          <a:p>
            <a:pPr algn="ctr">
              <a:defRPr/>
            </a:pPr>
          </a:p>
        </p:txBody>
      </p:sp>
      <p:sp>
        <p:nvSpPr>
          <p:cNvPr id="25" name="AutoShape 25"/>
          <p:cNvSpPr/>
          <p:nvPr/>
        </p:nvSpPr>
        <p:spPr>
          <a:xfrm>
            <a:off x="6553200" y="2413000"/>
            <a:ext cx="1790700" cy="406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004D40"/>
                </a:solidFill>
                <a:latin typeface="Noto Sans SC" panose="020B0200000000000000" charset="-122"/>
                <a:ea typeface="Noto Sans SC" panose="020B0200000000000000" charset="-122"/>
                <a:cs typeface="Noto Sans SC" panose="020B0200000000000000" charset="-122"/>
                <a:sym typeface="Noto Sans SC" panose="020B0200000000000000" charset="-122"/>
              </a:rPr>
              <a:t>▍ 核心任务</a:t>
            </a:r>
            <a:endParaRPr lang="en-US" sz="1100"/>
          </a:p>
        </p:txBody>
      </p:sp>
      <p:sp>
        <p:nvSpPr>
          <p:cNvPr id="26" name="AutoShape 26"/>
          <p:cNvSpPr/>
          <p:nvPr/>
        </p:nvSpPr>
        <p:spPr>
          <a:xfrm>
            <a:off x="6426200" y="2946400"/>
            <a:ext cx="2044700" cy="1016000"/>
          </a:xfrm>
          <a:prstGeom prst="rect">
            <a:avLst/>
          </a:prstGeom>
          <a:noFill/>
          <a:ln w="12700" cap="flat" cmpd="sng">
            <a:noFill/>
            <a:prstDash val="solid"/>
            <a:round/>
          </a:ln>
        </p:spPr>
        <p:txBody>
          <a:bodyPr vert="horz" wrap="square" lIns="0" tIns="0" rIns="0" bIns="0" rtlCol="0" anchor="t" anchorCtr="0"/>
          <a:lstStyle/>
          <a:p>
            <a:pPr indent="0" algn="l">
              <a:lnSpc>
                <a:spcPct val="108000"/>
              </a:lnSpc>
              <a:defRPr/>
            </a:pPr>
            <a:r>
              <a:rPr lang="en-US" sz="1100" b="0" i="0" u="none" strike="noStrike">
                <a:solidFill>
                  <a:srgbClr val="1A1A1A"/>
                </a:solidFill>
                <a:latin typeface="Noto Sans SC" panose="020B0200000000000000" charset="-122"/>
                <a:ea typeface="Noto Sans SC" panose="020B0200000000000000" charset="-122"/>
                <a:cs typeface="Noto Sans SC" panose="020B0200000000000000" charset="-122"/>
                <a:sym typeface="Noto Sans SC" panose="020B0200000000000000" charset="-122"/>
              </a:rPr>
              <a:t>选取 1~2 个典型 IPC 模块（如消息队列/信号量）完成代码改写与全流程联调。</a:t>
            </a:r>
            <a:endParaRPr lang="en-US" sz="1100"/>
          </a:p>
        </p:txBody>
      </p:sp>
      <p:sp>
        <p:nvSpPr>
          <p:cNvPr id="27" name="AutoShape 27"/>
          <p:cNvSpPr/>
          <p:nvPr/>
        </p:nvSpPr>
        <p:spPr>
          <a:xfrm>
            <a:off x="6426200" y="4191000"/>
            <a:ext cx="2044700" cy="406400"/>
          </a:xfrm>
          <a:prstGeom prst="roundRect">
            <a:avLst>
              <a:gd name="adj" fmla="val 12500"/>
            </a:avLst>
          </a:prstGeom>
          <a:solidFill>
            <a:srgbClr val="B2DFDB">
              <a:alpha val="100000"/>
            </a:srgbClr>
          </a:solidFill>
          <a:ln w="25400" cap="flat" cmpd="sng">
            <a:noFill/>
            <a:prstDash val="solid"/>
            <a:round/>
          </a:ln>
        </p:spPr>
        <p:txBody>
          <a:bodyPr vert="horz" wrap="square" lIns="63500" tIns="63500" rIns="63500" bIns="63500" rtlCol="0" anchor="ctr"/>
          <a:lstStyle/>
          <a:p>
            <a:pPr algn="ctr">
              <a:defRPr/>
            </a:pPr>
          </a:p>
        </p:txBody>
      </p:sp>
      <p:sp>
        <p:nvSpPr>
          <p:cNvPr id="28" name="AutoShape 28"/>
          <p:cNvSpPr/>
          <p:nvPr/>
        </p:nvSpPr>
        <p:spPr>
          <a:xfrm>
            <a:off x="6553200" y="4191000"/>
            <a:ext cx="1790700" cy="406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004D40"/>
                </a:solidFill>
                <a:latin typeface="Noto Sans SC" panose="020B0200000000000000" charset="-122"/>
                <a:ea typeface="Noto Sans SC" panose="020B0200000000000000" charset="-122"/>
                <a:cs typeface="Noto Sans SC" panose="020B0200000000000000" charset="-122"/>
                <a:sym typeface="Noto Sans SC" panose="020B0200000000000000" charset="-122"/>
              </a:rPr>
              <a:t>▍ 阶段目标</a:t>
            </a:r>
            <a:endParaRPr lang="en-US" sz="1100"/>
          </a:p>
        </p:txBody>
      </p:sp>
      <p:sp>
        <p:nvSpPr>
          <p:cNvPr id="29" name="AutoShape 29"/>
          <p:cNvSpPr/>
          <p:nvPr/>
        </p:nvSpPr>
        <p:spPr>
          <a:xfrm>
            <a:off x="6426200" y="4724400"/>
            <a:ext cx="2044700" cy="1016000"/>
          </a:xfrm>
          <a:prstGeom prst="rect">
            <a:avLst/>
          </a:prstGeom>
          <a:noFill/>
          <a:ln w="12700" cap="flat" cmpd="sng">
            <a:noFill/>
            <a:prstDash val="solid"/>
            <a:round/>
          </a:ln>
        </p:spPr>
        <p:txBody>
          <a:bodyPr vert="horz" wrap="square" lIns="0" tIns="0" rIns="0" bIns="0" rtlCol="0" anchor="t" anchorCtr="0"/>
          <a:lstStyle/>
          <a:p>
            <a:pPr indent="0" algn="l">
              <a:lnSpc>
                <a:spcPct val="108000"/>
              </a:lnSpc>
              <a:defRPr/>
            </a:pPr>
            <a:r>
              <a:rPr lang="en-US" sz="1100" b="0" i="0" u="none" strike="noStrike">
                <a:solidFill>
                  <a:srgbClr val="6B6B6B"/>
                </a:solidFill>
                <a:latin typeface="Noto Sans SC" panose="020B0200000000000000" charset="-122"/>
                <a:ea typeface="Noto Sans SC" panose="020B0200000000000000" charset="-122"/>
                <a:cs typeface="Noto Sans SC" panose="020B0200000000000000" charset="-122"/>
                <a:sym typeface="Noto Sans SC" panose="020B0200000000000000" charset="-122"/>
              </a:rPr>
              <a:t>验证多任务环境下的通信可靠性，确保同步语义在异构环境中的逻辑正确性。</a:t>
            </a:r>
            <a:endParaRPr lang="en-US" sz="1100"/>
          </a:p>
        </p:txBody>
      </p:sp>
      <p:sp>
        <p:nvSpPr>
          <p:cNvPr id="30" name="AutoShape 30"/>
          <p:cNvSpPr/>
          <p:nvPr/>
        </p:nvSpPr>
        <p:spPr>
          <a:xfrm>
            <a:off x="8928100" y="1397000"/>
            <a:ext cx="2451100" cy="4699000"/>
          </a:xfrm>
          <a:prstGeom prst="roundRect">
            <a:avLst>
              <a:gd name="adj" fmla="val 4145"/>
            </a:avLst>
          </a:prstGeom>
          <a:solidFill>
            <a:srgbClr val="FFFFFF">
              <a:alpha val="100000"/>
            </a:srgbClr>
          </a:solidFill>
          <a:ln w="25400" cap="flat" cmpd="sng">
            <a:noFill/>
            <a:prstDash val="solid"/>
            <a:round/>
          </a:ln>
          <a:effectLst>
            <a:outerShdw blurRad="152400" dist="50800" dir="5400000" algn="tl" rotWithShape="0">
              <a:srgbClr val="000000">
                <a:alpha val="8000"/>
              </a:srgbClr>
            </a:outerShdw>
          </a:effectLst>
        </p:spPr>
        <p:txBody>
          <a:bodyPr vert="horz" wrap="square" lIns="63500" tIns="63500" rIns="63500" bIns="63500" rtlCol="0" anchor="ctr"/>
          <a:lstStyle/>
          <a:p>
            <a:pPr algn="ctr">
              <a:defRPr/>
            </a:pPr>
          </a:p>
        </p:txBody>
      </p:sp>
      <p:sp>
        <p:nvSpPr>
          <p:cNvPr id="31" name="AutoShape 31"/>
          <p:cNvSpPr/>
          <p:nvPr/>
        </p:nvSpPr>
        <p:spPr>
          <a:xfrm>
            <a:off x="8928100" y="1397000"/>
            <a:ext cx="2451100" cy="812800"/>
          </a:xfrm>
          <a:prstGeom prst="roundRect">
            <a:avLst>
              <a:gd name="adj" fmla="val 12500"/>
            </a:avLst>
          </a:prstGeom>
          <a:solidFill>
            <a:srgbClr val="004D40">
              <a:alpha val="100000"/>
            </a:srgbClr>
          </a:solidFill>
          <a:ln w="25400" cap="flat" cmpd="sng">
            <a:noFill/>
            <a:prstDash val="solid"/>
            <a:round/>
          </a:ln>
        </p:spPr>
        <p:txBody>
          <a:bodyPr vert="horz" wrap="square" lIns="63500" tIns="63500" rIns="63500" bIns="63500" rtlCol="0" anchor="ctr"/>
          <a:lstStyle/>
          <a:p>
            <a:pPr algn="ctr">
              <a:defRPr/>
            </a:pPr>
          </a:p>
        </p:txBody>
      </p:sp>
      <p:sp>
        <p:nvSpPr>
          <p:cNvPr id="32" name="AutoShape 32"/>
          <p:cNvSpPr/>
          <p:nvPr/>
        </p:nvSpPr>
        <p:spPr>
          <a:xfrm>
            <a:off x="9055100" y="1549400"/>
            <a:ext cx="21971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阶段 4：系统整合</a:t>
            </a:r>
            <a:endParaRPr lang="en-US" sz="1100"/>
          </a:p>
        </p:txBody>
      </p:sp>
      <p:sp>
        <p:nvSpPr>
          <p:cNvPr id="33" name="AutoShape 33"/>
          <p:cNvSpPr/>
          <p:nvPr/>
        </p:nvSpPr>
        <p:spPr>
          <a:xfrm>
            <a:off x="9131300" y="2413000"/>
            <a:ext cx="2044700" cy="406400"/>
          </a:xfrm>
          <a:prstGeom prst="roundRect">
            <a:avLst>
              <a:gd name="adj" fmla="val 12500"/>
            </a:avLst>
          </a:prstGeom>
          <a:solidFill>
            <a:srgbClr val="B2DFDB">
              <a:alpha val="100000"/>
            </a:srgbClr>
          </a:solidFill>
          <a:ln w="25400" cap="flat" cmpd="sng">
            <a:noFill/>
            <a:prstDash val="solid"/>
            <a:round/>
          </a:ln>
        </p:spPr>
        <p:txBody>
          <a:bodyPr vert="horz" wrap="square" lIns="63500" tIns="63500" rIns="63500" bIns="63500" rtlCol="0" anchor="ctr"/>
          <a:lstStyle/>
          <a:p>
            <a:pPr algn="ctr">
              <a:defRPr/>
            </a:pPr>
          </a:p>
        </p:txBody>
      </p:sp>
      <p:sp>
        <p:nvSpPr>
          <p:cNvPr id="34" name="AutoShape 34"/>
          <p:cNvSpPr/>
          <p:nvPr/>
        </p:nvSpPr>
        <p:spPr>
          <a:xfrm>
            <a:off x="9258300" y="2413000"/>
            <a:ext cx="1790700" cy="406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004D40"/>
                </a:solidFill>
                <a:latin typeface="Noto Sans SC" panose="020B0200000000000000" charset="-122"/>
                <a:ea typeface="Noto Sans SC" panose="020B0200000000000000" charset="-122"/>
                <a:cs typeface="Noto Sans SC" panose="020B0200000000000000" charset="-122"/>
                <a:sym typeface="Noto Sans SC" panose="020B0200000000000000" charset="-122"/>
              </a:rPr>
              <a:t>▍ 核心任务</a:t>
            </a:r>
            <a:endParaRPr lang="en-US" sz="1100"/>
          </a:p>
        </p:txBody>
      </p:sp>
      <p:sp>
        <p:nvSpPr>
          <p:cNvPr id="35" name="AutoShape 35"/>
          <p:cNvSpPr/>
          <p:nvPr/>
        </p:nvSpPr>
        <p:spPr>
          <a:xfrm>
            <a:off x="9131300" y="2946400"/>
            <a:ext cx="2044700" cy="1016000"/>
          </a:xfrm>
          <a:prstGeom prst="rect">
            <a:avLst/>
          </a:prstGeom>
          <a:noFill/>
          <a:ln w="12700" cap="flat" cmpd="sng">
            <a:noFill/>
            <a:prstDash val="solid"/>
            <a:round/>
          </a:ln>
        </p:spPr>
        <p:txBody>
          <a:bodyPr vert="horz" wrap="square" lIns="0" tIns="0" rIns="0" bIns="0" rtlCol="0" anchor="t" anchorCtr="0"/>
          <a:lstStyle/>
          <a:p>
            <a:pPr indent="0" algn="l">
              <a:lnSpc>
                <a:spcPct val="108000"/>
              </a:lnSpc>
              <a:defRPr/>
            </a:pPr>
            <a:r>
              <a:rPr lang="en-US" sz="1100" b="0" i="0" u="none" strike="noStrike">
                <a:solidFill>
                  <a:srgbClr val="1A1A1A"/>
                </a:solidFill>
                <a:latin typeface="Noto Sans SC" panose="020B0200000000000000" charset="-122"/>
                <a:ea typeface="Noto Sans SC" panose="020B0200000000000000" charset="-122"/>
                <a:cs typeface="Noto Sans SC" panose="020B0200000000000000" charset="-122"/>
                <a:sym typeface="Noto Sans SC" panose="020B0200000000000000" charset="-122"/>
              </a:rPr>
              <a:t>对接 Tick 定时器与系统初始化流程，完成 IronClaw 双向接口的原型开发。</a:t>
            </a:r>
            <a:endParaRPr lang="en-US" sz="1100"/>
          </a:p>
        </p:txBody>
      </p:sp>
      <p:sp>
        <p:nvSpPr>
          <p:cNvPr id="36" name="AutoShape 36"/>
          <p:cNvSpPr/>
          <p:nvPr/>
        </p:nvSpPr>
        <p:spPr>
          <a:xfrm>
            <a:off x="9131300" y="4191000"/>
            <a:ext cx="2044700" cy="406400"/>
          </a:xfrm>
          <a:prstGeom prst="roundRect">
            <a:avLst>
              <a:gd name="adj" fmla="val 12500"/>
            </a:avLst>
          </a:prstGeom>
          <a:solidFill>
            <a:srgbClr val="B2DFDB">
              <a:alpha val="100000"/>
            </a:srgbClr>
          </a:solidFill>
          <a:ln w="25400" cap="flat" cmpd="sng">
            <a:noFill/>
            <a:prstDash val="solid"/>
            <a:round/>
          </a:ln>
        </p:spPr>
        <p:txBody>
          <a:bodyPr vert="horz" wrap="square" lIns="63500" tIns="63500" rIns="63500" bIns="63500" rtlCol="0" anchor="ctr"/>
          <a:lstStyle/>
          <a:p>
            <a:pPr algn="ctr">
              <a:defRPr/>
            </a:pPr>
          </a:p>
        </p:txBody>
      </p:sp>
      <p:sp>
        <p:nvSpPr>
          <p:cNvPr id="37" name="AutoShape 37"/>
          <p:cNvSpPr/>
          <p:nvPr/>
        </p:nvSpPr>
        <p:spPr>
          <a:xfrm>
            <a:off x="9258300" y="4191000"/>
            <a:ext cx="1790700" cy="406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004D40"/>
                </a:solidFill>
                <a:latin typeface="Noto Sans SC" panose="020B0200000000000000" charset="-122"/>
                <a:ea typeface="Noto Sans SC" panose="020B0200000000000000" charset="-122"/>
                <a:cs typeface="Noto Sans SC" panose="020B0200000000000000" charset="-122"/>
                <a:sym typeface="Noto Sans SC" panose="020B0200000000000000" charset="-122"/>
              </a:rPr>
              <a:t>▍ 阶段目标</a:t>
            </a:r>
            <a:endParaRPr lang="en-US" sz="1100"/>
          </a:p>
        </p:txBody>
      </p:sp>
      <p:sp>
        <p:nvSpPr>
          <p:cNvPr id="38" name="AutoShape 38"/>
          <p:cNvSpPr/>
          <p:nvPr/>
        </p:nvSpPr>
        <p:spPr>
          <a:xfrm>
            <a:off x="9131300" y="4724400"/>
            <a:ext cx="2044700" cy="1016000"/>
          </a:xfrm>
          <a:prstGeom prst="rect">
            <a:avLst/>
          </a:prstGeom>
          <a:noFill/>
          <a:ln w="12700" cap="flat" cmpd="sng">
            <a:noFill/>
            <a:prstDash val="solid"/>
            <a:round/>
          </a:ln>
        </p:spPr>
        <p:txBody>
          <a:bodyPr vert="horz" wrap="square" lIns="0" tIns="0" rIns="0" bIns="0" rtlCol="0" anchor="t" anchorCtr="0"/>
          <a:lstStyle/>
          <a:p>
            <a:pPr indent="0" algn="l">
              <a:lnSpc>
                <a:spcPct val="108000"/>
              </a:lnSpc>
              <a:defRPr/>
            </a:pPr>
            <a:r>
              <a:rPr lang="en-US" sz="1100" b="0" i="0" u="none" strike="noStrike">
                <a:solidFill>
                  <a:srgbClr val="6B6B6B"/>
                </a:solidFill>
                <a:latin typeface="Noto Sans SC" panose="020B0200000000000000" charset="-122"/>
                <a:ea typeface="Noto Sans SC" panose="020B0200000000000000" charset="-122"/>
                <a:cs typeface="Noto Sans SC" panose="020B0200000000000000" charset="-122"/>
                <a:sym typeface="Noto Sans SC" panose="020B0200000000000000" charset="-122"/>
              </a:rPr>
              <a:t>形成完整的项目技术总结报告，产出可演示的系统原型与汇报材料。</a:t>
            </a:r>
            <a:endParaRPr lang="en-US" sz="110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AF8F5">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2032000"/>
            <a:ext cx="12192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400" b="0" i="0" u="none" strike="noStrike">
                <a:solidFill>
                  <a:srgbClr val="6B6B6B"/>
                </a:solidFill>
                <a:latin typeface="Noto Sans SC" panose="020B0200000000000000" charset="-122"/>
                <a:ea typeface="Noto Sans SC" panose="020B0200000000000000" charset="-122"/>
                <a:cs typeface="Noto Sans SC" panose="020B0200000000000000" charset="-122"/>
                <a:sym typeface="Noto Sans SC" panose="020B0200000000000000" charset="-122"/>
              </a:rPr>
              <a:t>05</a:t>
            </a:r>
            <a:endParaRPr lang="en-US" sz="1100"/>
          </a:p>
        </p:txBody>
      </p:sp>
      <p:sp>
        <p:nvSpPr>
          <p:cNvPr id="3" name="AutoShape 3"/>
          <p:cNvSpPr/>
          <p:nvPr/>
        </p:nvSpPr>
        <p:spPr>
          <a:xfrm>
            <a:off x="0" y="2667000"/>
            <a:ext cx="12192000" cy="889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4800" b="1" i="0" u="none" strike="noStrike">
                <a:solidFill>
                  <a:srgbClr val="1A1A1A"/>
                </a:solidFill>
                <a:latin typeface="Noto Sans SC" panose="020B0200000000000000" charset="-122"/>
                <a:ea typeface="Noto Sans SC" panose="020B0200000000000000" charset="-122"/>
                <a:cs typeface="Noto Sans SC" panose="020B0200000000000000" charset="-122"/>
                <a:sym typeface="Noto Sans SC" panose="020B0200000000000000" charset="-122"/>
              </a:rPr>
              <a:t>风险评估与未来展望</a:t>
            </a:r>
            <a:endParaRPr lang="en-US" sz="1100"/>
          </a:p>
        </p:txBody>
      </p:sp>
      <p:sp>
        <p:nvSpPr>
          <p:cNvPr id="4" name="AutoShape 4"/>
          <p:cNvSpPr/>
          <p:nvPr/>
        </p:nvSpPr>
        <p:spPr>
          <a:xfrm>
            <a:off x="5588000" y="3810000"/>
            <a:ext cx="1016000" cy="50800"/>
          </a:xfrm>
          <a:prstGeom prst="roundRect">
            <a:avLst>
              <a:gd name="adj" fmla="val 0"/>
            </a:avLst>
          </a:prstGeom>
          <a:solidFill>
            <a:srgbClr val="004D40">
              <a:alpha val="100000"/>
            </a:srgbClr>
          </a:solidFill>
          <a:ln w="25400" cap="flat" cmpd="sng">
            <a:noFill/>
            <a:prstDash val="solid"/>
            <a:round/>
          </a:ln>
        </p:spPr>
        <p:txBody>
          <a:bodyPr vert="horz" wrap="square" lIns="63500" tIns="63500" rIns="63500" bIns="63500" rtlCol="0" anchor="ctr"/>
          <a:lstStyle/>
          <a:p>
            <a:pPr algn="ctr">
              <a:defRPr/>
            </a:p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AF8F5">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812800" y="558800"/>
            <a:ext cx="105664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1A1A1A"/>
                </a:solidFill>
                <a:latin typeface="Noto Sans SC" panose="020B0200000000000000" charset="-122"/>
                <a:ea typeface="Noto Sans SC" panose="020B0200000000000000" charset="-122"/>
                <a:cs typeface="Noto Sans SC" panose="020B0200000000000000" charset="-122"/>
                <a:sym typeface="Noto Sans SC" panose="020B0200000000000000" charset="-122"/>
              </a:rPr>
              <a:t>识别四大潜在风险，并制定了切实可行的应对策略</a:t>
            </a:r>
            <a:endParaRPr lang="en-US" sz="1100"/>
          </a:p>
        </p:txBody>
      </p:sp>
      <p:sp>
        <p:nvSpPr>
          <p:cNvPr id="3" name="AutoShape 3"/>
          <p:cNvSpPr/>
          <p:nvPr/>
        </p:nvSpPr>
        <p:spPr>
          <a:xfrm>
            <a:off x="812800" y="1397000"/>
            <a:ext cx="5156200" cy="2159000"/>
          </a:xfrm>
          <a:prstGeom prst="roundRect">
            <a:avLst>
              <a:gd name="adj" fmla="val 4705"/>
            </a:avLst>
          </a:prstGeom>
          <a:solidFill>
            <a:srgbClr val="FFFFFF">
              <a:alpha val="100000"/>
            </a:srgbClr>
          </a:solidFill>
          <a:ln w="25400" cap="flat" cmpd="sng">
            <a:noFill/>
            <a:prstDash val="solid"/>
            <a:round/>
          </a:ln>
          <a:effectLst>
            <a:outerShdw blurRad="152400" dist="50800" dir="2700000" algn="tl" rotWithShape="0">
              <a:srgbClr val="000000">
                <a:alpha val="6000"/>
              </a:srgbClr>
            </a:outerShdw>
          </a:effectLst>
        </p:spPr>
        <p:txBody>
          <a:bodyPr vert="horz" wrap="square" lIns="63500" tIns="63500" rIns="63500" bIns="63500" rtlCol="0" anchor="ctr"/>
          <a:lstStyle/>
          <a:p>
            <a:pPr algn="ctr">
              <a:defRPr/>
            </a:pPr>
          </a:p>
        </p:txBody>
      </p:sp>
      <p:sp>
        <p:nvSpPr>
          <p:cNvPr id="4" name="AutoShape 4"/>
          <p:cNvSpPr/>
          <p:nvPr/>
        </p:nvSpPr>
        <p:spPr>
          <a:xfrm>
            <a:off x="812800" y="1397000"/>
            <a:ext cx="5156200" cy="609600"/>
          </a:xfrm>
          <a:prstGeom prst="roundRect">
            <a:avLst>
              <a:gd name="adj" fmla="val 16666"/>
            </a:avLst>
          </a:prstGeom>
          <a:solidFill>
            <a:srgbClr val="004D40">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1549400"/>
            <a:ext cx="304800" cy="304800"/>
          </a:xfrm>
          <a:prstGeom prst="rect">
            <a:avLst/>
          </a:prstGeom>
        </p:spPr>
      </p:pic>
      <p:sp>
        <p:nvSpPr>
          <p:cNvPr id="6" name="AutoShape 6"/>
          <p:cNvSpPr/>
          <p:nvPr/>
        </p:nvSpPr>
        <p:spPr>
          <a:xfrm>
            <a:off x="1473200" y="1498600"/>
            <a:ext cx="4191000" cy="406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风险点：no_std 环境适配复杂</a:t>
            </a:r>
            <a:endParaRPr lang="en-US" sz="1100"/>
          </a:p>
        </p:txBody>
      </p:sp>
      <p:sp>
        <p:nvSpPr>
          <p:cNvPr id="7" name="AutoShape 7"/>
          <p:cNvSpPr/>
          <p:nvPr/>
        </p:nvSpPr>
        <p:spPr>
          <a:xfrm>
            <a:off x="914400" y="2159000"/>
            <a:ext cx="4953000" cy="1270000"/>
          </a:xfrm>
          <a:prstGeom prst="roundRect">
            <a:avLst>
              <a:gd name="adj" fmla="val 6000"/>
            </a:avLst>
          </a:prstGeom>
          <a:solidFill>
            <a:srgbClr val="E0F2F1">
              <a:alpha val="100000"/>
            </a:srgbClr>
          </a:solidFill>
          <a:ln w="25400" cap="flat" cmpd="sng">
            <a:noFill/>
            <a:prstDash val="solid"/>
            <a:round/>
          </a:ln>
        </p:spPr>
        <p:txBody>
          <a:bodyPr vert="horz" wrap="square" lIns="63500" tIns="63500" rIns="63500" bIns="63500" rtlCol="0" anchor="ctr"/>
          <a:lstStyle/>
          <a:p>
            <a:pPr algn="ctr">
              <a:defRPr/>
            </a:pPr>
          </a:p>
        </p:txBody>
      </p:sp>
      <p:sp>
        <p:nvSpPr>
          <p:cNvPr id="8" name="AutoShape 8"/>
          <p:cNvSpPr/>
          <p:nvPr/>
        </p:nvSpPr>
        <p:spPr>
          <a:xfrm>
            <a:off x="1066800" y="2286000"/>
            <a:ext cx="46482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004D40"/>
                </a:solidFill>
                <a:latin typeface="Noto Sans SC" panose="020B0200000000000000" charset="-122"/>
                <a:ea typeface="Noto Sans SC" panose="020B0200000000000000" charset="-122"/>
                <a:cs typeface="Noto Sans SC" panose="020B0200000000000000" charset="-122"/>
                <a:sym typeface="Noto Sans SC" panose="020B0200000000000000" charset="-122"/>
              </a:rPr>
              <a:t>应对策略</a:t>
            </a:r>
            <a:endParaRPr lang="en-US" sz="1100"/>
          </a:p>
        </p:txBody>
      </p:sp>
      <p:sp>
        <p:nvSpPr>
          <p:cNvPr id="9" name="AutoShape 9"/>
          <p:cNvSpPr/>
          <p:nvPr/>
        </p:nvSpPr>
        <p:spPr>
          <a:xfrm>
            <a:off x="1066800" y="2641600"/>
            <a:ext cx="4648200" cy="762000"/>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en-US" sz="12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优先建立最小可运行模板，逐步扩展能力，复用成熟的嵌入式生态组件，避免重复造轮子，降低环境搭建的复杂度。</a:t>
            </a:r>
            <a:endParaRPr lang="en-US" sz="1100"/>
          </a:p>
        </p:txBody>
      </p:sp>
      <p:sp>
        <p:nvSpPr>
          <p:cNvPr id="10" name="AutoShape 10"/>
          <p:cNvSpPr/>
          <p:nvPr/>
        </p:nvSpPr>
        <p:spPr>
          <a:xfrm>
            <a:off x="6223000" y="1397000"/>
            <a:ext cx="5156200" cy="2159000"/>
          </a:xfrm>
          <a:prstGeom prst="roundRect">
            <a:avLst>
              <a:gd name="adj" fmla="val 4705"/>
            </a:avLst>
          </a:prstGeom>
          <a:solidFill>
            <a:srgbClr val="FFFFFF">
              <a:alpha val="100000"/>
            </a:srgbClr>
          </a:solidFill>
          <a:ln w="25400" cap="flat" cmpd="sng">
            <a:noFill/>
            <a:prstDash val="solid"/>
            <a:round/>
          </a:ln>
          <a:effectLst>
            <a:outerShdw blurRad="152400" dist="50800" dir="2700000" algn="tl" rotWithShape="0">
              <a:srgbClr val="000000">
                <a:alpha val="6000"/>
              </a:srgbClr>
            </a:outerShdw>
          </a:effectLst>
        </p:spPr>
        <p:txBody>
          <a:bodyPr vert="horz" wrap="square" lIns="63500" tIns="63500" rIns="63500" bIns="63500" rtlCol="0" anchor="ctr"/>
          <a:lstStyle/>
          <a:p>
            <a:pPr algn="ctr">
              <a:defRPr/>
            </a:pPr>
          </a:p>
        </p:txBody>
      </p:sp>
      <p:sp>
        <p:nvSpPr>
          <p:cNvPr id="11" name="AutoShape 11"/>
          <p:cNvSpPr/>
          <p:nvPr/>
        </p:nvSpPr>
        <p:spPr>
          <a:xfrm>
            <a:off x="6223000" y="1397000"/>
            <a:ext cx="5156200" cy="609600"/>
          </a:xfrm>
          <a:prstGeom prst="roundRect">
            <a:avLst>
              <a:gd name="adj" fmla="val 16666"/>
            </a:avLst>
          </a:prstGeom>
          <a:solidFill>
            <a:srgbClr val="004D40">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426200" y="1549400"/>
            <a:ext cx="304800" cy="304800"/>
          </a:xfrm>
          <a:prstGeom prst="rect">
            <a:avLst/>
          </a:prstGeom>
        </p:spPr>
      </p:pic>
      <p:sp>
        <p:nvSpPr>
          <p:cNvPr id="13" name="AutoShape 13"/>
          <p:cNvSpPr/>
          <p:nvPr/>
        </p:nvSpPr>
        <p:spPr>
          <a:xfrm>
            <a:off x="6883400" y="1498600"/>
            <a:ext cx="4191000" cy="406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风险点：C / Rust 混合编译复杂</a:t>
            </a:r>
            <a:endParaRPr lang="en-US" sz="1100"/>
          </a:p>
        </p:txBody>
      </p:sp>
      <p:sp>
        <p:nvSpPr>
          <p:cNvPr id="14" name="AutoShape 14"/>
          <p:cNvSpPr/>
          <p:nvPr/>
        </p:nvSpPr>
        <p:spPr>
          <a:xfrm>
            <a:off x="6324600" y="2159000"/>
            <a:ext cx="4953000" cy="1270000"/>
          </a:xfrm>
          <a:prstGeom prst="roundRect">
            <a:avLst>
              <a:gd name="adj" fmla="val 6000"/>
            </a:avLst>
          </a:prstGeom>
          <a:solidFill>
            <a:srgbClr val="E0F2F1">
              <a:alpha val="100000"/>
            </a:srgbClr>
          </a:solidFill>
          <a:ln w="25400" cap="flat" cmpd="sng">
            <a:noFill/>
            <a:prstDash val="solid"/>
            <a:round/>
          </a:ln>
        </p:spPr>
        <p:txBody>
          <a:bodyPr vert="horz" wrap="square" lIns="63500" tIns="63500" rIns="63500" bIns="63500" rtlCol="0" anchor="ctr"/>
          <a:lstStyle/>
          <a:p>
            <a:pPr algn="ctr">
              <a:defRPr/>
            </a:pPr>
          </a:p>
        </p:txBody>
      </p:sp>
      <p:sp>
        <p:nvSpPr>
          <p:cNvPr id="15" name="AutoShape 15"/>
          <p:cNvSpPr/>
          <p:nvPr/>
        </p:nvSpPr>
        <p:spPr>
          <a:xfrm>
            <a:off x="6477000" y="2286000"/>
            <a:ext cx="46482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004D40"/>
                </a:solidFill>
                <a:latin typeface="Noto Sans SC" panose="020B0200000000000000" charset="-122"/>
                <a:ea typeface="Noto Sans SC" panose="020B0200000000000000" charset="-122"/>
                <a:cs typeface="Noto Sans SC" panose="020B0200000000000000" charset="-122"/>
                <a:sym typeface="Noto Sans SC" panose="020B0200000000000000" charset="-122"/>
              </a:rPr>
              <a:t>应对策略</a:t>
            </a:r>
            <a:endParaRPr lang="en-US" sz="1100"/>
          </a:p>
        </p:txBody>
      </p:sp>
      <p:sp>
        <p:nvSpPr>
          <p:cNvPr id="16" name="AutoShape 16"/>
          <p:cNvSpPr/>
          <p:nvPr/>
        </p:nvSpPr>
        <p:spPr>
          <a:xfrm>
            <a:off x="6477000" y="2641600"/>
            <a:ext cx="4648200" cy="762000"/>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en-US" sz="12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以小模块先行验证链接链路，使用 bindgen 自动生成绑定代码，确保 ABI 接口一致性，最大程度减少手动编写代码引入的错误。</a:t>
            </a:r>
            <a:endParaRPr lang="en-US" sz="1100"/>
          </a:p>
        </p:txBody>
      </p:sp>
      <p:sp>
        <p:nvSpPr>
          <p:cNvPr id="17" name="AutoShape 17"/>
          <p:cNvSpPr/>
          <p:nvPr/>
        </p:nvSpPr>
        <p:spPr>
          <a:xfrm>
            <a:off x="812800" y="3810000"/>
            <a:ext cx="5156200" cy="2159000"/>
          </a:xfrm>
          <a:prstGeom prst="roundRect">
            <a:avLst>
              <a:gd name="adj" fmla="val 4705"/>
            </a:avLst>
          </a:prstGeom>
          <a:solidFill>
            <a:srgbClr val="FFFFFF">
              <a:alpha val="100000"/>
            </a:srgbClr>
          </a:solidFill>
          <a:ln w="25400" cap="flat" cmpd="sng">
            <a:noFill/>
            <a:prstDash val="solid"/>
            <a:round/>
          </a:ln>
          <a:effectLst>
            <a:outerShdw blurRad="152400" dist="50800" dir="2700000" algn="tl" rotWithShape="0">
              <a:srgbClr val="000000">
                <a:alpha val="6000"/>
              </a:srgbClr>
            </a:outerShdw>
          </a:effectLst>
        </p:spPr>
        <p:txBody>
          <a:bodyPr vert="horz" wrap="square" lIns="63500" tIns="63500" rIns="63500" bIns="63500" rtlCol="0" anchor="ctr"/>
          <a:lstStyle/>
          <a:p>
            <a:pPr algn="ctr">
              <a:defRPr/>
            </a:pPr>
          </a:p>
        </p:txBody>
      </p:sp>
      <p:sp>
        <p:nvSpPr>
          <p:cNvPr id="18" name="AutoShape 18"/>
          <p:cNvSpPr/>
          <p:nvPr/>
        </p:nvSpPr>
        <p:spPr>
          <a:xfrm>
            <a:off x="812800" y="3810000"/>
            <a:ext cx="5156200" cy="609600"/>
          </a:xfrm>
          <a:prstGeom prst="roundRect">
            <a:avLst>
              <a:gd name="adj" fmla="val 16666"/>
            </a:avLst>
          </a:prstGeom>
          <a:solidFill>
            <a:srgbClr val="004D40">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9" name="Picture 19"/>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16000" y="3962400"/>
            <a:ext cx="304800" cy="304800"/>
          </a:xfrm>
          <a:prstGeom prst="rect">
            <a:avLst/>
          </a:prstGeom>
        </p:spPr>
      </p:pic>
      <p:sp>
        <p:nvSpPr>
          <p:cNvPr id="20" name="AutoShape 20"/>
          <p:cNvSpPr/>
          <p:nvPr/>
        </p:nvSpPr>
        <p:spPr>
          <a:xfrm>
            <a:off x="1473200" y="3911600"/>
            <a:ext cx="4191000" cy="406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风险点：实时性性能回退风险</a:t>
            </a:r>
            <a:endParaRPr lang="en-US" sz="1100"/>
          </a:p>
        </p:txBody>
      </p:sp>
      <p:sp>
        <p:nvSpPr>
          <p:cNvPr id="21" name="AutoShape 21"/>
          <p:cNvSpPr/>
          <p:nvPr/>
        </p:nvSpPr>
        <p:spPr>
          <a:xfrm>
            <a:off x="914400" y="4572000"/>
            <a:ext cx="4953000" cy="1270000"/>
          </a:xfrm>
          <a:prstGeom prst="roundRect">
            <a:avLst>
              <a:gd name="adj" fmla="val 6000"/>
            </a:avLst>
          </a:prstGeom>
          <a:solidFill>
            <a:srgbClr val="E0F2F1">
              <a:alpha val="100000"/>
            </a:srgbClr>
          </a:solidFill>
          <a:ln w="25400" cap="flat" cmpd="sng">
            <a:noFill/>
            <a:prstDash val="solid"/>
            <a:round/>
          </a:ln>
        </p:spPr>
        <p:txBody>
          <a:bodyPr vert="horz" wrap="square" lIns="63500" tIns="63500" rIns="63500" bIns="63500" rtlCol="0" anchor="ctr"/>
          <a:lstStyle/>
          <a:p>
            <a:pPr algn="ctr">
              <a:defRPr/>
            </a:pPr>
          </a:p>
        </p:txBody>
      </p:sp>
      <p:sp>
        <p:nvSpPr>
          <p:cNvPr id="22" name="AutoShape 22"/>
          <p:cNvSpPr/>
          <p:nvPr/>
        </p:nvSpPr>
        <p:spPr>
          <a:xfrm>
            <a:off x="1066800" y="4699000"/>
            <a:ext cx="46482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004D40"/>
                </a:solidFill>
                <a:latin typeface="Noto Sans SC" panose="020B0200000000000000" charset="-122"/>
                <a:ea typeface="Noto Sans SC" panose="020B0200000000000000" charset="-122"/>
                <a:cs typeface="Noto Sans SC" panose="020B0200000000000000" charset="-122"/>
                <a:sym typeface="Noto Sans SC" panose="020B0200000000000000" charset="-122"/>
              </a:rPr>
              <a:t>应对策略</a:t>
            </a:r>
            <a:endParaRPr lang="en-US" sz="1100"/>
          </a:p>
        </p:txBody>
      </p:sp>
      <p:sp>
        <p:nvSpPr>
          <p:cNvPr id="23" name="AutoShape 23"/>
          <p:cNvSpPr/>
          <p:nvPr/>
        </p:nvSpPr>
        <p:spPr>
          <a:xfrm>
            <a:off x="1066800" y="5054600"/>
            <a:ext cx="4648200" cy="762000"/>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en-US" sz="12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引入阶段性基准测试与回归阈值监控，使用 unsafe 块隔离底层硬件操作，严格控制临界区代码，确保关键执行路径无额外延迟。</a:t>
            </a:r>
            <a:endParaRPr lang="en-US" sz="1100"/>
          </a:p>
        </p:txBody>
      </p:sp>
      <p:sp>
        <p:nvSpPr>
          <p:cNvPr id="24" name="AutoShape 24"/>
          <p:cNvSpPr/>
          <p:nvPr/>
        </p:nvSpPr>
        <p:spPr>
          <a:xfrm>
            <a:off x="6223000" y="3810000"/>
            <a:ext cx="5156200" cy="2159000"/>
          </a:xfrm>
          <a:prstGeom prst="roundRect">
            <a:avLst>
              <a:gd name="adj" fmla="val 4705"/>
            </a:avLst>
          </a:prstGeom>
          <a:solidFill>
            <a:srgbClr val="FFFFFF">
              <a:alpha val="100000"/>
            </a:srgbClr>
          </a:solidFill>
          <a:ln w="25400" cap="flat" cmpd="sng">
            <a:noFill/>
            <a:prstDash val="solid"/>
            <a:round/>
          </a:ln>
          <a:effectLst>
            <a:outerShdw blurRad="152400" dist="50800" dir="2700000" algn="tl" rotWithShape="0">
              <a:srgbClr val="000000">
                <a:alpha val="6000"/>
              </a:srgbClr>
            </a:outerShdw>
          </a:effectLst>
        </p:spPr>
        <p:txBody>
          <a:bodyPr vert="horz" wrap="square" lIns="63500" tIns="63500" rIns="63500" bIns="63500" rtlCol="0" anchor="ctr"/>
          <a:lstStyle/>
          <a:p>
            <a:pPr algn="ctr">
              <a:defRPr/>
            </a:pPr>
          </a:p>
        </p:txBody>
      </p:sp>
      <p:sp>
        <p:nvSpPr>
          <p:cNvPr id="25" name="AutoShape 25"/>
          <p:cNvSpPr/>
          <p:nvPr/>
        </p:nvSpPr>
        <p:spPr>
          <a:xfrm>
            <a:off x="6223000" y="3810000"/>
            <a:ext cx="5156200" cy="609600"/>
          </a:xfrm>
          <a:prstGeom prst="roundRect">
            <a:avLst>
              <a:gd name="adj" fmla="val 16666"/>
            </a:avLst>
          </a:prstGeom>
          <a:solidFill>
            <a:srgbClr val="004D40">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26" name="Picture 26"/>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426200" y="3962400"/>
            <a:ext cx="304800" cy="304800"/>
          </a:xfrm>
          <a:prstGeom prst="rect">
            <a:avLst/>
          </a:prstGeom>
        </p:spPr>
      </p:pic>
      <p:sp>
        <p:nvSpPr>
          <p:cNvPr id="27" name="AutoShape 27"/>
          <p:cNvSpPr/>
          <p:nvPr/>
        </p:nvSpPr>
        <p:spPr>
          <a:xfrm>
            <a:off x="6883400" y="3911600"/>
            <a:ext cx="4191000" cy="406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风险点：模块高耦合导致联调困难</a:t>
            </a:r>
            <a:endParaRPr lang="en-US" sz="1100"/>
          </a:p>
        </p:txBody>
      </p:sp>
      <p:sp>
        <p:nvSpPr>
          <p:cNvPr id="28" name="AutoShape 28"/>
          <p:cNvSpPr/>
          <p:nvPr/>
        </p:nvSpPr>
        <p:spPr>
          <a:xfrm>
            <a:off x="6324600" y="4572000"/>
            <a:ext cx="4953000" cy="1270000"/>
          </a:xfrm>
          <a:prstGeom prst="roundRect">
            <a:avLst>
              <a:gd name="adj" fmla="val 6000"/>
            </a:avLst>
          </a:prstGeom>
          <a:solidFill>
            <a:srgbClr val="E0F2F1">
              <a:alpha val="100000"/>
            </a:srgbClr>
          </a:solidFill>
          <a:ln w="25400" cap="flat" cmpd="sng">
            <a:noFill/>
            <a:prstDash val="solid"/>
            <a:round/>
          </a:ln>
        </p:spPr>
        <p:txBody>
          <a:bodyPr vert="horz" wrap="square" lIns="63500" tIns="63500" rIns="63500" bIns="63500" rtlCol="0" anchor="ctr"/>
          <a:lstStyle/>
          <a:p>
            <a:pPr algn="ctr">
              <a:defRPr/>
            </a:pPr>
          </a:p>
        </p:txBody>
      </p:sp>
      <p:sp>
        <p:nvSpPr>
          <p:cNvPr id="29" name="AutoShape 29"/>
          <p:cNvSpPr/>
          <p:nvPr/>
        </p:nvSpPr>
        <p:spPr>
          <a:xfrm>
            <a:off x="6477000" y="4699000"/>
            <a:ext cx="46482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004D40"/>
                </a:solidFill>
                <a:latin typeface="Noto Sans SC" panose="020B0200000000000000" charset="-122"/>
                <a:ea typeface="Noto Sans SC" panose="020B0200000000000000" charset="-122"/>
                <a:cs typeface="Noto Sans SC" panose="020B0200000000000000" charset="-122"/>
                <a:sym typeface="Noto Sans SC" panose="020B0200000000000000" charset="-122"/>
              </a:rPr>
              <a:t>应对策略</a:t>
            </a:r>
            <a:endParaRPr lang="en-US" sz="1100"/>
          </a:p>
        </p:txBody>
      </p:sp>
      <p:sp>
        <p:nvSpPr>
          <p:cNvPr id="30" name="AutoShape 30"/>
          <p:cNvSpPr/>
          <p:nvPr/>
        </p:nvSpPr>
        <p:spPr>
          <a:xfrm>
            <a:off x="6477000" y="5054600"/>
            <a:ext cx="4648200" cy="762000"/>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en-US" sz="12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采用“接口先对齐、功能后替换”策略，建立“单元测试+QEMU仿真+真机验证”的三级测试流程，全方位保障模块间的兼容性。</a:t>
            </a:r>
            <a:endParaRPr lang="en-US" sz="110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AF8F5">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812800" y="558800"/>
            <a:ext cx="105664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1A1A1A"/>
                </a:solidFill>
                <a:latin typeface="Noto Sans SC" panose="020B0200000000000000" charset="-122"/>
                <a:ea typeface="Noto Sans SC" panose="020B0200000000000000" charset="-122"/>
                <a:cs typeface="Noto Sans SC" panose="020B0200000000000000" charset="-122"/>
                <a:sym typeface="Noto Sans SC" panose="020B0200000000000000" charset="-122"/>
              </a:rPr>
              <a:t>总结：项目已完成充分准备，即将进入核心开发阶段</a:t>
            </a:r>
            <a:endParaRPr lang="en-US" sz="1100"/>
          </a:p>
        </p:txBody>
      </p:sp>
      <p:sp>
        <p:nvSpPr>
          <p:cNvPr id="3" name="AutoShape 3"/>
          <p:cNvSpPr/>
          <p:nvPr/>
        </p:nvSpPr>
        <p:spPr>
          <a:xfrm>
            <a:off x="812800" y="1397000"/>
            <a:ext cx="5080000" cy="4953000"/>
          </a:xfrm>
          <a:prstGeom prst="roundRect">
            <a:avLst>
              <a:gd name="adj" fmla="val 3076"/>
            </a:avLst>
          </a:prstGeom>
          <a:solidFill>
            <a:srgbClr val="FFFFFF">
              <a:alpha val="100000"/>
            </a:srgbClr>
          </a:solidFill>
          <a:ln w="25400" cap="flat" cmpd="sng">
            <a:noFill/>
            <a:prstDash val="solid"/>
            <a:round/>
          </a:ln>
          <a:effectLst>
            <a:outerShdw blurRad="203200" dist="50800" dir="5400000" algn="tl" rotWithShape="0">
              <a:srgbClr val="000000">
                <a:alpha val="6000"/>
              </a:srgbClr>
            </a:outerShdw>
          </a:effectLst>
        </p:spPr>
        <p:txBody>
          <a:bodyPr vert="horz" wrap="square" lIns="63500" tIns="63500" rIns="63500" bIns="63500" rtlCol="0" anchor="ctr"/>
          <a:lstStyle/>
          <a:p>
            <a:pPr algn="ctr">
              <a:defRPr/>
            </a:pPr>
          </a:p>
        </p:txBody>
      </p:sp>
      <p:sp>
        <p:nvSpPr>
          <p:cNvPr id="4" name="AutoShape 4"/>
          <p:cNvSpPr/>
          <p:nvPr/>
        </p:nvSpPr>
        <p:spPr>
          <a:xfrm>
            <a:off x="812800" y="1397000"/>
            <a:ext cx="5080000" cy="76200"/>
          </a:xfrm>
          <a:prstGeom prst="roundRect">
            <a:avLst>
              <a:gd name="adj" fmla="val 200000"/>
            </a:avLst>
          </a:prstGeom>
          <a:solidFill>
            <a:srgbClr val="004D40">
              <a:alpha val="100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1117600" y="1778000"/>
            <a:ext cx="44704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04D40"/>
                </a:solidFill>
                <a:latin typeface="Noto Sans SC" panose="020B0200000000000000" charset="-122"/>
                <a:ea typeface="Noto Sans SC" panose="020B0200000000000000" charset="-122"/>
                <a:cs typeface="Noto Sans SC" panose="020B0200000000000000" charset="-122"/>
                <a:sym typeface="Noto Sans SC" panose="020B0200000000000000" charset="-122"/>
              </a:rPr>
              <a:t>项目核心回顾与总结</a:t>
            </a:r>
            <a:endParaRPr lang="en-US" sz="1100"/>
          </a:p>
        </p:txBody>
      </p:sp>
      <p:sp>
        <p:nvSpPr>
          <p:cNvPr id="6" name="AutoShape 6"/>
          <p:cNvSpPr/>
          <p:nvPr/>
        </p:nvSpPr>
        <p:spPr>
          <a:xfrm>
            <a:off x="1117600" y="2413000"/>
            <a:ext cx="4470400" cy="2159000"/>
          </a:xfrm>
          <a:prstGeom prst="roundRect">
            <a:avLst>
              <a:gd name="adj" fmla="val 4705"/>
            </a:avLst>
          </a:prstGeom>
          <a:solidFill>
            <a:srgbClr val="E8F5F3">
              <a:alpha val="100000"/>
            </a:srgbClr>
          </a:solidFill>
          <a:ln w="25400" cap="flat" cmpd="sng">
            <a:noFill/>
            <a:prstDash val="solid"/>
            <a:round/>
          </a:ln>
        </p:spPr>
        <p:txBody>
          <a:bodyPr vert="horz" wrap="square" lIns="63500" tIns="63500" rIns="63500" bIns="63500" rtlCol="0" anchor="ctr"/>
          <a:lstStyle/>
          <a:p>
            <a:pPr algn="ctr">
              <a:defRPr/>
            </a:pPr>
          </a:p>
        </p:txBody>
      </p:sp>
      <p:sp>
        <p:nvSpPr>
          <p:cNvPr id="7" name="AutoShape 7"/>
          <p:cNvSpPr/>
          <p:nvPr/>
        </p:nvSpPr>
        <p:spPr>
          <a:xfrm>
            <a:off x="1371600" y="2667000"/>
            <a:ext cx="3962400" cy="1651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2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Vexilon 项目旨在通过 Rust 重构与 IronClaw 集成，彻底解决 LiteOS-M 内核的核心安全痛点，并前瞻性探索 AI 与操作系统的深度融合方向。</a:t>
            </a:r>
            <a:endParaRPr lang="en-US" sz="1100"/>
          </a:p>
          <a:p>
            <a:pPr indent="0" algn="l">
              <a:lnSpc>
                <a:spcPct val="125000"/>
              </a:lnSpc>
            </a:pPr>
            <a:r>
              <a:rPr lang="en-US" sz="12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目前团队已完成详尽的技术调研与可行性论证，明确了核心技术路线与详细实施计划，为项目的后续开发奠定了坚实且可靠的基础。</a:t>
            </a:r>
            <a:endParaRPr lang="en-US" sz="12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0" name="AutoShape 10"/>
          <p:cNvSpPr/>
          <p:nvPr/>
        </p:nvSpPr>
        <p:spPr>
          <a:xfrm>
            <a:off x="6299200" y="1397000"/>
            <a:ext cx="5080000" cy="4953000"/>
          </a:xfrm>
          <a:prstGeom prst="roundRect">
            <a:avLst>
              <a:gd name="adj" fmla="val 3076"/>
            </a:avLst>
          </a:prstGeom>
          <a:solidFill>
            <a:srgbClr val="FFFFFF">
              <a:alpha val="100000"/>
            </a:srgbClr>
          </a:solidFill>
          <a:ln w="25400" cap="flat" cmpd="sng">
            <a:noFill/>
            <a:prstDash val="solid"/>
            <a:round/>
          </a:ln>
          <a:effectLst>
            <a:outerShdw blurRad="203200" dist="50800" dir="5400000" algn="tl" rotWithShape="0">
              <a:srgbClr val="000000">
                <a:alpha val="6000"/>
              </a:srgbClr>
            </a:outerShdw>
          </a:effectLst>
        </p:spPr>
        <p:txBody>
          <a:bodyPr vert="horz" wrap="square" lIns="63500" tIns="63500" rIns="63500" bIns="63500" rtlCol="0" anchor="ctr"/>
          <a:lstStyle/>
          <a:p>
            <a:pPr algn="ctr">
              <a:defRPr/>
            </a:pPr>
          </a:p>
        </p:txBody>
      </p:sp>
      <p:sp>
        <p:nvSpPr>
          <p:cNvPr id="11" name="AutoShape 11"/>
          <p:cNvSpPr/>
          <p:nvPr/>
        </p:nvSpPr>
        <p:spPr>
          <a:xfrm>
            <a:off x="6299200" y="1397000"/>
            <a:ext cx="5080000" cy="76200"/>
          </a:xfrm>
          <a:prstGeom prst="roundRect">
            <a:avLst>
              <a:gd name="adj" fmla="val 200000"/>
            </a:avLst>
          </a:prstGeom>
          <a:solidFill>
            <a:srgbClr val="004D40">
              <a:alpha val="100000"/>
            </a:srgbClr>
          </a:solidFill>
          <a:ln w="25400" cap="flat" cmpd="sng">
            <a:noFill/>
            <a:prstDash val="solid"/>
            <a:round/>
          </a:ln>
        </p:spPr>
        <p:txBody>
          <a:bodyPr vert="horz" wrap="square" lIns="63500" tIns="63500" rIns="63500" bIns="63500" rtlCol="0" anchor="ctr"/>
          <a:lstStyle/>
          <a:p>
            <a:pPr algn="ctr">
              <a:defRPr/>
            </a:pPr>
          </a:p>
        </p:txBody>
      </p:sp>
      <p:sp>
        <p:nvSpPr>
          <p:cNvPr id="12" name="AutoShape 12"/>
          <p:cNvSpPr/>
          <p:nvPr/>
        </p:nvSpPr>
        <p:spPr>
          <a:xfrm>
            <a:off x="6604000" y="1778000"/>
            <a:ext cx="44704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04D40"/>
                </a:solidFill>
                <a:latin typeface="Noto Sans SC" panose="020B0200000000000000" charset="-122"/>
                <a:ea typeface="Noto Sans SC" panose="020B0200000000000000" charset="-122"/>
                <a:cs typeface="Noto Sans SC" panose="020B0200000000000000" charset="-122"/>
                <a:sym typeface="Noto Sans SC" panose="020B0200000000000000" charset="-122"/>
              </a:rPr>
              <a:t>下一阶段关键行动计划 (Phase 1)</a:t>
            </a:r>
            <a:endParaRPr lang="en-US" sz="1100"/>
          </a:p>
        </p:txBody>
      </p:sp>
      <p:sp>
        <p:nvSpPr>
          <p:cNvPr id="13" name="AutoShape 13"/>
          <p:cNvSpPr/>
          <p:nvPr/>
        </p:nvSpPr>
        <p:spPr>
          <a:xfrm>
            <a:off x="6604000" y="2413000"/>
            <a:ext cx="4470400" cy="1651000"/>
          </a:xfrm>
          <a:prstGeom prst="roundRect">
            <a:avLst>
              <a:gd name="adj" fmla="val 6153"/>
            </a:avLst>
          </a:prstGeom>
          <a:solidFill>
            <a:srgbClr val="E8F5F3">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4" name="Picture 1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6807200" y="2667000"/>
            <a:ext cx="457200" cy="457200"/>
          </a:xfrm>
          <a:prstGeom prst="rect">
            <a:avLst/>
          </a:prstGeom>
        </p:spPr>
      </p:pic>
      <p:sp>
        <p:nvSpPr>
          <p:cNvPr id="15" name="AutoShape 15"/>
          <p:cNvSpPr/>
          <p:nvPr/>
        </p:nvSpPr>
        <p:spPr>
          <a:xfrm>
            <a:off x="7493000" y="2667000"/>
            <a:ext cx="3302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004D40"/>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核心任务：基础验证与环境搭建</a:t>
            </a:r>
            <a:endParaRPr lang="en-US" sz="1100"/>
          </a:p>
        </p:txBody>
      </p:sp>
      <p:sp>
        <p:nvSpPr>
          <p:cNvPr id="16" name="AutoShape 16"/>
          <p:cNvSpPr/>
          <p:nvPr/>
        </p:nvSpPr>
        <p:spPr>
          <a:xfrm>
            <a:off x="7493000" y="3111500"/>
            <a:ext cx="3302000" cy="7620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2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① 集中攻坚，完成 `los_sortlink.c` 模块的 Rust 改写。</a:t>
            </a:r>
            <a:endParaRPr lang="en-US" sz="1100"/>
          </a:p>
          <a:p>
            <a:pPr indent="0" algn="l">
              <a:lnSpc>
                <a:spcPct val="117000"/>
              </a:lnSpc>
            </a:pPr>
            <a:r>
              <a:rPr lang="en-US" sz="12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② 搭建单元测试、QEMU 仿真及真机联调环境。</a:t>
            </a:r>
            <a:endParaRPr lang="en-US" sz="12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7" name="AutoShape 17"/>
          <p:cNvSpPr/>
          <p:nvPr/>
        </p:nvSpPr>
        <p:spPr>
          <a:xfrm>
            <a:off x="6604000" y="4318000"/>
            <a:ext cx="4470400" cy="1524000"/>
          </a:xfrm>
          <a:prstGeom prst="roundRect">
            <a:avLst>
              <a:gd name="adj" fmla="val 6666"/>
            </a:avLst>
          </a:prstGeom>
          <a:solidFill>
            <a:srgbClr val="E8F5F3">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8" name="Picture 18"/>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807200" y="4572000"/>
            <a:ext cx="457200" cy="457200"/>
          </a:xfrm>
          <a:prstGeom prst="rect">
            <a:avLst/>
          </a:prstGeom>
        </p:spPr>
      </p:pic>
      <p:sp>
        <p:nvSpPr>
          <p:cNvPr id="19" name="AutoShape 19"/>
          <p:cNvSpPr/>
          <p:nvPr/>
        </p:nvSpPr>
        <p:spPr>
          <a:xfrm>
            <a:off x="7493000" y="4572000"/>
            <a:ext cx="3302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004D40"/>
                </a:solidFill>
                <a:latin typeface="Noto Sans SC" panose="020B0200000000000000" charset="-122"/>
                <a:ea typeface="Noto Sans SC" panose="020B0200000000000000" charset="-122"/>
                <a:cs typeface="Noto Sans SC" panose="020B0200000000000000" charset="-122"/>
                <a:sym typeface="Noto Sans SC" panose="020B0200000000000000" charset="-122"/>
              </a:rPr>
              <a:t>阶段交付目标</a:t>
            </a:r>
            <a:endParaRPr lang="en-US" sz="1100"/>
          </a:p>
        </p:txBody>
      </p:sp>
      <p:sp>
        <p:nvSpPr>
          <p:cNvPr id="20" name="AutoShape 20"/>
          <p:cNvSpPr/>
          <p:nvPr/>
        </p:nvSpPr>
        <p:spPr>
          <a:xfrm>
            <a:off x="7493000" y="5016500"/>
            <a:ext cx="3302000" cy="6350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2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沉淀统一的编码与测试规范，确保核心模块重构具备高可维护性与稳定性。</a:t>
            </a:r>
            <a:endParaRPr lang="en-US" sz="110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AF8F5">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2286000"/>
            <a:ext cx="12192000" cy="889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4400" b="1" i="0" u="none" strike="noStrike">
                <a:solidFill>
                  <a:srgbClr val="1A1A1A"/>
                </a:solidFill>
                <a:latin typeface="Noto Sans SC" panose="020B0200000000000000" charset="-122"/>
                <a:ea typeface="Noto Sans SC" panose="020B0200000000000000" charset="-122"/>
                <a:cs typeface="Noto Sans SC" panose="020B0200000000000000" charset="-122"/>
                <a:sym typeface="Noto Sans SC" panose="020B0200000000000000" charset="-122"/>
              </a:rPr>
              <a:t>感谢聆听</a:t>
            </a:r>
            <a:endParaRPr lang="en-US" sz="1100"/>
          </a:p>
        </p:txBody>
      </p:sp>
      <p:sp>
        <p:nvSpPr>
          <p:cNvPr id="3" name="AutoShape 3"/>
          <p:cNvSpPr/>
          <p:nvPr/>
        </p:nvSpPr>
        <p:spPr>
          <a:xfrm>
            <a:off x="0" y="3429000"/>
            <a:ext cx="12192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400" b="0" i="0" u="none" strike="noStrike">
                <a:solidFill>
                  <a:srgbClr val="6B6B6B"/>
                </a:solidFill>
                <a:latin typeface="Noto Sans SC" panose="020B0200000000000000" charset="-122"/>
                <a:ea typeface="Noto Sans SC" panose="020B0200000000000000" charset="-122"/>
                <a:cs typeface="Noto Sans SC" panose="020B0200000000000000" charset="-122"/>
                <a:sym typeface="Noto Sans SC" panose="020B0200000000000000" charset="-122"/>
              </a:rPr>
              <a:t>Q &amp; A</a:t>
            </a:r>
            <a:endParaRPr lang="en-US" sz="1100"/>
          </a:p>
        </p:txBody>
      </p:sp>
      <p:sp>
        <p:nvSpPr>
          <p:cNvPr id="4" name="AutoShape 4"/>
          <p:cNvSpPr/>
          <p:nvPr/>
        </p:nvSpPr>
        <p:spPr>
          <a:xfrm>
            <a:off x="5588000" y="4318000"/>
            <a:ext cx="1016000" cy="76200"/>
          </a:xfrm>
          <a:prstGeom prst="roundRect">
            <a:avLst>
              <a:gd name="adj" fmla="val 0"/>
            </a:avLst>
          </a:prstGeom>
          <a:solidFill>
            <a:srgbClr val="004D40">
              <a:alpha val="100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0" y="4826000"/>
            <a:ext cx="12192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200" b="0" i="0" u="none" strike="noStrike">
                <a:solidFill>
                  <a:srgbClr val="004D40"/>
                </a:solidFill>
                <a:latin typeface="Noto Sans SC" panose="020B0200000000000000" charset="-122"/>
                <a:ea typeface="Noto Sans SC" panose="020B0200000000000000" charset="-122"/>
                <a:cs typeface="Noto Sans SC" panose="020B0200000000000000" charset="-122"/>
                <a:sym typeface="Noto Sans SC" panose="020B0200000000000000" charset="-122"/>
              </a:rPr>
              <a:t>THANKS FOR WATCHING</a:t>
            </a:r>
            <a:endParaRPr lang="en-US" sz="1100"/>
          </a:p>
        </p:txBody>
      </p:sp>
    </p:spTree>
  </p:cSld>
  <p:clrMapOvr>
    <a:masterClrMapping/>
  </p:clrMapOvr>
</p:sld>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5783</Words>
  <Application>WPS 演示</Application>
  <PresentationFormat/>
  <Paragraphs>445</Paragraphs>
  <Slides>22</Slides>
  <Notes>0</Notes>
  <HiddenSlides>0</HiddenSlides>
  <MMClips>0</MMClips>
  <ScaleCrop>false</ScaleCrop>
  <HeadingPairs>
    <vt:vector size="6" baseType="variant">
      <vt:variant>
        <vt:lpstr>已用的字体</vt:lpstr>
      </vt:variant>
      <vt:variant>
        <vt:i4>7</vt:i4>
      </vt:variant>
      <vt:variant>
        <vt:lpstr>主题</vt:lpstr>
      </vt:variant>
      <vt:variant>
        <vt:i4>2</vt:i4>
      </vt:variant>
      <vt:variant>
        <vt:lpstr>幻灯片标题</vt:lpstr>
      </vt:variant>
      <vt:variant>
        <vt:i4>22</vt:i4>
      </vt:variant>
    </vt:vector>
  </HeadingPairs>
  <TitlesOfParts>
    <vt:vector size="31" baseType="lpstr">
      <vt:lpstr>Arial</vt:lpstr>
      <vt:lpstr>宋体</vt:lpstr>
      <vt:lpstr>Wingdings</vt:lpstr>
      <vt:lpstr>Arial</vt:lpstr>
      <vt:lpstr>Noto Sans SC</vt:lpstr>
      <vt:lpstr>微软雅黑</vt:lpstr>
      <vt:lpstr>Arial Unicode MS</vt:lpstr>
      <vt:lpstr>Office 主题​​</vt:lpstr>
      <vt:lpstr>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hydrazoicacid</cp:lastModifiedBy>
  <cp:revision>1</cp:revision>
  <dcterms:created xsi:type="dcterms:W3CDTF">2026-04-20T07:58:53Z</dcterms:created>
  <dcterms:modified xsi:type="dcterms:W3CDTF">2026-04-20T07:58:53Z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2052-12.1.0.25865</vt:lpwstr>
  </property>
  <property fmtid="{D5CDD505-2E9C-101B-9397-08002B2CF9AE}" pid="3" name="ICV">
    <vt:lpwstr>FAB086589E324FF28C8C3FA3197CF011_12</vt:lpwstr>
  </property>
</Properties>
</file>